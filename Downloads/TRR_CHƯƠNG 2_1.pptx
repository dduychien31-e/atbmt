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4"/>
  </p:sldMasterIdLst>
  <p:notesMasterIdLst>
    <p:notesMasterId r:id="rId44"/>
  </p:notesMasterIdLst>
  <p:sldIdLst>
    <p:sldId id="392" r:id="rId5"/>
    <p:sldId id="335" r:id="rId6"/>
    <p:sldId id="257" r:id="rId7"/>
    <p:sldId id="261" r:id="rId8"/>
    <p:sldId id="263" r:id="rId9"/>
    <p:sldId id="264" r:id="rId10"/>
    <p:sldId id="344" r:id="rId11"/>
    <p:sldId id="287" r:id="rId12"/>
    <p:sldId id="345" r:id="rId13"/>
    <p:sldId id="292" r:id="rId14"/>
    <p:sldId id="296" r:id="rId15"/>
    <p:sldId id="299" r:id="rId16"/>
    <p:sldId id="346" r:id="rId17"/>
    <p:sldId id="334" r:id="rId18"/>
    <p:sldId id="302" r:id="rId19"/>
    <p:sldId id="303" r:id="rId20"/>
    <p:sldId id="304" r:id="rId21"/>
    <p:sldId id="396" r:id="rId22"/>
    <p:sldId id="347" r:id="rId23"/>
    <p:sldId id="307" r:id="rId24"/>
    <p:sldId id="308" r:id="rId25"/>
    <p:sldId id="342" r:id="rId26"/>
    <p:sldId id="393" r:id="rId27"/>
    <p:sldId id="311" r:id="rId28"/>
    <p:sldId id="317" r:id="rId29"/>
    <p:sldId id="318" r:id="rId30"/>
    <p:sldId id="320" r:id="rId31"/>
    <p:sldId id="321" r:id="rId32"/>
    <p:sldId id="322" r:id="rId33"/>
    <p:sldId id="319" r:id="rId34"/>
    <p:sldId id="323" r:id="rId35"/>
    <p:sldId id="324" r:id="rId36"/>
    <p:sldId id="314" r:id="rId37"/>
    <p:sldId id="312" r:id="rId38"/>
    <p:sldId id="348" r:id="rId39"/>
    <p:sldId id="394" r:id="rId40"/>
    <p:sldId id="336" r:id="rId41"/>
    <p:sldId id="395" r:id="rId42"/>
    <p:sldId id="260" r:id="rId43"/>
  </p:sldIdLst>
  <p:sldSz cx="9144000" cy="5143500" type="screen16x9"/>
  <p:notesSz cx="6858000" cy="9144000"/>
  <p:embeddedFontLst>
    <p:embeddedFont>
      <p:font typeface="Cambria Math" panose="02040503050406030204" pitchFamily="18" charset="0"/>
      <p:regular r:id="rId45"/>
    </p:embeddedFont>
    <p:embeddedFont>
      <p:font typeface="Varela Round" pitchFamily="2" charset="-79"/>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7991"/>
    <a:srgbClr val="336699"/>
    <a:srgbClr val="B3F169"/>
    <a:srgbClr val="6D7F87"/>
    <a:srgbClr val="B9B9B9"/>
    <a:srgbClr val="76878F"/>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F24297-9274-4F8D-8F43-C081F11E5FB4}" v="1" dt="2022-03-08T06:44:19.905"/>
    <p1510:client id="{35692064-FE6F-4845-B164-6E08EE09E316}" v="8" dt="2022-03-12T15:20:19.527"/>
    <p1510:client id="{5493D51E-EEA0-4EF9-A789-1CA3AFD09C8B}" v="3" dt="2022-03-08T02:24:52.862"/>
    <p1510:client id="{AD3260EE-D17D-4562-B31B-AA4575FD8D72}" v="6" dt="2022-03-07T03:55:08.697"/>
    <p1510:client id="{F74C89C4-D697-4B46-8D54-3912FA652C62}" v="13" dt="2022-03-07T19:09:41.218"/>
  </p1510:revLst>
</p1510:revInfo>
</file>

<file path=ppt/tableStyles.xml><?xml version="1.0" encoding="utf-8"?>
<a:tblStyleLst xmlns:a="http://schemas.openxmlformats.org/drawingml/2006/main" def="{238068B5-05EC-40D0-BF61-CF48C4B65AA2}">
  <a:tblStyle styleId="{238068B5-05EC-40D0-BF61-CF48C4B65AA2}"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161"/>
    <p:restoredTop sz="94249" autoAdjust="0"/>
  </p:normalViewPr>
  <p:slideViewPr>
    <p:cSldViewPr snapToGrid="0">
      <p:cViewPr varScale="1">
        <p:scale>
          <a:sx n="102" d="100"/>
          <a:sy n="102" d="100"/>
        </p:scale>
        <p:origin x="200" y="1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1.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2.fntdata"/><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5019487 Tạ Thùy Linh" userId="S::15019487@dnu.edu.vn::71bbc5c9-da51-4e02-86c9-b9d9255175ee" providerId="AD" clId="Web-{5493D51E-EEA0-4EF9-A789-1CA3AFD09C8B}"/>
    <pc:docChg chg="modSld">
      <pc:chgData name="15019487 Tạ Thùy Linh" userId="S::15019487@dnu.edu.vn::71bbc5c9-da51-4e02-86c9-b9d9255175ee" providerId="AD" clId="Web-{5493D51E-EEA0-4EF9-A789-1CA3AFD09C8B}" dt="2022-03-08T02:24:52.862" v="2"/>
      <pc:docMkLst>
        <pc:docMk/>
      </pc:docMkLst>
      <pc:sldChg chg="addSp modSp">
        <pc:chgData name="15019487 Tạ Thùy Linh" userId="S::15019487@dnu.edu.vn::71bbc5c9-da51-4e02-86c9-b9d9255175ee" providerId="AD" clId="Web-{5493D51E-EEA0-4EF9-A789-1CA3AFD09C8B}" dt="2022-03-08T02:24:52.862" v="2"/>
        <pc:sldMkLst>
          <pc:docMk/>
          <pc:sldMk cId="3129293958" sldId="325"/>
        </pc:sldMkLst>
        <pc:spChg chg="add">
          <ac:chgData name="15019487 Tạ Thùy Linh" userId="S::15019487@dnu.edu.vn::71bbc5c9-da51-4e02-86c9-b9d9255175ee" providerId="AD" clId="Web-{5493D51E-EEA0-4EF9-A789-1CA3AFD09C8B}" dt="2022-03-08T02:24:52.862" v="2"/>
          <ac:spMkLst>
            <pc:docMk/>
            <pc:sldMk cId="3129293958" sldId="325"/>
            <ac:spMk id="2" creationId="{3D192CB3-C7DE-4393-892C-E51DC4B9A2B9}"/>
          </ac:spMkLst>
        </pc:spChg>
        <pc:spChg chg="mod">
          <ac:chgData name="15019487 Tạ Thùy Linh" userId="S::15019487@dnu.edu.vn::71bbc5c9-da51-4e02-86c9-b9d9255175ee" providerId="AD" clId="Web-{5493D51E-EEA0-4EF9-A789-1CA3AFD09C8B}" dt="2022-03-08T02:22:18.310" v="1" actId="1076"/>
          <ac:spMkLst>
            <pc:docMk/>
            <pc:sldMk cId="3129293958" sldId="325"/>
            <ac:spMk id="8" creationId="{00000000-0000-0000-0000-000000000000}"/>
          </ac:spMkLst>
        </pc:spChg>
      </pc:sldChg>
    </pc:docChg>
  </pc:docChgLst>
  <pc:docChgLst>
    <pc:chgData name="15013546 Hứa Thị Thu Hường" userId="S::15013546@dnu.edu.vn::c5f76572-8794-494e-b19d-9cb54dbc52fe" providerId="AD" clId="Web-{35692064-FE6F-4845-B164-6E08EE09E316}"/>
    <pc:docChg chg="modSld">
      <pc:chgData name="15013546 Hứa Thị Thu Hường" userId="S::15013546@dnu.edu.vn::c5f76572-8794-494e-b19d-9cb54dbc52fe" providerId="AD" clId="Web-{35692064-FE6F-4845-B164-6E08EE09E316}" dt="2022-03-12T15:20:19.496" v="3" actId="20577"/>
      <pc:docMkLst>
        <pc:docMk/>
      </pc:docMkLst>
      <pc:sldChg chg="addSp modSp">
        <pc:chgData name="15013546 Hứa Thị Thu Hường" userId="S::15013546@dnu.edu.vn::c5f76572-8794-494e-b19d-9cb54dbc52fe" providerId="AD" clId="Web-{35692064-FE6F-4845-B164-6E08EE09E316}" dt="2022-03-12T15:20:19.496" v="3" actId="20577"/>
        <pc:sldMkLst>
          <pc:docMk/>
          <pc:sldMk cId="1127100425" sldId="335"/>
        </pc:sldMkLst>
        <pc:spChg chg="add mod">
          <ac:chgData name="15013546 Hứa Thị Thu Hường" userId="S::15013546@dnu.edu.vn::c5f76572-8794-494e-b19d-9cb54dbc52fe" providerId="AD" clId="Web-{35692064-FE6F-4845-B164-6E08EE09E316}" dt="2022-03-12T15:20:19.496" v="3" actId="20577"/>
          <ac:spMkLst>
            <pc:docMk/>
            <pc:sldMk cId="1127100425" sldId="335"/>
            <ac:spMk id="2" creationId="{A1C783B9-F0F1-478D-8B63-CFEB416BA0E3}"/>
          </ac:spMkLst>
        </pc:spChg>
      </pc:sldChg>
    </pc:docChg>
  </pc:docChgLst>
  <pc:docChgLst>
    <pc:chgData name="15017557 Ngô Quang Thắng" userId="S::15017557@dnu.edu.vn::fd3d16ae-bd73-4db9-bb98-9bcc13896071" providerId="AD" clId="Web-{AD3260EE-D17D-4562-B31B-AA4575FD8D72}"/>
    <pc:docChg chg="modSld">
      <pc:chgData name="15017557 Ngô Quang Thắng" userId="S::15017557@dnu.edu.vn::fd3d16ae-bd73-4db9-bb98-9bcc13896071" providerId="AD" clId="Web-{AD3260EE-D17D-4562-B31B-AA4575FD8D72}" dt="2022-03-07T03:55:08.697" v="5" actId="1076"/>
      <pc:docMkLst>
        <pc:docMk/>
      </pc:docMkLst>
      <pc:sldChg chg="modSp">
        <pc:chgData name="15017557 Ngô Quang Thắng" userId="S::15017557@dnu.edu.vn::fd3d16ae-bd73-4db9-bb98-9bcc13896071" providerId="AD" clId="Web-{AD3260EE-D17D-4562-B31B-AA4575FD8D72}" dt="2022-03-07T03:55:08.697" v="5" actId="1076"/>
        <pc:sldMkLst>
          <pc:docMk/>
          <pc:sldMk cId="449333377" sldId="327"/>
        </pc:sldMkLst>
        <pc:spChg chg="mod">
          <ac:chgData name="15017557 Ngô Quang Thắng" userId="S::15017557@dnu.edu.vn::fd3d16ae-bd73-4db9-bb98-9bcc13896071" providerId="AD" clId="Web-{AD3260EE-D17D-4562-B31B-AA4575FD8D72}" dt="2022-03-07T03:55:01.291" v="3" actId="1076"/>
          <ac:spMkLst>
            <pc:docMk/>
            <pc:sldMk cId="449333377" sldId="327"/>
            <ac:spMk id="2" creationId="{00000000-0000-0000-0000-000000000000}"/>
          </ac:spMkLst>
        </pc:spChg>
        <pc:spChg chg="mod">
          <ac:chgData name="15017557 Ngô Quang Thắng" userId="S::15017557@dnu.edu.vn::fd3d16ae-bd73-4db9-bb98-9bcc13896071" providerId="AD" clId="Web-{AD3260EE-D17D-4562-B31B-AA4575FD8D72}" dt="2022-03-07T03:55:08.697" v="5" actId="1076"/>
          <ac:spMkLst>
            <pc:docMk/>
            <pc:sldMk cId="449333377" sldId="327"/>
            <ac:spMk id="3" creationId="{00000000-0000-0000-0000-000000000000}"/>
          </ac:spMkLst>
        </pc:spChg>
        <pc:spChg chg="mod">
          <ac:chgData name="15017557 Ngô Quang Thắng" userId="S::15017557@dnu.edu.vn::fd3d16ae-bd73-4db9-bb98-9bcc13896071" providerId="AD" clId="Web-{AD3260EE-D17D-4562-B31B-AA4575FD8D72}" dt="2022-03-07T03:55:07.963" v="4" actId="1076"/>
          <ac:spMkLst>
            <pc:docMk/>
            <pc:sldMk cId="449333377" sldId="327"/>
            <ac:spMk id="413" creationId="{00000000-0000-0000-0000-000000000000}"/>
          </ac:spMkLst>
        </pc:spChg>
      </pc:sldChg>
    </pc:docChg>
  </pc:docChgLst>
  <pc:docChgLst>
    <pc:chgData name="15010749 Phạm Thị Thảo" userId="S::15010749@dnu.edu.vn::dcd26f60-60d9-4fae-85fc-d4a3232c05ab" providerId="AD" clId="Web-{2AF24297-9274-4F8D-8F43-C081F11E5FB4}"/>
    <pc:docChg chg="modSld">
      <pc:chgData name="15010749 Phạm Thị Thảo" userId="S::15010749@dnu.edu.vn::dcd26f60-60d9-4fae-85fc-d4a3232c05ab" providerId="AD" clId="Web-{2AF24297-9274-4F8D-8F43-C081F11E5FB4}" dt="2022-03-08T06:44:19.905" v="0" actId="1076"/>
      <pc:docMkLst>
        <pc:docMk/>
      </pc:docMkLst>
      <pc:sldChg chg="modSp">
        <pc:chgData name="15010749 Phạm Thị Thảo" userId="S::15010749@dnu.edu.vn::dcd26f60-60d9-4fae-85fc-d4a3232c05ab" providerId="AD" clId="Web-{2AF24297-9274-4F8D-8F43-C081F11E5FB4}" dt="2022-03-08T06:44:19.905" v="0" actId="1076"/>
        <pc:sldMkLst>
          <pc:docMk/>
          <pc:sldMk cId="0" sldId="282"/>
        </pc:sldMkLst>
        <pc:spChg chg="mod">
          <ac:chgData name="15010749 Phạm Thị Thảo" userId="S::15010749@dnu.edu.vn::dcd26f60-60d9-4fae-85fc-d4a3232c05ab" providerId="AD" clId="Web-{2AF24297-9274-4F8D-8F43-C081F11E5FB4}" dt="2022-03-08T06:44:19.905" v="0" actId="1076"/>
          <ac:spMkLst>
            <pc:docMk/>
            <pc:sldMk cId="0" sldId="282"/>
            <ac:spMk id="291" creationId="{00000000-0000-0000-0000-000000000000}"/>
          </ac:spMkLst>
        </pc:spChg>
      </pc:sldChg>
    </pc:docChg>
  </pc:docChgLst>
  <pc:docChgLst>
    <pc:chgData name="15018264 Lê Thị Thúy Nga" userId="S::15018264@dnu.edu.vn::f51332bd-8e53-422d-89c1-fb0380401595" providerId="AD" clId="Web-{F74C89C4-D697-4B46-8D54-3912FA652C62}"/>
    <pc:docChg chg="modSld">
      <pc:chgData name="15018264 Lê Thị Thúy Nga" userId="S::15018264@dnu.edu.vn::f51332bd-8e53-422d-89c1-fb0380401595" providerId="AD" clId="Web-{F74C89C4-D697-4B46-8D54-3912FA652C62}" dt="2022-03-07T19:09:41.218" v="12" actId="1076"/>
      <pc:docMkLst>
        <pc:docMk/>
      </pc:docMkLst>
      <pc:sldChg chg="modSp">
        <pc:chgData name="15018264 Lê Thị Thúy Nga" userId="S::15018264@dnu.edu.vn::f51332bd-8e53-422d-89c1-fb0380401595" providerId="AD" clId="Web-{F74C89C4-D697-4B46-8D54-3912FA652C62}" dt="2022-03-07T19:09:41.218" v="12" actId="1076"/>
        <pc:sldMkLst>
          <pc:docMk/>
          <pc:sldMk cId="3991094741" sldId="305"/>
        </pc:sldMkLst>
        <pc:spChg chg="mod">
          <ac:chgData name="15018264 Lê Thị Thúy Nga" userId="S::15018264@dnu.edu.vn::f51332bd-8e53-422d-89c1-fb0380401595" providerId="AD" clId="Web-{F74C89C4-D697-4B46-8D54-3912FA652C62}" dt="2022-03-07T19:09:30.015" v="11" actId="1076"/>
          <ac:spMkLst>
            <pc:docMk/>
            <pc:sldMk cId="3991094741" sldId="305"/>
            <ac:spMk id="11" creationId="{00000000-0000-0000-0000-000000000000}"/>
          </ac:spMkLst>
        </pc:spChg>
        <pc:spChg chg="mod">
          <ac:chgData name="15018264 Lê Thị Thúy Nga" userId="S::15018264@dnu.edu.vn::f51332bd-8e53-422d-89c1-fb0380401595" providerId="AD" clId="Web-{F74C89C4-D697-4B46-8D54-3912FA652C62}" dt="2022-03-07T19:09:41.218" v="12" actId="1076"/>
          <ac:spMkLst>
            <pc:docMk/>
            <pc:sldMk cId="3991094741" sldId="305"/>
            <ac:spMk id="20" creationId="{00000000-0000-0000-0000-000000000000}"/>
          </ac:spMkLst>
        </pc:spChg>
        <pc:spChg chg="mod">
          <ac:chgData name="15018264 Lê Thị Thúy Nga" userId="S::15018264@dnu.edu.vn::f51332bd-8e53-422d-89c1-fb0380401595" providerId="AD" clId="Web-{F74C89C4-D697-4B46-8D54-3912FA652C62}" dt="2022-03-07T19:09:22.405" v="9" actId="1076"/>
          <ac:spMkLst>
            <pc:docMk/>
            <pc:sldMk cId="3991094741" sldId="305"/>
            <ac:spMk id="21" creationId="{00000000-0000-0000-0000-000000000000}"/>
          </ac:spMkLst>
        </pc:spChg>
        <pc:spChg chg="mod">
          <ac:chgData name="15018264 Lê Thị Thúy Nga" userId="S::15018264@dnu.edu.vn::f51332bd-8e53-422d-89c1-fb0380401595" providerId="AD" clId="Web-{F74C89C4-D697-4B46-8D54-3912FA652C62}" dt="2022-03-07T19:09:21.421" v="7" actId="1076"/>
          <ac:spMkLst>
            <pc:docMk/>
            <pc:sldMk cId="3991094741" sldId="305"/>
            <ac:spMk id="24" creationId="{00000000-0000-0000-0000-000000000000}"/>
          </ac:spMkLst>
        </pc:spChg>
        <pc:spChg chg="mod">
          <ac:chgData name="15018264 Lê Thị Thúy Nga" userId="S::15018264@dnu.edu.vn::f51332bd-8e53-422d-89c1-fb0380401595" providerId="AD" clId="Web-{F74C89C4-D697-4B46-8D54-3912FA652C62}" dt="2022-03-07T19:09:20.921" v="6" actId="14100"/>
          <ac:spMkLst>
            <pc:docMk/>
            <pc:sldMk cId="3991094741" sldId="305"/>
            <ac:spMk id="25" creationId="{00000000-0000-0000-0000-000000000000}"/>
          </ac:spMkLst>
        </pc:spChg>
        <pc:spChg chg="mod">
          <ac:chgData name="15018264 Lê Thị Thúy Nga" userId="S::15018264@dnu.edu.vn::f51332bd-8e53-422d-89c1-fb0380401595" providerId="AD" clId="Web-{F74C89C4-D697-4B46-8D54-3912FA652C62}" dt="2022-03-07T19:09:19.937" v="4" actId="1076"/>
          <ac:spMkLst>
            <pc:docMk/>
            <pc:sldMk cId="3991094741" sldId="305"/>
            <ac:spMk id="26" creationId="{00000000-0000-0000-0000-000000000000}"/>
          </ac:spMkLst>
        </pc:spChg>
        <pc:spChg chg="mod">
          <ac:chgData name="15018264 Lê Thị Thúy Nga" userId="S::15018264@dnu.edu.vn::f51332bd-8e53-422d-89c1-fb0380401595" providerId="AD" clId="Web-{F74C89C4-D697-4B46-8D54-3912FA652C62}" dt="2022-03-07T19:09:13.077" v="3" actId="1076"/>
          <ac:spMkLst>
            <pc:docMk/>
            <pc:sldMk cId="3991094741" sldId="305"/>
            <ac:spMk id="28" creationId="{00000000-0000-0000-0000-000000000000}"/>
          </ac:spMkLst>
        </pc:spChg>
      </pc:sldChg>
      <pc:sldChg chg="modSp">
        <pc:chgData name="15018264 Lê Thị Thúy Nga" userId="S::15018264@dnu.edu.vn::f51332bd-8e53-422d-89c1-fb0380401595" providerId="AD" clId="Web-{F74C89C4-D697-4B46-8D54-3912FA652C62}" dt="2022-03-07T19:03:24.597" v="2" actId="1076"/>
        <pc:sldMkLst>
          <pc:docMk/>
          <pc:sldMk cId="1483438109" sldId="328"/>
        </pc:sldMkLst>
        <pc:spChg chg="mod">
          <ac:chgData name="15018264 Lê Thị Thúy Nga" userId="S::15018264@dnu.edu.vn::f51332bd-8e53-422d-89c1-fb0380401595" providerId="AD" clId="Web-{F74C89C4-D697-4B46-8D54-3912FA652C62}" dt="2022-03-07T19:03:24.597" v="2" actId="1076"/>
          <ac:spMkLst>
            <pc:docMk/>
            <pc:sldMk cId="1483438109" sldId="328"/>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VN" dirty="0"/>
          </a:p>
        </p:txBody>
      </p:sp>
    </p:spTree>
    <p:extLst>
      <p:ext uri="{BB962C8B-B14F-4D97-AF65-F5344CB8AC3E}">
        <p14:creationId xmlns:p14="http://schemas.microsoft.com/office/powerpoint/2010/main" val="4173428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Nếu thời gian phản hồi trung bình vượt quá một ngưỡng nhất định (ví dụ, 100 ms), bạn có thể cần tối ưu hóa mã, tăng cường phần cứng, hoặc xem xét việc cân bằng tải.</a:t>
            </a:r>
          </a:p>
          <a:p>
            <a:pPr marL="0" lvl="0" indent="0" algn="l" rtl="0">
              <a:spcBef>
                <a:spcPts val="0"/>
              </a:spcBef>
              <a:spcAft>
                <a:spcPts val="0"/>
              </a:spcAft>
              <a:buNone/>
            </a:pPr>
            <a:r>
              <a:rPr lang="vi-VN" dirty="0"/>
              <a:t>Biến ngẫu nhiên X có thể được định nghĩa là thời gian phản hồi (đơn vị: mili giây) của máy chủ cho một yêu cầu.</a:t>
            </a:r>
          </a:p>
          <a:p>
            <a:pPr marL="0" lvl="0" indent="0" algn="l" rtl="0">
              <a:spcBef>
                <a:spcPts val="0"/>
              </a:spcBef>
              <a:spcAft>
                <a:spcPts val="0"/>
              </a:spcAft>
              <a:buNone/>
            </a:pPr>
            <a:r>
              <a:rPr lang="en-US" dirty="0" err="1"/>
              <a:t>Việc</a:t>
            </a:r>
            <a:r>
              <a:rPr lang="en-US" dirty="0"/>
              <a:t> </a:t>
            </a:r>
            <a:r>
              <a:rPr lang="en-US" dirty="0" err="1"/>
              <a:t>sử</a:t>
            </a:r>
            <a:r>
              <a:rPr lang="en-US" dirty="0"/>
              <a:t> </a:t>
            </a:r>
            <a:r>
              <a:rPr lang="en-US" dirty="0" err="1"/>
              <a:t>dụng</a:t>
            </a:r>
            <a:r>
              <a:rPr lang="en-US" dirty="0"/>
              <a:t> </a:t>
            </a:r>
            <a:r>
              <a:rPr lang="en-US" dirty="0" err="1"/>
              <a:t>biến</a:t>
            </a:r>
            <a:r>
              <a:rPr lang="en-US" dirty="0"/>
              <a:t> </a:t>
            </a:r>
            <a:r>
              <a:rPr lang="en-US" dirty="0" err="1"/>
              <a:t>ngẫu</a:t>
            </a:r>
            <a:r>
              <a:rPr lang="en-US" dirty="0"/>
              <a:t> </a:t>
            </a:r>
            <a:r>
              <a:rPr lang="en-US" dirty="0" err="1"/>
              <a:t>nhiên</a:t>
            </a:r>
            <a:r>
              <a:rPr lang="en-US" dirty="0"/>
              <a:t> </a:t>
            </a:r>
            <a:r>
              <a:rPr lang="en-US" dirty="0" err="1"/>
              <a:t>trong</a:t>
            </a:r>
            <a:r>
              <a:rPr lang="en-US" dirty="0"/>
              <a:t> </a:t>
            </a:r>
            <a:r>
              <a:rPr lang="en-US" dirty="0" err="1"/>
              <a:t>tình</a:t>
            </a:r>
            <a:r>
              <a:rPr lang="en-US" dirty="0"/>
              <a:t> </a:t>
            </a:r>
            <a:r>
              <a:rPr lang="en-US" dirty="0" err="1"/>
              <a:t>huống</a:t>
            </a:r>
            <a:r>
              <a:rPr lang="en-US" dirty="0"/>
              <a:t> </a:t>
            </a:r>
            <a:r>
              <a:rPr lang="en-US" dirty="0" err="1"/>
              <a:t>này</a:t>
            </a:r>
            <a:r>
              <a:rPr lang="en-US" dirty="0"/>
              <a:t> </a:t>
            </a:r>
            <a:r>
              <a:rPr lang="en-US" dirty="0" err="1"/>
              <a:t>giúp</a:t>
            </a:r>
            <a:r>
              <a:rPr lang="en-US" dirty="0"/>
              <a:t> </a:t>
            </a:r>
            <a:r>
              <a:rPr lang="en-US" dirty="0" err="1"/>
              <a:t>bạn</a:t>
            </a:r>
            <a:r>
              <a:rPr lang="en-US" dirty="0"/>
              <a:t> </a:t>
            </a:r>
            <a:r>
              <a:rPr lang="en-US" dirty="0" err="1"/>
              <a:t>phân</a:t>
            </a:r>
            <a:r>
              <a:rPr lang="en-US" dirty="0"/>
              <a:t> </a:t>
            </a:r>
            <a:r>
              <a:rPr lang="en-US" dirty="0" err="1"/>
              <a:t>tích</a:t>
            </a:r>
            <a:r>
              <a:rPr lang="en-US" dirty="0"/>
              <a:t> </a:t>
            </a:r>
            <a:r>
              <a:rPr lang="en-US" dirty="0" err="1"/>
              <a:t>và</a:t>
            </a:r>
            <a:r>
              <a:rPr lang="en-US" dirty="0"/>
              <a:t> </a:t>
            </a:r>
            <a:r>
              <a:rPr lang="en-US" dirty="0" err="1"/>
              <a:t>cải</a:t>
            </a:r>
            <a:r>
              <a:rPr lang="en-US" dirty="0"/>
              <a:t> </a:t>
            </a:r>
            <a:r>
              <a:rPr lang="en-US" dirty="0" err="1"/>
              <a:t>thiện</a:t>
            </a:r>
            <a:r>
              <a:rPr lang="en-US" dirty="0"/>
              <a:t> </a:t>
            </a:r>
            <a:r>
              <a:rPr lang="en-US" dirty="0" err="1"/>
              <a:t>hiệu</a:t>
            </a:r>
            <a:r>
              <a:rPr lang="en-US" dirty="0"/>
              <a:t> </a:t>
            </a:r>
            <a:r>
              <a:rPr lang="en-US" dirty="0" err="1"/>
              <a:t>suất</a:t>
            </a:r>
            <a:r>
              <a:rPr lang="en-US" dirty="0"/>
              <a:t> </a:t>
            </a:r>
            <a:r>
              <a:rPr lang="en-US" dirty="0" err="1"/>
              <a:t>hệ</a:t>
            </a:r>
            <a:r>
              <a:rPr lang="en-US" dirty="0"/>
              <a:t> </a:t>
            </a:r>
            <a:r>
              <a:rPr lang="en-US" dirty="0" err="1"/>
              <a:t>thống</a:t>
            </a:r>
            <a:r>
              <a:rPr lang="en-US" dirty="0"/>
              <a:t>, </a:t>
            </a:r>
            <a:r>
              <a:rPr lang="en-US" dirty="0" err="1"/>
              <a:t>đồng</a:t>
            </a:r>
            <a:r>
              <a:rPr lang="en-US" dirty="0"/>
              <a:t> </a:t>
            </a:r>
            <a:r>
              <a:rPr lang="en-US" dirty="0" err="1"/>
              <a:t>thời</a:t>
            </a:r>
            <a:r>
              <a:rPr lang="en-US" dirty="0"/>
              <a:t> </a:t>
            </a:r>
            <a:r>
              <a:rPr lang="en-US" dirty="0" err="1"/>
              <a:t>hỗ</a:t>
            </a:r>
            <a:r>
              <a:rPr lang="en-US" dirty="0"/>
              <a:t> </a:t>
            </a:r>
            <a:r>
              <a:rPr lang="en-US" dirty="0" err="1"/>
              <a:t>trợ</a:t>
            </a:r>
            <a:r>
              <a:rPr lang="en-US" dirty="0"/>
              <a:t> </a:t>
            </a:r>
            <a:r>
              <a:rPr lang="en-US" dirty="0" err="1"/>
              <a:t>việc</a:t>
            </a:r>
            <a:r>
              <a:rPr lang="en-US" dirty="0"/>
              <a:t> </a:t>
            </a:r>
            <a:r>
              <a:rPr lang="en-US" dirty="0" err="1"/>
              <a:t>ra</a:t>
            </a:r>
            <a:r>
              <a:rPr lang="en-US" dirty="0"/>
              <a:t> </a:t>
            </a:r>
            <a:r>
              <a:rPr lang="en-US" dirty="0" err="1"/>
              <a:t>quyết</a:t>
            </a:r>
            <a:r>
              <a:rPr lang="en-US" dirty="0"/>
              <a:t> </a:t>
            </a:r>
            <a:r>
              <a:rPr lang="en-US" dirty="0" err="1"/>
              <a:t>định</a:t>
            </a:r>
            <a:r>
              <a:rPr lang="en-US" dirty="0"/>
              <a:t> </a:t>
            </a:r>
            <a:r>
              <a:rPr lang="en-US" dirty="0" err="1"/>
              <a:t>trong</a:t>
            </a:r>
            <a:r>
              <a:rPr lang="en-US" dirty="0"/>
              <a:t> </a:t>
            </a:r>
            <a:r>
              <a:rPr lang="en-US" dirty="0" err="1"/>
              <a:t>việc</a:t>
            </a:r>
            <a:r>
              <a:rPr lang="en-US" dirty="0"/>
              <a:t> </a:t>
            </a:r>
            <a:r>
              <a:rPr lang="en-US" dirty="0" err="1"/>
              <a:t>quản</a:t>
            </a:r>
            <a:r>
              <a:rPr lang="en-US" dirty="0"/>
              <a:t> </a:t>
            </a:r>
            <a:r>
              <a:rPr lang="en-US" dirty="0" err="1"/>
              <a:t>lý</a:t>
            </a:r>
            <a:r>
              <a:rPr lang="en-US" dirty="0"/>
              <a:t> </a:t>
            </a:r>
            <a:r>
              <a:rPr lang="en-US" dirty="0" err="1"/>
              <a:t>tài</a:t>
            </a:r>
            <a:r>
              <a:rPr lang="en-US" dirty="0"/>
              <a:t> </a:t>
            </a:r>
            <a:r>
              <a:rPr lang="en-US" dirty="0" err="1"/>
              <a:t>nguyên</a:t>
            </a:r>
            <a:r>
              <a:rPr lang="en-US" dirty="0"/>
              <a:t> </a:t>
            </a:r>
            <a:r>
              <a:rPr lang="en-US" dirty="0" err="1"/>
              <a:t>máy</a:t>
            </a:r>
            <a:r>
              <a:rPr lang="en-US" dirty="0"/>
              <a:t> </a:t>
            </a:r>
            <a:r>
              <a:rPr lang="en-US" dirty="0" err="1"/>
              <a:t>chủ</a:t>
            </a:r>
            <a:r>
              <a:rPr lang="en-US" dirty="0"/>
              <a:t>.</a:t>
            </a:r>
            <a:endParaRPr dirty="0"/>
          </a:p>
        </p:txBody>
      </p:sp>
    </p:spTree>
    <p:extLst>
      <p:ext uri="{BB962C8B-B14F-4D97-AF65-F5344CB8AC3E}">
        <p14:creationId xmlns:p14="http://schemas.microsoft.com/office/powerpoint/2010/main" val="858870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VN" b="1" dirty="0"/>
              <a:t>🎈 </a:t>
            </a:r>
            <a:r>
              <a:rPr lang="vi-VN" b="1" dirty="0"/>
              <a:t>Ví dụ đời sống cho dễ hình dung:</a:t>
            </a:r>
          </a:p>
          <a:p>
            <a:r>
              <a:rPr lang="en-VN" b="1" dirty="0"/>
              <a:t>👉 </a:t>
            </a:r>
            <a:r>
              <a:rPr lang="vi-VN" b="1" dirty="0"/>
              <a:t>Biến cố (Event)</a:t>
            </a:r>
          </a:p>
          <a:p>
            <a:r>
              <a:rPr lang="vi-VN" dirty="0"/>
              <a:t>“Trời mưa vào chiều nay”.</a:t>
            </a:r>
          </a:p>
          <a:p>
            <a:r>
              <a:rPr lang="vi-VN" dirty="0"/>
              <a:t>Chỉ có: mưa / không mưa.</a:t>
            </a:r>
          </a:p>
          <a:p>
            <a:r>
              <a:rPr lang="en-VN" b="1" dirty="0"/>
              <a:t>👉 </a:t>
            </a:r>
            <a:r>
              <a:rPr lang="vi-VN" b="1" dirty="0"/>
              <a:t>Biến ngẫu nhiên (Random variable)</a:t>
            </a:r>
          </a:p>
          <a:p>
            <a:r>
              <a:rPr lang="vi-VN" dirty="0"/>
              <a:t>“Lượng mưa đo được (mm) trong chiều nay”.</a:t>
            </a:r>
          </a:p>
          <a:p>
            <a:r>
              <a:rPr lang="vi-VN" dirty="0"/>
              <a:t>Có thể là 0 mm, 5 mm, 12.3 mm,...</a:t>
            </a:r>
            <a:br>
              <a:rPr lang="vi-VN" dirty="0"/>
            </a:br>
            <a:endParaRPr lang="vi-VN" dirty="0"/>
          </a:p>
          <a:p>
            <a:r>
              <a:rPr lang="en-VN" b="1" dirty="0"/>
              <a:t>🎯 </a:t>
            </a:r>
            <a:r>
              <a:rPr lang="vi-VN" b="1" dirty="0"/>
              <a:t>Một câu chốt dễ nhớ:</a:t>
            </a:r>
          </a:p>
          <a:p>
            <a:r>
              <a:rPr lang="vi-VN" b="1" dirty="0"/>
              <a:t>Biến cố là chuyện xảy ra hay không.</a:t>
            </a:r>
            <a:br>
              <a:rPr lang="vi-VN" b="1" dirty="0"/>
            </a:br>
            <a:r>
              <a:rPr lang="vi-VN" b="1" dirty="0"/>
              <a:t>Biến ngẫu nhiên là con số mô tả kết quả.</a:t>
            </a:r>
            <a:endParaRPr lang="vi-VN" dirty="0"/>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r>
              <a:rPr lang="vi-VN" b="0" i="0" dirty="0">
                <a:solidFill>
                  <a:srgbClr val="191919"/>
                </a:solidFill>
                <a:effectLst/>
                <a:latin typeface="Times New Roman" panose="02020603050405020304" pitchFamily="18" charset="0"/>
              </a:rPr>
              <a:t>BNN được gọi là rời rạc nếu tập giá trị của nó là một tập hữu hạn hoặc vô hạn đếm được các phần tử.</a:t>
            </a:r>
          </a:p>
          <a:p>
            <a:pPr algn="just"/>
            <a:r>
              <a:rPr lang="vi-VN" b="1" i="0" dirty="0">
                <a:solidFill>
                  <a:srgbClr val="191919"/>
                </a:solidFill>
                <a:effectLst/>
                <a:latin typeface="Times New Roman" panose="02020603050405020304" pitchFamily="18" charset="0"/>
              </a:rPr>
              <a:t>Ví dụ: </a:t>
            </a:r>
            <a:r>
              <a:rPr lang="vi-VN" b="0" i="0" dirty="0">
                <a:solidFill>
                  <a:srgbClr val="191919"/>
                </a:solidFill>
                <a:effectLst/>
                <a:latin typeface="Times New Roman" panose="02020603050405020304" pitchFamily="18" charset="0"/>
              </a:rPr>
              <a:t>Số điểm thi của một học sinh, số cuộc điện thoại gọi đến một tổng đài trong một đơn vị thời gian, số viên đạn trúng đích khi bắn liên tiếp n viên đạn độc lập vào một mục tiêu,..</a:t>
            </a:r>
          </a:p>
          <a:p>
            <a:pPr algn="just"/>
            <a:r>
              <a:rPr lang="vi-VN" b="0" i="0" dirty="0">
                <a:solidFill>
                  <a:srgbClr val="191919"/>
                </a:solidFill>
                <a:effectLst/>
                <a:latin typeface="Times New Roman" panose="02020603050405020304" pitchFamily="18" charset="0"/>
              </a:rPr>
              <a:t>BNN được gọi là liên tục, nếu tập giá trị của nó lấp kín một khoảng trên trục số (số phần tử của tập giá trị là vô hạn không đếm được).</a:t>
            </a:r>
          </a:p>
          <a:p>
            <a:pPr algn="just"/>
            <a:r>
              <a:rPr lang="vi-VN" b="1" i="0" dirty="0">
                <a:solidFill>
                  <a:srgbClr val="191919"/>
                </a:solidFill>
                <a:effectLst/>
                <a:latin typeface="Times New Roman" panose="02020603050405020304" pitchFamily="18" charset="0"/>
              </a:rPr>
              <a:t>Ví dụ</a:t>
            </a:r>
            <a:r>
              <a:rPr lang="vi-VN" b="0" i="0" dirty="0">
                <a:solidFill>
                  <a:srgbClr val="191919"/>
                </a:solidFill>
                <a:effectLst/>
                <a:latin typeface="Times New Roman" panose="02020603050405020304" pitchFamily="18" charset="0"/>
              </a:rPr>
              <a:t>: Độ cao của một cây tại thời gian t nào đó, nhiệt độ không khí ở mỗi thời điểm nào đó, độ dài của chi tiết máy, tuổi thọ của một loại thiết bị điện tử đang hoạt động,...</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176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9916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57843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60196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05601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06611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 “</a:t>
            </a:r>
            <a:r>
              <a:rPr lang="en-US" b="1" dirty="0" err="1"/>
              <a:t>Tôi</a:t>
            </a:r>
            <a:r>
              <a:rPr lang="en-US" b="1" dirty="0"/>
              <a:t> </a:t>
            </a:r>
            <a:r>
              <a:rPr lang="en-US" b="1" dirty="0" err="1"/>
              <a:t>muốn</a:t>
            </a:r>
            <a:r>
              <a:rPr lang="en-US" b="1" dirty="0"/>
              <a:t> </a:t>
            </a:r>
            <a:r>
              <a:rPr lang="en-US" b="1" dirty="0" err="1"/>
              <a:t>biết</a:t>
            </a:r>
            <a:r>
              <a:rPr lang="en-US" b="1" dirty="0"/>
              <a:t> </a:t>
            </a:r>
            <a:r>
              <a:rPr lang="en-US" b="1" dirty="0" err="1"/>
              <a:t>xác</a:t>
            </a:r>
            <a:r>
              <a:rPr lang="en-US" b="1" dirty="0"/>
              <a:t> </a:t>
            </a:r>
            <a:r>
              <a:rPr lang="en-US" b="1" dirty="0" err="1"/>
              <a:t>suất</a:t>
            </a:r>
            <a:r>
              <a:rPr lang="en-US" b="1" dirty="0"/>
              <a:t> </a:t>
            </a:r>
            <a:r>
              <a:rPr lang="en-US" b="1" dirty="0" err="1"/>
              <a:t>chờ</a:t>
            </a:r>
            <a:r>
              <a:rPr lang="en-US" b="1" dirty="0"/>
              <a:t> </a:t>
            </a:r>
            <a:r>
              <a:rPr lang="en-US" b="1" dirty="0" err="1"/>
              <a:t>từ</a:t>
            </a:r>
            <a:r>
              <a:rPr lang="en-US" b="1" dirty="0"/>
              <a:t> 30 </a:t>
            </a:r>
            <a:r>
              <a:rPr lang="en-US" b="1" dirty="0" err="1"/>
              <a:t>giây</a:t>
            </a:r>
            <a:r>
              <a:rPr lang="en-US" b="1" dirty="0"/>
              <a:t> (0.5 </a:t>
            </a:r>
            <a:r>
              <a:rPr lang="en-US" b="1" dirty="0" err="1"/>
              <a:t>phút</a:t>
            </a:r>
            <a:r>
              <a:rPr lang="en-US" b="1" dirty="0"/>
              <a:t>) </a:t>
            </a:r>
            <a:r>
              <a:rPr lang="en-US" b="1" dirty="0" err="1"/>
              <a:t>đến</a:t>
            </a:r>
            <a:r>
              <a:rPr lang="en-US" b="1" dirty="0"/>
              <a:t> 1 </a:t>
            </a:r>
            <a:r>
              <a:rPr lang="en-US" b="1" dirty="0" err="1"/>
              <a:t>phút</a:t>
            </a:r>
            <a:r>
              <a:rPr lang="en-US" b="1" dirty="0"/>
              <a:t> </a:t>
            </a:r>
            <a:r>
              <a:rPr lang="en-US" b="1" dirty="0" err="1"/>
              <a:t>là</a:t>
            </a:r>
            <a:r>
              <a:rPr lang="en-US" b="1" dirty="0"/>
              <a:t> bao </a:t>
            </a:r>
            <a:r>
              <a:rPr lang="en-US" b="1" dirty="0" err="1"/>
              <a:t>nhiêu</a:t>
            </a:r>
            <a:r>
              <a:rPr lang="en-US" b="1" dirty="0"/>
              <a:t>?</a:t>
            </a:r>
            <a:r>
              <a:rPr lang="en-US" dirty="0"/>
              <a:t>”</a:t>
            </a:r>
            <a:endParaRPr lang="en-VN" dirty="0"/>
          </a:p>
        </p:txBody>
      </p:sp>
    </p:spTree>
    <p:extLst>
      <p:ext uri="{BB962C8B-B14F-4D97-AF65-F5344CB8AC3E}">
        <p14:creationId xmlns:p14="http://schemas.microsoft.com/office/powerpoint/2010/main" val="4071888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70877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71669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45456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2B6FC-C4C8-836D-CAAC-3EE858453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317DA-6CCE-16AF-DE83-2D317A20D1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10AD557-E436-BA95-AF53-9D913C2E1B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32270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vi-VN" b="1" dirty="0"/>
              <a:t>Sinh viên A – phương sai nhỏ</a:t>
            </a:r>
          </a:p>
          <a:p>
            <a:r>
              <a:rPr lang="vi-VN" dirty="0"/>
              <a:t>Điểm: 8, 8, 8, 8, 8</a:t>
            </a:r>
            <a:br>
              <a:rPr lang="vi-VN" dirty="0"/>
            </a:br>
            <a:r>
              <a:rPr lang="vi-VN" dirty="0"/>
              <a:t>→ trung bình = 8</a:t>
            </a:r>
            <a:br>
              <a:rPr lang="vi-VN" dirty="0"/>
            </a:br>
            <a:r>
              <a:rPr lang="vi-VN" dirty="0"/>
              <a:t>→ điểm lúc nào cũng ~8</a:t>
            </a:r>
            <a:br>
              <a:rPr lang="vi-VN" dirty="0"/>
            </a:br>
            <a:r>
              <a:rPr lang="vi-VN" dirty="0"/>
              <a:t>→ </a:t>
            </a:r>
            <a:r>
              <a:rPr lang="vi-VN" b="1" dirty="0"/>
              <a:t>kỳ vọng = 8 phản ánh rất sát thực tế</a:t>
            </a:r>
            <a:endParaRPr lang="vi-VN" dirty="0"/>
          </a:p>
          <a:p>
            <a:r>
              <a:rPr lang="vi-VN" b="1" dirty="0"/>
              <a:t>Sinh viên B – phương sai lớn</a:t>
            </a:r>
          </a:p>
          <a:p>
            <a:r>
              <a:rPr lang="vi-VN" dirty="0"/>
              <a:t>Điểm: 0, 10, 6, 9, 5</a:t>
            </a:r>
            <a:br>
              <a:rPr lang="vi-VN" dirty="0"/>
            </a:br>
            <a:r>
              <a:rPr lang="vi-VN" dirty="0"/>
              <a:t>→ trung bình = 8 (giống A)</a:t>
            </a:r>
            <a:br>
              <a:rPr lang="vi-VN" dirty="0"/>
            </a:br>
            <a:r>
              <a:rPr lang="vi-VN" dirty="0"/>
              <a:t>→ điểm dao động mạnh</a:t>
            </a:r>
            <a:br>
              <a:rPr lang="vi-VN" dirty="0"/>
            </a:br>
            <a:r>
              <a:rPr lang="vi-VN" dirty="0"/>
              <a:t>→ </a:t>
            </a:r>
            <a:r>
              <a:rPr lang="vi-VN" b="1" dirty="0"/>
              <a:t>kỳ vọng = 8 KHÔNG phản ánh đúng thực tế học của B</a:t>
            </a:r>
            <a:endParaRPr lang="vi-VN" dirty="0"/>
          </a:p>
          <a:p>
            <a:r>
              <a:rPr lang="vi-VN" b="1" dirty="0"/>
              <a:t>Phương sai nhỏ → dữ liệu ổn định → kết quả thực tế gần kỳ vọng.</a:t>
            </a:r>
            <a:br>
              <a:rPr lang="vi-VN" dirty="0"/>
            </a:br>
            <a:r>
              <a:rPr lang="vi-VN" b="1" dirty="0"/>
              <a:t>Phương sai lớn → dữ liệu thất thường → kỳ vọng không nói lên nhiều điều.</a:t>
            </a:r>
            <a:endParaRPr lang="en-VN" dirty="0"/>
          </a:p>
        </p:txBody>
      </p:sp>
    </p:spTree>
    <p:extLst>
      <p:ext uri="{BB962C8B-B14F-4D97-AF65-F5344CB8AC3E}">
        <p14:creationId xmlns:p14="http://schemas.microsoft.com/office/powerpoint/2010/main" val="40887104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710113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905091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61681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 1 column" type="tx">
  <p:cSld name="TITLE_AND_BODY">
    <p:spTree>
      <p:nvGrpSpPr>
        <p:cNvPr id="1" name="Shape 85"/>
        <p:cNvGrpSpPr/>
        <p:nvPr/>
      </p:nvGrpSpPr>
      <p:grpSpPr>
        <a:xfrm>
          <a:off x="0" y="0"/>
          <a:ext cx="0" cy="0"/>
          <a:chOff x="0" y="0"/>
          <a:chExt cx="0" cy="0"/>
        </a:xfrm>
      </p:grpSpPr>
      <p:sp>
        <p:nvSpPr>
          <p:cNvPr id="86" name="Google Shape;86;p5"/>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87" name="Google Shape;87;p5"/>
          <p:cNvSpPr/>
          <p:nvPr/>
        </p:nvSpPr>
        <p:spPr>
          <a:xfrm>
            <a:off x="0" y="1063500"/>
            <a:ext cx="9144000" cy="4080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txBox="1">
            <a:spLocks noGrp="1"/>
          </p:cNvSpPr>
          <p:nvPr>
            <p:ph type="title"/>
          </p:nvPr>
        </p:nvSpPr>
        <p:spPr>
          <a:xfrm>
            <a:off x="868550" y="0"/>
            <a:ext cx="7407000" cy="10635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89" name="Google Shape;89;p5"/>
          <p:cNvSpPr txBox="1">
            <a:spLocks noGrp="1"/>
          </p:cNvSpPr>
          <p:nvPr>
            <p:ph type="body" idx="1"/>
          </p:nvPr>
        </p:nvSpPr>
        <p:spPr>
          <a:xfrm>
            <a:off x="868550" y="1411400"/>
            <a:ext cx="7407000" cy="3514500"/>
          </a:xfrm>
          <a:prstGeom prst="rect">
            <a:avLst/>
          </a:prstGeom>
        </p:spPr>
        <p:txBody>
          <a:bodyPr spcFirstLastPara="1" wrap="square" lIns="91425" tIns="91425" rIns="91425" bIns="91425" anchor="t" anchorCtr="0">
            <a:noAutofit/>
          </a:bodyPr>
          <a:lstStyle>
            <a:lvl1pPr marL="457200" lvl="0" indent="-406400">
              <a:spcBef>
                <a:spcPts val="600"/>
              </a:spcBef>
              <a:spcAft>
                <a:spcPts val="0"/>
              </a:spcAft>
              <a:buSzPts val="2800"/>
              <a:buChar char="×"/>
              <a:defRPr sz="2800"/>
            </a:lvl1pPr>
            <a:lvl2pPr marL="914400" lvl="1" indent="-406400">
              <a:spcBef>
                <a:spcPts val="0"/>
              </a:spcBef>
              <a:spcAft>
                <a:spcPts val="0"/>
              </a:spcAft>
              <a:buSzPts val="2800"/>
              <a:buChar char="×"/>
              <a:defRPr sz="2800"/>
            </a:lvl2pPr>
            <a:lvl3pPr marL="1371600" lvl="2" indent="-406400">
              <a:spcBef>
                <a:spcPts val="0"/>
              </a:spcBef>
              <a:spcAft>
                <a:spcPts val="0"/>
              </a:spcAft>
              <a:buSzPts val="2800"/>
              <a:buChar char="×"/>
              <a:defRPr sz="2800"/>
            </a:lvl3pPr>
            <a:lvl4pPr marL="1828800" lvl="3" indent="-406400">
              <a:spcBef>
                <a:spcPts val="0"/>
              </a:spcBef>
              <a:spcAft>
                <a:spcPts val="0"/>
              </a:spcAft>
              <a:buSzPts val="2800"/>
              <a:buChar char="×"/>
              <a:defRPr sz="2800"/>
            </a:lvl4pPr>
            <a:lvl5pPr marL="2286000" lvl="4" indent="-406400">
              <a:spcBef>
                <a:spcPts val="0"/>
              </a:spcBef>
              <a:spcAft>
                <a:spcPts val="0"/>
              </a:spcAft>
              <a:buSzPts val="2800"/>
              <a:buChar char="×"/>
              <a:defRPr sz="2800"/>
            </a:lvl5pPr>
            <a:lvl6pPr marL="2743200" lvl="5" indent="-406400">
              <a:spcBef>
                <a:spcPts val="0"/>
              </a:spcBef>
              <a:spcAft>
                <a:spcPts val="0"/>
              </a:spcAft>
              <a:buSzPts val="2800"/>
              <a:buChar char="×"/>
              <a:defRPr sz="2800"/>
            </a:lvl6pPr>
            <a:lvl7pPr marL="3200400" lvl="6" indent="-406400">
              <a:spcBef>
                <a:spcPts val="0"/>
              </a:spcBef>
              <a:spcAft>
                <a:spcPts val="0"/>
              </a:spcAft>
              <a:buSzPts val="2800"/>
              <a:buChar char="●"/>
              <a:defRPr sz="2800"/>
            </a:lvl7pPr>
            <a:lvl8pPr marL="3657600" lvl="7" indent="-406400">
              <a:spcBef>
                <a:spcPts val="0"/>
              </a:spcBef>
              <a:spcAft>
                <a:spcPts val="0"/>
              </a:spcAft>
              <a:buSzPts val="2800"/>
              <a:buChar char="○"/>
              <a:defRPr sz="2800"/>
            </a:lvl8pPr>
            <a:lvl9pPr marL="4114800" lvl="8" indent="-406400">
              <a:spcBef>
                <a:spcPts val="0"/>
              </a:spcBef>
              <a:spcAft>
                <a:spcPts val="0"/>
              </a:spcAft>
              <a:buSzPts val="2800"/>
              <a:buChar char="■"/>
              <a:defRPr sz="2800"/>
            </a:lvl9pPr>
          </a:lstStyle>
          <a:p>
            <a:endParaRPr/>
          </a:p>
        </p:txBody>
      </p:sp>
      <p:sp>
        <p:nvSpPr>
          <p:cNvPr id="90" name="Google Shape;90;p5"/>
          <p:cNvSpPr/>
          <p:nvPr/>
        </p:nvSpPr>
        <p:spPr>
          <a:xfrm>
            <a:off x="600350" y="319175"/>
            <a:ext cx="268200" cy="2682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771440" y="586479"/>
            <a:ext cx="386100" cy="386100"/>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rot="-1295565">
            <a:off x="1719773" y="-14241"/>
            <a:ext cx="260049" cy="260049"/>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7099000" y="-18325"/>
            <a:ext cx="268200" cy="2682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1050327">
            <a:off x="7064662" y="770637"/>
            <a:ext cx="385975" cy="385975"/>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rot="1498139">
            <a:off x="8048547" y="796761"/>
            <a:ext cx="260111" cy="260111"/>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272750" y="914514"/>
            <a:ext cx="185100" cy="1851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rot="1222482">
            <a:off x="108247" y="115143"/>
            <a:ext cx="266258" cy="266258"/>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rot="2700000">
            <a:off x="1130105" y="721484"/>
            <a:ext cx="179464" cy="179464"/>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8797925" y="686964"/>
            <a:ext cx="185100" cy="1851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8434357" y="190568"/>
            <a:ext cx="266400" cy="266400"/>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7656287" y="319171"/>
            <a:ext cx="179400" cy="179400"/>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 2 columns" type="twoColTx">
  <p:cSld name="TITLE_AND_TWO_COLUMNS">
    <p:spTree>
      <p:nvGrpSpPr>
        <p:cNvPr id="1" name="Shape 103"/>
        <p:cNvGrpSpPr/>
        <p:nvPr/>
      </p:nvGrpSpPr>
      <p:grpSpPr>
        <a:xfrm>
          <a:off x="0" y="0"/>
          <a:ext cx="0" cy="0"/>
          <a:chOff x="0" y="0"/>
          <a:chExt cx="0" cy="0"/>
        </a:xfrm>
      </p:grpSpPr>
      <p:sp>
        <p:nvSpPr>
          <p:cNvPr id="104" name="Google Shape;104;p6"/>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5" name="Google Shape;105;p6"/>
          <p:cNvSpPr/>
          <p:nvPr/>
        </p:nvSpPr>
        <p:spPr>
          <a:xfrm>
            <a:off x="0" y="1063500"/>
            <a:ext cx="9144000" cy="4080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6"/>
          <p:cNvSpPr/>
          <p:nvPr/>
        </p:nvSpPr>
        <p:spPr>
          <a:xfrm>
            <a:off x="600350" y="319175"/>
            <a:ext cx="268200" cy="2682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6"/>
          <p:cNvSpPr/>
          <p:nvPr/>
        </p:nvSpPr>
        <p:spPr>
          <a:xfrm>
            <a:off x="1771440" y="586479"/>
            <a:ext cx="386100" cy="386100"/>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rot="-1295565">
            <a:off x="1719773" y="-14241"/>
            <a:ext cx="260049" cy="260049"/>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a:off x="7099000" y="-18325"/>
            <a:ext cx="268200" cy="2682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6"/>
          <p:cNvSpPr/>
          <p:nvPr/>
        </p:nvSpPr>
        <p:spPr>
          <a:xfrm rot="1050327">
            <a:off x="7064662" y="770637"/>
            <a:ext cx="385975" cy="385975"/>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6"/>
          <p:cNvSpPr/>
          <p:nvPr/>
        </p:nvSpPr>
        <p:spPr>
          <a:xfrm rot="1498139">
            <a:off x="8048547" y="796761"/>
            <a:ext cx="260111" cy="260111"/>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6"/>
          <p:cNvSpPr/>
          <p:nvPr/>
        </p:nvSpPr>
        <p:spPr>
          <a:xfrm>
            <a:off x="272750" y="914514"/>
            <a:ext cx="185100" cy="1851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6"/>
          <p:cNvSpPr/>
          <p:nvPr/>
        </p:nvSpPr>
        <p:spPr>
          <a:xfrm rot="1222482">
            <a:off x="108247" y="115143"/>
            <a:ext cx="266258" cy="266258"/>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6"/>
          <p:cNvSpPr/>
          <p:nvPr/>
        </p:nvSpPr>
        <p:spPr>
          <a:xfrm rot="2700000">
            <a:off x="1130105" y="721484"/>
            <a:ext cx="179464" cy="179464"/>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6"/>
          <p:cNvSpPr/>
          <p:nvPr/>
        </p:nvSpPr>
        <p:spPr>
          <a:xfrm>
            <a:off x="8797925" y="686964"/>
            <a:ext cx="185100" cy="1851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6"/>
          <p:cNvSpPr/>
          <p:nvPr/>
        </p:nvSpPr>
        <p:spPr>
          <a:xfrm>
            <a:off x="8434357" y="190568"/>
            <a:ext cx="266400" cy="266400"/>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6"/>
          <p:cNvSpPr/>
          <p:nvPr/>
        </p:nvSpPr>
        <p:spPr>
          <a:xfrm>
            <a:off x="7656287" y="319171"/>
            <a:ext cx="179400" cy="179400"/>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6"/>
          <p:cNvSpPr txBox="1">
            <a:spLocks noGrp="1"/>
          </p:cNvSpPr>
          <p:nvPr>
            <p:ph type="title"/>
          </p:nvPr>
        </p:nvSpPr>
        <p:spPr>
          <a:xfrm>
            <a:off x="457200" y="-1"/>
            <a:ext cx="8229600" cy="10635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119" name="Google Shape;119;p6"/>
          <p:cNvSpPr txBox="1">
            <a:spLocks noGrp="1"/>
          </p:cNvSpPr>
          <p:nvPr>
            <p:ph type="body" idx="1"/>
          </p:nvPr>
        </p:nvSpPr>
        <p:spPr>
          <a:xfrm>
            <a:off x="717750" y="1357125"/>
            <a:ext cx="3741600" cy="35688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120" name="Google Shape;120;p6"/>
          <p:cNvSpPr txBox="1">
            <a:spLocks noGrp="1"/>
          </p:cNvSpPr>
          <p:nvPr>
            <p:ph type="body" idx="2"/>
          </p:nvPr>
        </p:nvSpPr>
        <p:spPr>
          <a:xfrm>
            <a:off x="4684654" y="1357125"/>
            <a:ext cx="3741600" cy="35688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121" name="Google Shape;121;p6"/>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 3 columns">
  <p:cSld name="TITLE_AND_TWO_COLUMNS_1">
    <p:spTree>
      <p:nvGrpSpPr>
        <p:cNvPr id="1" name="Shape 122"/>
        <p:cNvGrpSpPr/>
        <p:nvPr/>
      </p:nvGrpSpPr>
      <p:grpSpPr>
        <a:xfrm>
          <a:off x="0" y="0"/>
          <a:ext cx="0" cy="0"/>
          <a:chOff x="0" y="0"/>
          <a:chExt cx="0" cy="0"/>
        </a:xfrm>
      </p:grpSpPr>
      <p:sp>
        <p:nvSpPr>
          <p:cNvPr id="123" name="Google Shape;123;p7"/>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4" name="Google Shape;124;p7"/>
          <p:cNvSpPr/>
          <p:nvPr/>
        </p:nvSpPr>
        <p:spPr>
          <a:xfrm>
            <a:off x="0" y="1063500"/>
            <a:ext cx="9144000" cy="4080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p:nvPr/>
        </p:nvSpPr>
        <p:spPr>
          <a:xfrm>
            <a:off x="600350" y="319175"/>
            <a:ext cx="268200" cy="2682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a:off x="1771440" y="586479"/>
            <a:ext cx="386100" cy="386100"/>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rot="-1295565">
            <a:off x="1719773" y="-14241"/>
            <a:ext cx="260049" cy="260049"/>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a:off x="7099000" y="-18325"/>
            <a:ext cx="268200" cy="2682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7"/>
          <p:cNvSpPr/>
          <p:nvPr/>
        </p:nvSpPr>
        <p:spPr>
          <a:xfrm rot="1050327">
            <a:off x="7064662" y="770637"/>
            <a:ext cx="385975" cy="385975"/>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rot="1498139">
            <a:off x="8048547" y="796761"/>
            <a:ext cx="260111" cy="260111"/>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p:nvPr/>
        </p:nvSpPr>
        <p:spPr>
          <a:xfrm>
            <a:off x="272750" y="914514"/>
            <a:ext cx="185100" cy="1851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7"/>
          <p:cNvSpPr/>
          <p:nvPr/>
        </p:nvSpPr>
        <p:spPr>
          <a:xfrm rot="1222482">
            <a:off x="108247" y="115143"/>
            <a:ext cx="266258" cy="266258"/>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rot="2700000">
            <a:off x="1130105" y="721484"/>
            <a:ext cx="179464" cy="179464"/>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7"/>
          <p:cNvSpPr/>
          <p:nvPr/>
        </p:nvSpPr>
        <p:spPr>
          <a:xfrm>
            <a:off x="8797925" y="686964"/>
            <a:ext cx="185100" cy="185100"/>
          </a:xfrm>
          <a:prstGeom prst="donut">
            <a:avLst>
              <a:gd name="adj" fmla="val 3104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8434357" y="190568"/>
            <a:ext cx="266400" cy="266400"/>
          </a:xfrm>
          <a:prstGeom prst="mathMultiply">
            <a:avLst>
              <a:gd name="adj1" fmla="val 23520"/>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a:off x="7656287" y="319171"/>
            <a:ext cx="179400" cy="179400"/>
          </a:xfrm>
          <a:prstGeom prst="frame">
            <a:avLst>
              <a:gd name="adj1" fmla="val 28897"/>
            </a:avLst>
          </a:prstGeom>
          <a:solidFill>
            <a:srgbClr val="FFFFFF">
              <a:alpha val="24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7"/>
          <p:cNvSpPr txBox="1">
            <a:spLocks noGrp="1"/>
          </p:cNvSpPr>
          <p:nvPr>
            <p:ph type="title"/>
          </p:nvPr>
        </p:nvSpPr>
        <p:spPr>
          <a:xfrm>
            <a:off x="457200" y="-1"/>
            <a:ext cx="8229600" cy="10635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38" name="Google Shape;138;p7"/>
          <p:cNvSpPr txBox="1">
            <a:spLocks noGrp="1"/>
          </p:cNvSpPr>
          <p:nvPr>
            <p:ph type="body" idx="1"/>
          </p:nvPr>
        </p:nvSpPr>
        <p:spPr>
          <a:xfrm>
            <a:off x="457200" y="1363150"/>
            <a:ext cx="2631900" cy="35628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139" name="Google Shape;139;p7"/>
          <p:cNvSpPr txBox="1">
            <a:spLocks noGrp="1"/>
          </p:cNvSpPr>
          <p:nvPr>
            <p:ph type="body" idx="2"/>
          </p:nvPr>
        </p:nvSpPr>
        <p:spPr>
          <a:xfrm>
            <a:off x="3223964" y="1363150"/>
            <a:ext cx="2631900" cy="35628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140" name="Google Shape;140;p7"/>
          <p:cNvSpPr txBox="1">
            <a:spLocks noGrp="1"/>
          </p:cNvSpPr>
          <p:nvPr>
            <p:ph type="body" idx="3"/>
          </p:nvPr>
        </p:nvSpPr>
        <p:spPr>
          <a:xfrm>
            <a:off x="5990727" y="1363150"/>
            <a:ext cx="2631900" cy="35628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141" name="Google Shape;141;p7"/>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82088" indent="0" algn="ctr">
              <a:buNone/>
              <a:defRPr>
                <a:solidFill>
                  <a:schemeClr val="tx1">
                    <a:tint val="75000"/>
                  </a:schemeClr>
                </a:solidFill>
              </a:defRPr>
            </a:lvl2pPr>
            <a:lvl3pPr marL="764177" indent="0" algn="ctr">
              <a:buNone/>
              <a:defRPr>
                <a:solidFill>
                  <a:schemeClr val="tx1">
                    <a:tint val="75000"/>
                  </a:schemeClr>
                </a:solidFill>
              </a:defRPr>
            </a:lvl3pPr>
            <a:lvl4pPr marL="1146265" indent="0" algn="ctr">
              <a:buNone/>
              <a:defRPr>
                <a:solidFill>
                  <a:schemeClr val="tx1">
                    <a:tint val="75000"/>
                  </a:schemeClr>
                </a:solidFill>
              </a:defRPr>
            </a:lvl4pPr>
            <a:lvl5pPr marL="1528353" indent="0" algn="ctr">
              <a:buNone/>
              <a:defRPr>
                <a:solidFill>
                  <a:schemeClr val="tx1">
                    <a:tint val="75000"/>
                  </a:schemeClr>
                </a:solidFill>
              </a:defRPr>
            </a:lvl5pPr>
            <a:lvl6pPr marL="1910441" indent="0" algn="ctr">
              <a:buNone/>
              <a:defRPr>
                <a:solidFill>
                  <a:schemeClr val="tx1">
                    <a:tint val="75000"/>
                  </a:schemeClr>
                </a:solidFill>
              </a:defRPr>
            </a:lvl6pPr>
            <a:lvl7pPr marL="2292529" indent="0" algn="ctr">
              <a:buNone/>
              <a:defRPr>
                <a:solidFill>
                  <a:schemeClr val="tx1">
                    <a:tint val="75000"/>
                  </a:schemeClr>
                </a:solidFill>
              </a:defRPr>
            </a:lvl7pPr>
            <a:lvl8pPr marL="2674618" indent="0" algn="ctr">
              <a:buNone/>
              <a:defRPr>
                <a:solidFill>
                  <a:schemeClr val="tx1">
                    <a:tint val="75000"/>
                  </a:schemeClr>
                </a:solidFill>
              </a:defRPr>
            </a:lvl8pPr>
            <a:lvl9pPr marL="305670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619976B-D4AB-1E4C-B38E-D0AADA5FCB3C}" type="datetimeFigureOut">
              <a:rPr lang="en-US" smtClean="0"/>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6D943-2B8B-6E40-82FC-356309674730}" type="slidenum">
              <a:rPr lang="en-US" smtClean="0"/>
              <a:t>‹#›</a:t>
            </a:fld>
            <a:endParaRPr lang="en-US"/>
          </a:p>
        </p:txBody>
      </p:sp>
    </p:spTree>
    <p:extLst>
      <p:ext uri="{BB962C8B-B14F-4D97-AF65-F5344CB8AC3E}">
        <p14:creationId xmlns:p14="http://schemas.microsoft.com/office/powerpoint/2010/main" val="35546944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dpi="0" rotWithShape="1">
          <a:blip r:embed="rId6">
            <a:lum/>
          </a:blip>
          <a:srcRect/>
          <a:stretch>
            <a:fillRect r="85000" b="80000"/>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
            <a:ext cx="8229600" cy="10635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rgbClr val="FFFFFF"/>
              </a:buClr>
              <a:buSzPts val="2400"/>
              <a:buFont typeface="Varela Round"/>
              <a:buNone/>
              <a:defRPr sz="2400" b="1">
                <a:solidFill>
                  <a:srgbClr val="FFFFFF"/>
                </a:solidFill>
                <a:latin typeface="Varela Round"/>
                <a:ea typeface="Varela Round"/>
                <a:cs typeface="Varela Round"/>
                <a:sym typeface="Varela Round"/>
              </a:defRPr>
            </a:lvl1pPr>
            <a:lvl2pPr lvl="1" algn="ctr">
              <a:spcBef>
                <a:spcPts val="0"/>
              </a:spcBef>
              <a:spcAft>
                <a:spcPts val="0"/>
              </a:spcAft>
              <a:buClr>
                <a:srgbClr val="FFFFFF"/>
              </a:buClr>
              <a:buSzPts val="2400"/>
              <a:buFont typeface="Varela Round"/>
              <a:buNone/>
              <a:defRPr sz="2400" b="1">
                <a:solidFill>
                  <a:srgbClr val="FFFFFF"/>
                </a:solidFill>
                <a:latin typeface="Varela Round"/>
                <a:ea typeface="Varela Round"/>
                <a:cs typeface="Varela Round"/>
                <a:sym typeface="Varela Round"/>
              </a:defRPr>
            </a:lvl2pPr>
            <a:lvl3pPr lvl="2" algn="ctr">
              <a:spcBef>
                <a:spcPts val="0"/>
              </a:spcBef>
              <a:spcAft>
                <a:spcPts val="0"/>
              </a:spcAft>
              <a:buClr>
                <a:srgbClr val="FFFFFF"/>
              </a:buClr>
              <a:buSzPts val="2400"/>
              <a:buFont typeface="Varela Round"/>
              <a:buNone/>
              <a:defRPr sz="2400" b="1">
                <a:solidFill>
                  <a:srgbClr val="FFFFFF"/>
                </a:solidFill>
                <a:latin typeface="Varela Round"/>
                <a:ea typeface="Varela Round"/>
                <a:cs typeface="Varela Round"/>
                <a:sym typeface="Varela Round"/>
              </a:defRPr>
            </a:lvl3pPr>
            <a:lvl4pPr lvl="3" algn="ctr">
              <a:spcBef>
                <a:spcPts val="0"/>
              </a:spcBef>
              <a:spcAft>
                <a:spcPts val="0"/>
              </a:spcAft>
              <a:buClr>
                <a:srgbClr val="FFFFFF"/>
              </a:buClr>
              <a:buSzPts val="2400"/>
              <a:buFont typeface="Varela Round"/>
              <a:buNone/>
              <a:defRPr sz="2400" b="1">
                <a:solidFill>
                  <a:srgbClr val="FFFFFF"/>
                </a:solidFill>
                <a:latin typeface="Varela Round"/>
                <a:ea typeface="Varela Round"/>
                <a:cs typeface="Varela Round"/>
                <a:sym typeface="Varela Round"/>
              </a:defRPr>
            </a:lvl4pPr>
            <a:lvl5pPr lvl="4" algn="ctr">
              <a:spcBef>
                <a:spcPts val="0"/>
              </a:spcBef>
              <a:spcAft>
                <a:spcPts val="0"/>
              </a:spcAft>
              <a:buClr>
                <a:srgbClr val="FFFFFF"/>
              </a:buClr>
              <a:buSzPts val="2400"/>
              <a:buFont typeface="Varela Round"/>
              <a:buNone/>
              <a:defRPr sz="2400" b="1">
                <a:solidFill>
                  <a:srgbClr val="FFFFFF"/>
                </a:solidFill>
                <a:latin typeface="Varela Round"/>
                <a:ea typeface="Varela Round"/>
                <a:cs typeface="Varela Round"/>
                <a:sym typeface="Varela Round"/>
              </a:defRPr>
            </a:lvl5pPr>
            <a:lvl6pPr lvl="5" algn="ctr">
              <a:spcBef>
                <a:spcPts val="0"/>
              </a:spcBef>
              <a:spcAft>
                <a:spcPts val="0"/>
              </a:spcAft>
              <a:buClr>
                <a:srgbClr val="FFFFFF"/>
              </a:buClr>
              <a:buSzPts val="2400"/>
              <a:buFont typeface="Varela Round"/>
              <a:buNone/>
              <a:defRPr sz="2400" b="1">
                <a:solidFill>
                  <a:srgbClr val="FFFFFF"/>
                </a:solidFill>
                <a:latin typeface="Varela Round"/>
                <a:ea typeface="Varela Round"/>
                <a:cs typeface="Varela Round"/>
                <a:sym typeface="Varela Round"/>
              </a:defRPr>
            </a:lvl6pPr>
            <a:lvl7pPr lvl="6" algn="ctr">
              <a:spcBef>
                <a:spcPts val="0"/>
              </a:spcBef>
              <a:spcAft>
                <a:spcPts val="0"/>
              </a:spcAft>
              <a:buClr>
                <a:srgbClr val="FFFFFF"/>
              </a:buClr>
              <a:buSzPts val="2400"/>
              <a:buFont typeface="Varela Round"/>
              <a:buNone/>
              <a:defRPr sz="2400" b="1">
                <a:solidFill>
                  <a:srgbClr val="FFFFFF"/>
                </a:solidFill>
                <a:latin typeface="Varela Round"/>
                <a:ea typeface="Varela Round"/>
                <a:cs typeface="Varela Round"/>
                <a:sym typeface="Varela Round"/>
              </a:defRPr>
            </a:lvl7pPr>
            <a:lvl8pPr lvl="7" algn="ctr">
              <a:spcBef>
                <a:spcPts val="0"/>
              </a:spcBef>
              <a:spcAft>
                <a:spcPts val="0"/>
              </a:spcAft>
              <a:buClr>
                <a:srgbClr val="FFFFFF"/>
              </a:buClr>
              <a:buSzPts val="2400"/>
              <a:buFont typeface="Varela Round"/>
              <a:buNone/>
              <a:defRPr sz="2400" b="1">
                <a:solidFill>
                  <a:srgbClr val="FFFFFF"/>
                </a:solidFill>
                <a:latin typeface="Varela Round"/>
                <a:ea typeface="Varela Round"/>
                <a:cs typeface="Varela Round"/>
                <a:sym typeface="Varela Round"/>
              </a:defRPr>
            </a:lvl8pPr>
            <a:lvl9pPr lvl="8" algn="ctr">
              <a:spcBef>
                <a:spcPts val="0"/>
              </a:spcBef>
              <a:spcAft>
                <a:spcPts val="0"/>
              </a:spcAft>
              <a:buClr>
                <a:srgbClr val="FFFFFF"/>
              </a:buClr>
              <a:buSzPts val="2400"/>
              <a:buFont typeface="Varela Round"/>
              <a:buNone/>
              <a:defRPr sz="2400" b="1">
                <a:solidFill>
                  <a:srgbClr val="FFFFFF"/>
                </a:solidFill>
                <a:latin typeface="Varela Round"/>
                <a:ea typeface="Varela Round"/>
                <a:cs typeface="Varela Round"/>
                <a:sym typeface="Varela Round"/>
              </a:defRPr>
            </a:lvl9pPr>
          </a:lstStyle>
          <a:p>
            <a:endParaRPr/>
          </a:p>
        </p:txBody>
      </p:sp>
      <p:sp>
        <p:nvSpPr>
          <p:cNvPr id="7" name="Google Shape;7;p1"/>
          <p:cNvSpPr txBox="1">
            <a:spLocks noGrp="1"/>
          </p:cNvSpPr>
          <p:nvPr>
            <p:ph type="body" idx="1"/>
          </p:nvPr>
        </p:nvSpPr>
        <p:spPr>
          <a:xfrm>
            <a:off x="868550" y="1411400"/>
            <a:ext cx="7407000" cy="35145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rgbClr val="7BD100"/>
              </a:buClr>
              <a:buSzPts val="3000"/>
              <a:buFont typeface="Varela Round"/>
              <a:buChar char="×"/>
              <a:defRPr sz="3000">
                <a:solidFill>
                  <a:srgbClr val="546973"/>
                </a:solidFill>
                <a:latin typeface="Varela Round"/>
                <a:ea typeface="Varela Round"/>
                <a:cs typeface="Varela Round"/>
                <a:sym typeface="Varela Round"/>
              </a:defRPr>
            </a:lvl1pPr>
            <a:lvl2pPr marL="914400" lvl="1" indent="-381000">
              <a:spcBef>
                <a:spcPts val="0"/>
              </a:spcBef>
              <a:spcAft>
                <a:spcPts val="0"/>
              </a:spcAft>
              <a:buClr>
                <a:srgbClr val="7BD100"/>
              </a:buClr>
              <a:buSzPts val="2400"/>
              <a:buFont typeface="Varela Round"/>
              <a:buChar char="×"/>
              <a:defRPr sz="2400">
                <a:solidFill>
                  <a:srgbClr val="546973"/>
                </a:solidFill>
                <a:latin typeface="Varela Round"/>
                <a:ea typeface="Varela Round"/>
                <a:cs typeface="Varela Round"/>
                <a:sym typeface="Varela Round"/>
              </a:defRPr>
            </a:lvl2pPr>
            <a:lvl3pPr marL="1371600" lvl="2" indent="-381000">
              <a:spcBef>
                <a:spcPts val="0"/>
              </a:spcBef>
              <a:spcAft>
                <a:spcPts val="0"/>
              </a:spcAft>
              <a:buClr>
                <a:srgbClr val="7BD100"/>
              </a:buClr>
              <a:buSzPts val="2400"/>
              <a:buFont typeface="Varela Round"/>
              <a:buChar char="×"/>
              <a:defRPr sz="2400">
                <a:solidFill>
                  <a:srgbClr val="546973"/>
                </a:solidFill>
                <a:latin typeface="Varela Round"/>
                <a:ea typeface="Varela Round"/>
                <a:cs typeface="Varela Round"/>
                <a:sym typeface="Varela Round"/>
              </a:defRPr>
            </a:lvl3pPr>
            <a:lvl4pPr marL="1828800" lvl="3" indent="-342900">
              <a:spcBef>
                <a:spcPts val="0"/>
              </a:spcBef>
              <a:spcAft>
                <a:spcPts val="0"/>
              </a:spcAft>
              <a:buClr>
                <a:srgbClr val="7BD100"/>
              </a:buClr>
              <a:buSzPts val="1800"/>
              <a:buFont typeface="Varela Round"/>
              <a:buChar char="×"/>
              <a:defRPr sz="1800">
                <a:solidFill>
                  <a:srgbClr val="546973"/>
                </a:solidFill>
                <a:latin typeface="Varela Round"/>
                <a:ea typeface="Varela Round"/>
                <a:cs typeface="Varela Round"/>
                <a:sym typeface="Varela Round"/>
              </a:defRPr>
            </a:lvl4pPr>
            <a:lvl5pPr marL="2286000" lvl="4" indent="-342900">
              <a:spcBef>
                <a:spcPts val="0"/>
              </a:spcBef>
              <a:spcAft>
                <a:spcPts val="0"/>
              </a:spcAft>
              <a:buClr>
                <a:srgbClr val="7BD100"/>
              </a:buClr>
              <a:buSzPts val="1800"/>
              <a:buFont typeface="Varela Round"/>
              <a:buChar char="×"/>
              <a:defRPr sz="1800">
                <a:solidFill>
                  <a:srgbClr val="546973"/>
                </a:solidFill>
                <a:latin typeface="Varela Round"/>
                <a:ea typeface="Varela Round"/>
                <a:cs typeface="Varela Round"/>
                <a:sym typeface="Varela Round"/>
              </a:defRPr>
            </a:lvl5pPr>
            <a:lvl6pPr marL="2743200" lvl="5" indent="-342900">
              <a:spcBef>
                <a:spcPts val="0"/>
              </a:spcBef>
              <a:spcAft>
                <a:spcPts val="0"/>
              </a:spcAft>
              <a:buClr>
                <a:srgbClr val="7BD100"/>
              </a:buClr>
              <a:buSzPts val="1800"/>
              <a:buFont typeface="Varela Round"/>
              <a:buChar char="×"/>
              <a:defRPr sz="1800">
                <a:solidFill>
                  <a:srgbClr val="546973"/>
                </a:solidFill>
                <a:latin typeface="Varela Round"/>
                <a:ea typeface="Varela Round"/>
                <a:cs typeface="Varela Round"/>
                <a:sym typeface="Varela Round"/>
              </a:defRPr>
            </a:lvl6pPr>
            <a:lvl7pPr marL="3200400" lvl="6" indent="-342900">
              <a:spcBef>
                <a:spcPts val="0"/>
              </a:spcBef>
              <a:spcAft>
                <a:spcPts val="0"/>
              </a:spcAft>
              <a:buClr>
                <a:srgbClr val="546973"/>
              </a:buClr>
              <a:buSzPts val="1800"/>
              <a:buFont typeface="Varela Round"/>
              <a:buChar char="●"/>
              <a:defRPr sz="1800">
                <a:solidFill>
                  <a:srgbClr val="546973"/>
                </a:solidFill>
                <a:latin typeface="Varela Round"/>
                <a:ea typeface="Varela Round"/>
                <a:cs typeface="Varela Round"/>
                <a:sym typeface="Varela Round"/>
              </a:defRPr>
            </a:lvl7pPr>
            <a:lvl8pPr marL="3657600" lvl="7" indent="-342900">
              <a:spcBef>
                <a:spcPts val="0"/>
              </a:spcBef>
              <a:spcAft>
                <a:spcPts val="0"/>
              </a:spcAft>
              <a:buClr>
                <a:srgbClr val="546973"/>
              </a:buClr>
              <a:buSzPts val="1800"/>
              <a:buFont typeface="Varela Round"/>
              <a:buChar char="○"/>
              <a:defRPr sz="1800">
                <a:solidFill>
                  <a:srgbClr val="546973"/>
                </a:solidFill>
                <a:latin typeface="Varela Round"/>
                <a:ea typeface="Varela Round"/>
                <a:cs typeface="Varela Round"/>
                <a:sym typeface="Varela Round"/>
              </a:defRPr>
            </a:lvl8pPr>
            <a:lvl9pPr marL="4114800" lvl="8" indent="-342900">
              <a:spcBef>
                <a:spcPts val="0"/>
              </a:spcBef>
              <a:spcAft>
                <a:spcPts val="0"/>
              </a:spcAft>
              <a:buClr>
                <a:srgbClr val="546973"/>
              </a:buClr>
              <a:buSzPts val="1800"/>
              <a:buFont typeface="Varela Round"/>
              <a:buChar char="■"/>
              <a:defRPr sz="1800">
                <a:solidFill>
                  <a:srgbClr val="546973"/>
                </a:solidFill>
                <a:latin typeface="Varela Round"/>
                <a:ea typeface="Varela Round"/>
                <a:cs typeface="Varela Round"/>
                <a:sym typeface="Varela Round"/>
              </a:defRPr>
            </a:lvl9pPr>
          </a:lstStyle>
          <a:p>
            <a:endParaRPr/>
          </a:p>
        </p:txBody>
      </p:sp>
      <p:sp>
        <p:nvSpPr>
          <p:cNvPr id="8" name="Google Shape;8;p1"/>
          <p:cNvSpPr txBox="1">
            <a:spLocks noGrp="1"/>
          </p:cNvSpPr>
          <p:nvPr>
            <p:ph type="sldNum" idx="12"/>
          </p:nvPr>
        </p:nvSpPr>
        <p:spPr>
          <a:xfrm>
            <a:off x="4297650" y="4749851"/>
            <a:ext cx="548700" cy="393600"/>
          </a:xfrm>
          <a:prstGeom prst="rect">
            <a:avLst/>
          </a:prstGeom>
          <a:noFill/>
          <a:ln>
            <a:noFill/>
          </a:ln>
        </p:spPr>
        <p:txBody>
          <a:bodyPr spcFirstLastPara="1" wrap="square" lIns="91425" tIns="91425" rIns="91425" bIns="91425" anchor="t" anchorCtr="0">
            <a:noAutofit/>
          </a:bodyPr>
          <a:lstStyle>
            <a:lvl1pPr lvl="0" algn="ctr">
              <a:buNone/>
              <a:defRPr sz="1200">
                <a:solidFill>
                  <a:srgbClr val="7BD100"/>
                </a:solidFill>
                <a:latin typeface="Varela Round"/>
                <a:ea typeface="Varela Round"/>
                <a:cs typeface="Varela Round"/>
                <a:sym typeface="Varela Round"/>
              </a:defRPr>
            </a:lvl1pPr>
            <a:lvl2pPr lvl="1" algn="ctr">
              <a:buNone/>
              <a:defRPr sz="1200">
                <a:solidFill>
                  <a:srgbClr val="7BD100"/>
                </a:solidFill>
                <a:latin typeface="Varela Round"/>
                <a:ea typeface="Varela Round"/>
                <a:cs typeface="Varela Round"/>
                <a:sym typeface="Varela Round"/>
              </a:defRPr>
            </a:lvl2pPr>
            <a:lvl3pPr lvl="2" algn="ctr">
              <a:buNone/>
              <a:defRPr sz="1200">
                <a:solidFill>
                  <a:srgbClr val="7BD100"/>
                </a:solidFill>
                <a:latin typeface="Varela Round"/>
                <a:ea typeface="Varela Round"/>
                <a:cs typeface="Varela Round"/>
                <a:sym typeface="Varela Round"/>
              </a:defRPr>
            </a:lvl3pPr>
            <a:lvl4pPr lvl="3" algn="ctr">
              <a:buNone/>
              <a:defRPr sz="1200">
                <a:solidFill>
                  <a:srgbClr val="7BD100"/>
                </a:solidFill>
                <a:latin typeface="Varela Round"/>
                <a:ea typeface="Varela Round"/>
                <a:cs typeface="Varela Round"/>
                <a:sym typeface="Varela Round"/>
              </a:defRPr>
            </a:lvl4pPr>
            <a:lvl5pPr lvl="4" algn="ctr">
              <a:buNone/>
              <a:defRPr sz="1200">
                <a:solidFill>
                  <a:srgbClr val="7BD100"/>
                </a:solidFill>
                <a:latin typeface="Varela Round"/>
                <a:ea typeface="Varela Round"/>
                <a:cs typeface="Varela Round"/>
                <a:sym typeface="Varela Round"/>
              </a:defRPr>
            </a:lvl5pPr>
            <a:lvl6pPr lvl="5" algn="ctr">
              <a:buNone/>
              <a:defRPr sz="1200">
                <a:solidFill>
                  <a:srgbClr val="7BD100"/>
                </a:solidFill>
                <a:latin typeface="Varela Round"/>
                <a:ea typeface="Varela Round"/>
                <a:cs typeface="Varela Round"/>
                <a:sym typeface="Varela Round"/>
              </a:defRPr>
            </a:lvl6pPr>
            <a:lvl7pPr lvl="6" algn="ctr">
              <a:buNone/>
              <a:defRPr sz="1200">
                <a:solidFill>
                  <a:srgbClr val="7BD100"/>
                </a:solidFill>
                <a:latin typeface="Varela Round"/>
                <a:ea typeface="Varela Round"/>
                <a:cs typeface="Varela Round"/>
                <a:sym typeface="Varela Round"/>
              </a:defRPr>
            </a:lvl7pPr>
            <a:lvl8pPr lvl="7" algn="ctr">
              <a:buNone/>
              <a:defRPr sz="1200">
                <a:solidFill>
                  <a:srgbClr val="7BD100"/>
                </a:solidFill>
                <a:latin typeface="Varela Round"/>
                <a:ea typeface="Varela Round"/>
                <a:cs typeface="Varela Round"/>
                <a:sym typeface="Varela Round"/>
              </a:defRPr>
            </a:lvl8pPr>
            <a:lvl9pPr lvl="8" algn="ctr">
              <a:buNone/>
              <a:defRPr sz="1200">
                <a:solidFill>
                  <a:srgbClr val="7BD100"/>
                </a:solidFill>
                <a:latin typeface="Varela Round"/>
                <a:ea typeface="Varela Round"/>
                <a:cs typeface="Varela Round"/>
                <a:sym typeface="Varela Round"/>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9"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ai Nam [PPT] Template 0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0" y="0"/>
            <a:ext cx="9144000" cy="5143500"/>
          </a:xfrm>
          <a:prstGeom prst="rect">
            <a:avLst/>
          </a:prstGeom>
        </p:spPr>
      </p:pic>
      <p:pic>
        <p:nvPicPr>
          <p:cNvPr id="3" name="Picture 2" descr="Dai Nam [PPT] Template 05.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62" y="4753188"/>
            <a:ext cx="8679749" cy="390312"/>
          </a:xfrm>
          <a:prstGeom prst="rect">
            <a:avLst/>
          </a:prstGeom>
        </p:spPr>
      </p:pic>
      <p:pic>
        <p:nvPicPr>
          <p:cNvPr id="4" name="Picture 3" descr="Dai Nam [PPT] Template 02.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90" y="0"/>
            <a:ext cx="2679886" cy="5143500"/>
          </a:xfrm>
          <a:prstGeom prst="rect">
            <a:avLst/>
          </a:prstGeom>
        </p:spPr>
      </p:pic>
      <p:pic>
        <p:nvPicPr>
          <p:cNvPr id="6" name="Picture 5" descr="Dai Nam [PPT] Template 03.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 y="205936"/>
            <a:ext cx="2358263" cy="4723586"/>
          </a:xfrm>
          <a:prstGeom prst="rect">
            <a:avLst/>
          </a:prstGeom>
        </p:spPr>
      </p:pic>
      <p:pic>
        <p:nvPicPr>
          <p:cNvPr id="7" name="Picture 6" descr="Dai Nam [PPT] Template 04.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52654" y="186898"/>
            <a:ext cx="1321448" cy="1199246"/>
          </a:xfrm>
          <a:prstGeom prst="rect">
            <a:avLst/>
          </a:prstGeom>
        </p:spPr>
      </p:pic>
      <p:sp>
        <p:nvSpPr>
          <p:cNvPr id="10" name="TextBox 9"/>
          <p:cNvSpPr txBox="1"/>
          <p:nvPr/>
        </p:nvSpPr>
        <p:spPr>
          <a:xfrm>
            <a:off x="3062802" y="1966760"/>
            <a:ext cx="5698283" cy="1131848"/>
          </a:xfrm>
          <a:prstGeom prst="rect">
            <a:avLst/>
          </a:prstGeom>
          <a:noFill/>
        </p:spPr>
        <p:txBody>
          <a:bodyPr wrap="square" rtlCol="0">
            <a:spAutoFit/>
          </a:bodyPr>
          <a:lstStyle/>
          <a:p>
            <a:pPr algn="ctr">
              <a:lnSpc>
                <a:spcPct val="150000"/>
              </a:lnSpc>
            </a:pPr>
            <a:r>
              <a:rPr lang="en-US" sz="2400" b="1" dirty="0">
                <a:solidFill>
                  <a:srgbClr val="FFFFFF"/>
                </a:solidFill>
              </a:rPr>
              <a:t>BIẾN NGẪU NHIÊN VÀ MỘT SỐ PHÂN PHỐI XÁC SUẤT</a:t>
            </a:r>
          </a:p>
        </p:txBody>
      </p:sp>
      <p:sp>
        <p:nvSpPr>
          <p:cNvPr id="5" name="TextBox 4">
            <a:extLst>
              <a:ext uri="{FF2B5EF4-FFF2-40B4-BE49-F238E27FC236}">
                <a16:creationId xmlns:a16="http://schemas.microsoft.com/office/drawing/2014/main" id="{096EA9E1-ECA7-968E-A117-143D5386652D}"/>
              </a:ext>
            </a:extLst>
          </p:cNvPr>
          <p:cNvSpPr txBox="1"/>
          <p:nvPr/>
        </p:nvSpPr>
        <p:spPr>
          <a:xfrm>
            <a:off x="3351571" y="1643104"/>
            <a:ext cx="4866698" cy="400110"/>
          </a:xfrm>
          <a:prstGeom prst="rect">
            <a:avLst/>
          </a:prstGeom>
          <a:noFill/>
        </p:spPr>
        <p:txBody>
          <a:bodyPr wrap="square" rtlCol="0">
            <a:spAutoFit/>
          </a:bodyPr>
          <a:lstStyle/>
          <a:p>
            <a:pPr algn="ctr"/>
            <a:r>
              <a:rPr lang="en-US" sz="2000" b="1" dirty="0">
                <a:solidFill>
                  <a:srgbClr val="FFFFFF"/>
                </a:solidFill>
              </a:rPr>
              <a:t>CHƯƠNG 2</a:t>
            </a:r>
          </a:p>
        </p:txBody>
      </p:sp>
      <p:sp>
        <p:nvSpPr>
          <p:cNvPr id="9" name="TextBox 3">
            <a:extLst>
              <a:ext uri="{FF2B5EF4-FFF2-40B4-BE49-F238E27FC236}">
                <a16:creationId xmlns:a16="http://schemas.microsoft.com/office/drawing/2014/main" id="{5EE528C1-4D73-4AD6-B49C-AA157AF792A9}"/>
              </a:ext>
            </a:extLst>
          </p:cNvPr>
          <p:cNvSpPr txBox="1"/>
          <p:nvPr/>
        </p:nvSpPr>
        <p:spPr>
          <a:xfrm>
            <a:off x="-1101092" y="3422264"/>
            <a:ext cx="13628940" cy="338554"/>
          </a:xfrm>
          <a:prstGeom prst="rect">
            <a:avLst/>
          </a:prstGeom>
          <a:noFill/>
        </p:spPr>
        <p:txBody>
          <a:bodyPr wrap="square" rtlCol="0">
            <a:spAutoFit/>
          </a:bodyPr>
          <a:lstStyle>
            <a:defPPr>
              <a:defRPr lang="en-US"/>
            </a:defPPr>
            <a:lvl1pPr marL="0" algn="l" defTabSz="989609" rtl="0" eaLnBrk="1" latinLnBrk="0" hangingPunct="1">
              <a:defRPr sz="3900" kern="1200">
                <a:solidFill>
                  <a:schemeClr val="tx1"/>
                </a:solidFill>
                <a:latin typeface="+mn-lt"/>
                <a:ea typeface="+mn-ea"/>
                <a:cs typeface="+mn-cs"/>
              </a:defRPr>
            </a:lvl1pPr>
            <a:lvl2pPr marL="989609" algn="l" defTabSz="989609" rtl="0" eaLnBrk="1" latinLnBrk="0" hangingPunct="1">
              <a:defRPr sz="3900" kern="1200">
                <a:solidFill>
                  <a:schemeClr val="tx1"/>
                </a:solidFill>
                <a:latin typeface="+mn-lt"/>
                <a:ea typeface="+mn-ea"/>
                <a:cs typeface="+mn-cs"/>
              </a:defRPr>
            </a:lvl2pPr>
            <a:lvl3pPr marL="1979219" algn="l" defTabSz="989609" rtl="0" eaLnBrk="1" latinLnBrk="0" hangingPunct="1">
              <a:defRPr sz="3900" kern="1200">
                <a:solidFill>
                  <a:schemeClr val="tx1"/>
                </a:solidFill>
                <a:latin typeface="+mn-lt"/>
                <a:ea typeface="+mn-ea"/>
                <a:cs typeface="+mn-cs"/>
              </a:defRPr>
            </a:lvl3pPr>
            <a:lvl4pPr marL="2968828" algn="l" defTabSz="989609" rtl="0" eaLnBrk="1" latinLnBrk="0" hangingPunct="1">
              <a:defRPr sz="3900" kern="1200">
                <a:solidFill>
                  <a:schemeClr val="tx1"/>
                </a:solidFill>
                <a:latin typeface="+mn-lt"/>
                <a:ea typeface="+mn-ea"/>
                <a:cs typeface="+mn-cs"/>
              </a:defRPr>
            </a:lvl4pPr>
            <a:lvl5pPr marL="3958438" algn="l" defTabSz="989609" rtl="0" eaLnBrk="1" latinLnBrk="0" hangingPunct="1">
              <a:defRPr sz="3900" kern="1200">
                <a:solidFill>
                  <a:schemeClr val="tx1"/>
                </a:solidFill>
                <a:latin typeface="+mn-lt"/>
                <a:ea typeface="+mn-ea"/>
                <a:cs typeface="+mn-cs"/>
              </a:defRPr>
            </a:lvl5pPr>
            <a:lvl6pPr marL="4948047" algn="l" defTabSz="989609" rtl="0" eaLnBrk="1" latinLnBrk="0" hangingPunct="1">
              <a:defRPr sz="3900" kern="1200">
                <a:solidFill>
                  <a:schemeClr val="tx1"/>
                </a:solidFill>
                <a:latin typeface="+mn-lt"/>
                <a:ea typeface="+mn-ea"/>
                <a:cs typeface="+mn-cs"/>
              </a:defRPr>
            </a:lvl6pPr>
            <a:lvl7pPr marL="5937656" algn="l" defTabSz="989609" rtl="0" eaLnBrk="1" latinLnBrk="0" hangingPunct="1">
              <a:defRPr sz="3900" kern="1200">
                <a:solidFill>
                  <a:schemeClr val="tx1"/>
                </a:solidFill>
                <a:latin typeface="+mn-lt"/>
                <a:ea typeface="+mn-ea"/>
                <a:cs typeface="+mn-cs"/>
              </a:defRPr>
            </a:lvl7pPr>
            <a:lvl8pPr marL="6927266" algn="l" defTabSz="989609" rtl="0" eaLnBrk="1" latinLnBrk="0" hangingPunct="1">
              <a:defRPr sz="3900" kern="1200">
                <a:solidFill>
                  <a:schemeClr val="tx1"/>
                </a:solidFill>
                <a:latin typeface="+mn-lt"/>
                <a:ea typeface="+mn-ea"/>
                <a:cs typeface="+mn-cs"/>
              </a:defRPr>
            </a:lvl8pPr>
            <a:lvl9pPr marL="7916875" algn="l" defTabSz="989609" rtl="0" eaLnBrk="1" latinLnBrk="0" hangingPunct="1">
              <a:defRPr sz="3900" kern="1200">
                <a:solidFill>
                  <a:schemeClr val="tx1"/>
                </a:solidFill>
                <a:latin typeface="+mn-lt"/>
                <a:ea typeface="+mn-ea"/>
                <a:cs typeface="+mn-cs"/>
              </a:defRPr>
            </a:lvl9pPr>
          </a:lstStyle>
          <a:p>
            <a:pPr algn="ctr"/>
            <a:r>
              <a:rPr lang="en-US" sz="1600" b="1" dirty="0">
                <a:solidFill>
                  <a:schemeClr val="bg1"/>
                </a:solidFill>
                <a:latin typeface="Arial"/>
                <a:cs typeface="Arial"/>
              </a:rPr>
              <a:t>LÊ DIỆU ANH</a:t>
            </a:r>
          </a:p>
        </p:txBody>
      </p:sp>
      <p:sp>
        <p:nvSpPr>
          <p:cNvPr id="11" name="TextBox 5">
            <a:extLst>
              <a:ext uri="{FF2B5EF4-FFF2-40B4-BE49-F238E27FC236}">
                <a16:creationId xmlns:a16="http://schemas.microsoft.com/office/drawing/2014/main" id="{0B3B05DA-AB88-49C2-AB8E-C5DBB028584F}"/>
              </a:ext>
            </a:extLst>
          </p:cNvPr>
          <p:cNvSpPr txBox="1"/>
          <p:nvPr/>
        </p:nvSpPr>
        <p:spPr>
          <a:xfrm>
            <a:off x="1572944" y="3725894"/>
            <a:ext cx="8548892" cy="830997"/>
          </a:xfrm>
          <a:prstGeom prst="rect">
            <a:avLst/>
          </a:prstGeom>
          <a:noFill/>
        </p:spPr>
        <p:txBody>
          <a:bodyPr wrap="square" rtlCol="0">
            <a:spAutoFit/>
          </a:bodyPr>
          <a:lstStyle>
            <a:defPPr>
              <a:defRPr lang="en-US"/>
            </a:defPPr>
            <a:lvl1pPr marL="0" algn="l" defTabSz="989609" rtl="0" eaLnBrk="1" latinLnBrk="0" hangingPunct="1">
              <a:defRPr sz="3900" kern="1200">
                <a:solidFill>
                  <a:schemeClr val="tx1"/>
                </a:solidFill>
                <a:latin typeface="+mn-lt"/>
                <a:ea typeface="+mn-ea"/>
                <a:cs typeface="+mn-cs"/>
              </a:defRPr>
            </a:lvl1pPr>
            <a:lvl2pPr marL="989609" algn="l" defTabSz="989609" rtl="0" eaLnBrk="1" latinLnBrk="0" hangingPunct="1">
              <a:defRPr sz="3900" kern="1200">
                <a:solidFill>
                  <a:schemeClr val="tx1"/>
                </a:solidFill>
                <a:latin typeface="+mn-lt"/>
                <a:ea typeface="+mn-ea"/>
                <a:cs typeface="+mn-cs"/>
              </a:defRPr>
            </a:lvl2pPr>
            <a:lvl3pPr marL="1979219" algn="l" defTabSz="989609" rtl="0" eaLnBrk="1" latinLnBrk="0" hangingPunct="1">
              <a:defRPr sz="3900" kern="1200">
                <a:solidFill>
                  <a:schemeClr val="tx1"/>
                </a:solidFill>
                <a:latin typeface="+mn-lt"/>
                <a:ea typeface="+mn-ea"/>
                <a:cs typeface="+mn-cs"/>
              </a:defRPr>
            </a:lvl3pPr>
            <a:lvl4pPr marL="2968828" algn="l" defTabSz="989609" rtl="0" eaLnBrk="1" latinLnBrk="0" hangingPunct="1">
              <a:defRPr sz="3900" kern="1200">
                <a:solidFill>
                  <a:schemeClr val="tx1"/>
                </a:solidFill>
                <a:latin typeface="+mn-lt"/>
                <a:ea typeface="+mn-ea"/>
                <a:cs typeface="+mn-cs"/>
              </a:defRPr>
            </a:lvl4pPr>
            <a:lvl5pPr marL="3958438" algn="l" defTabSz="989609" rtl="0" eaLnBrk="1" latinLnBrk="0" hangingPunct="1">
              <a:defRPr sz="3900" kern="1200">
                <a:solidFill>
                  <a:schemeClr val="tx1"/>
                </a:solidFill>
                <a:latin typeface="+mn-lt"/>
                <a:ea typeface="+mn-ea"/>
                <a:cs typeface="+mn-cs"/>
              </a:defRPr>
            </a:lvl5pPr>
            <a:lvl6pPr marL="4948047" algn="l" defTabSz="989609" rtl="0" eaLnBrk="1" latinLnBrk="0" hangingPunct="1">
              <a:defRPr sz="3900" kern="1200">
                <a:solidFill>
                  <a:schemeClr val="tx1"/>
                </a:solidFill>
                <a:latin typeface="+mn-lt"/>
                <a:ea typeface="+mn-ea"/>
                <a:cs typeface="+mn-cs"/>
              </a:defRPr>
            </a:lvl6pPr>
            <a:lvl7pPr marL="5937656" algn="l" defTabSz="989609" rtl="0" eaLnBrk="1" latinLnBrk="0" hangingPunct="1">
              <a:defRPr sz="3900" kern="1200">
                <a:solidFill>
                  <a:schemeClr val="tx1"/>
                </a:solidFill>
                <a:latin typeface="+mn-lt"/>
                <a:ea typeface="+mn-ea"/>
                <a:cs typeface="+mn-cs"/>
              </a:defRPr>
            </a:lvl7pPr>
            <a:lvl8pPr marL="6927266" algn="l" defTabSz="989609" rtl="0" eaLnBrk="1" latinLnBrk="0" hangingPunct="1">
              <a:defRPr sz="3900" kern="1200">
                <a:solidFill>
                  <a:schemeClr val="tx1"/>
                </a:solidFill>
                <a:latin typeface="+mn-lt"/>
                <a:ea typeface="+mn-ea"/>
                <a:cs typeface="+mn-cs"/>
              </a:defRPr>
            </a:lvl8pPr>
            <a:lvl9pPr marL="7916875" algn="l" defTabSz="989609" rtl="0" eaLnBrk="1" latinLnBrk="0" hangingPunct="1">
              <a:defRPr sz="3900" kern="1200">
                <a:solidFill>
                  <a:schemeClr val="tx1"/>
                </a:solidFill>
                <a:latin typeface="+mn-lt"/>
                <a:ea typeface="+mn-ea"/>
                <a:cs typeface="+mn-cs"/>
              </a:defRPr>
            </a:lvl9pPr>
          </a:lstStyle>
          <a:p>
            <a:pPr algn="ctr"/>
            <a:r>
              <a:rPr lang="en-US" sz="1600" i="1" dirty="0" err="1">
                <a:solidFill>
                  <a:schemeClr val="bg1"/>
                </a:solidFill>
                <a:latin typeface="Arial"/>
                <a:cs typeface="Arial"/>
              </a:rPr>
              <a:t>Giảng</a:t>
            </a:r>
            <a:r>
              <a:rPr lang="en-US" sz="1600" i="1" dirty="0">
                <a:solidFill>
                  <a:schemeClr val="bg1"/>
                </a:solidFill>
                <a:latin typeface="Arial"/>
                <a:cs typeface="Arial"/>
              </a:rPr>
              <a:t> </a:t>
            </a:r>
            <a:r>
              <a:rPr lang="en-US" sz="1600" i="1" dirty="0" err="1">
                <a:solidFill>
                  <a:schemeClr val="bg1"/>
                </a:solidFill>
                <a:latin typeface="Arial"/>
                <a:cs typeface="Arial"/>
              </a:rPr>
              <a:t>viên</a:t>
            </a:r>
            <a:r>
              <a:rPr lang="en-US" sz="1600" i="1" dirty="0">
                <a:solidFill>
                  <a:schemeClr val="bg1"/>
                </a:solidFill>
                <a:latin typeface="Arial"/>
                <a:cs typeface="Arial"/>
              </a:rPr>
              <a:t> </a:t>
            </a:r>
            <a:r>
              <a:rPr lang="en-US" sz="1600" i="1" dirty="0" err="1">
                <a:solidFill>
                  <a:schemeClr val="bg1"/>
                </a:solidFill>
                <a:latin typeface="Arial"/>
                <a:cs typeface="Arial"/>
              </a:rPr>
              <a:t>Khoa</a:t>
            </a:r>
            <a:r>
              <a:rPr lang="en-US" sz="1600" i="1" dirty="0">
                <a:solidFill>
                  <a:schemeClr val="bg1"/>
                </a:solidFill>
                <a:latin typeface="Arial"/>
                <a:cs typeface="Arial"/>
              </a:rPr>
              <a:t> </a:t>
            </a:r>
            <a:r>
              <a:rPr lang="en-US" sz="1600" i="1" dirty="0" err="1">
                <a:solidFill>
                  <a:schemeClr val="bg1"/>
                </a:solidFill>
                <a:latin typeface="Arial"/>
                <a:cs typeface="Arial"/>
              </a:rPr>
              <a:t>Công</a:t>
            </a:r>
            <a:r>
              <a:rPr lang="en-US" sz="1600" i="1" dirty="0">
                <a:solidFill>
                  <a:schemeClr val="bg1"/>
                </a:solidFill>
                <a:latin typeface="Arial"/>
                <a:cs typeface="Arial"/>
              </a:rPr>
              <a:t> </a:t>
            </a:r>
            <a:r>
              <a:rPr lang="en-US" sz="1600" i="1" dirty="0" err="1">
                <a:solidFill>
                  <a:schemeClr val="bg1"/>
                </a:solidFill>
                <a:latin typeface="Arial"/>
                <a:cs typeface="Arial"/>
              </a:rPr>
              <a:t>nghệ</a:t>
            </a:r>
            <a:r>
              <a:rPr lang="en-US" sz="1600" i="1" dirty="0">
                <a:solidFill>
                  <a:schemeClr val="bg1"/>
                </a:solidFill>
                <a:latin typeface="Arial"/>
                <a:cs typeface="Arial"/>
              </a:rPr>
              <a:t> </a:t>
            </a:r>
            <a:r>
              <a:rPr lang="en-US" sz="1600" i="1" dirty="0" err="1">
                <a:solidFill>
                  <a:schemeClr val="bg1"/>
                </a:solidFill>
                <a:latin typeface="Arial"/>
                <a:cs typeface="Arial"/>
              </a:rPr>
              <a:t>thông</a:t>
            </a:r>
            <a:r>
              <a:rPr lang="en-US" sz="1600" i="1" dirty="0">
                <a:solidFill>
                  <a:schemeClr val="bg1"/>
                </a:solidFill>
                <a:latin typeface="Arial"/>
                <a:cs typeface="Arial"/>
              </a:rPr>
              <a:t> tin</a:t>
            </a:r>
          </a:p>
          <a:p>
            <a:pPr algn="ctr"/>
            <a:r>
              <a:rPr lang="en-US" sz="1600" i="1" dirty="0">
                <a:solidFill>
                  <a:schemeClr val="bg1"/>
                </a:solidFill>
                <a:latin typeface="Arial"/>
                <a:cs typeface="Arial"/>
              </a:rPr>
              <a:t>SĐT: 0348937481</a:t>
            </a:r>
          </a:p>
          <a:p>
            <a:pPr algn="ctr"/>
            <a:r>
              <a:rPr lang="en-US" sz="1600" i="1" dirty="0">
                <a:solidFill>
                  <a:schemeClr val="bg1"/>
                </a:solidFill>
                <a:latin typeface="Arial"/>
                <a:cs typeface="Arial"/>
              </a:rPr>
              <a:t>Email: anhld@dainam.edu.vn</a:t>
            </a:r>
          </a:p>
        </p:txBody>
      </p:sp>
    </p:spTree>
    <p:extLst>
      <p:ext uri="{BB962C8B-B14F-4D97-AF65-F5344CB8AC3E}">
        <p14:creationId xmlns:p14="http://schemas.microsoft.com/office/powerpoint/2010/main" val="1887863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211"/>
        <p:cNvGrpSpPr/>
        <p:nvPr/>
      </p:nvGrpSpPr>
      <p:grpSpPr>
        <a:xfrm>
          <a:off x="0" y="0"/>
          <a:ext cx="0" cy="0"/>
          <a:chOff x="0" y="0"/>
          <a:chExt cx="0" cy="0"/>
        </a:xfrm>
      </p:grpSpPr>
      <p:sp>
        <p:nvSpPr>
          <p:cNvPr id="212" name="Google Shape;212;p13"/>
          <p:cNvSpPr txBox="1">
            <a:spLocks noGrp="1"/>
          </p:cNvSpPr>
          <p:nvPr>
            <p:ph type="title"/>
          </p:nvPr>
        </p:nvSpPr>
        <p:spPr>
          <a:xfrm>
            <a:off x="2937294" y="74936"/>
            <a:ext cx="3269411" cy="70736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err="1">
                <a:solidFill>
                  <a:srgbClr val="002060"/>
                </a:solidFill>
                <a:latin typeface="Arial" panose="020B0604020202020204" pitchFamily="34" charset="0"/>
                <a:cs typeface="Arial" panose="020B0604020202020204" pitchFamily="34" charset="0"/>
              </a:rPr>
              <a:t>Tình</a:t>
            </a:r>
            <a:r>
              <a:rPr lang="en-US" sz="3200" dirty="0">
                <a:solidFill>
                  <a:srgbClr val="002060"/>
                </a:solidFill>
                <a:latin typeface="Arial" panose="020B0604020202020204" pitchFamily="34" charset="0"/>
                <a:cs typeface="Arial" panose="020B0604020202020204" pitchFamily="34" charset="0"/>
              </a:rPr>
              <a:t> </a:t>
            </a:r>
            <a:r>
              <a:rPr lang="en-US" sz="3200" dirty="0" err="1">
                <a:solidFill>
                  <a:srgbClr val="002060"/>
                </a:solidFill>
                <a:latin typeface="Arial" panose="020B0604020202020204" pitchFamily="34" charset="0"/>
                <a:cs typeface="Arial" panose="020B0604020202020204" pitchFamily="34" charset="0"/>
              </a:rPr>
              <a:t>huống</a:t>
            </a:r>
            <a:endParaRPr lang="en-US" sz="3200" dirty="0">
              <a:solidFill>
                <a:srgbClr val="002060"/>
              </a:solidFill>
              <a:latin typeface="Arial" panose="020B0604020202020204" pitchFamily="34" charset="0"/>
              <a:cs typeface="Arial" panose="020B0604020202020204" pitchFamily="34" charset="0"/>
            </a:endParaRPr>
          </a:p>
        </p:txBody>
      </p:sp>
      <p:sp>
        <p:nvSpPr>
          <p:cNvPr id="11" name="Google Shape;243;p17"/>
          <p:cNvSpPr txBox="1">
            <a:spLocks noGrp="1"/>
          </p:cNvSpPr>
          <p:nvPr>
            <p:ph type="body" idx="1"/>
          </p:nvPr>
        </p:nvSpPr>
        <p:spPr>
          <a:xfrm>
            <a:off x="233171" y="887038"/>
            <a:ext cx="8677656" cy="4245604"/>
          </a:xfrm>
          <a:prstGeom prst="rect">
            <a:avLst/>
          </a:prstGeom>
        </p:spPr>
        <p:txBody>
          <a:bodyPr spcFirstLastPara="1" wrap="square" lIns="91425" tIns="91425" rIns="91425" bIns="91425" anchor="t" anchorCtr="0">
            <a:noAutofit/>
          </a:bodyPr>
          <a:lstStyle/>
          <a:p>
            <a:pPr marL="76200" indent="0" algn="just">
              <a:lnSpc>
                <a:spcPct val="120000"/>
              </a:lnSpc>
              <a:spcBef>
                <a:spcPts val="0"/>
              </a:spcBef>
              <a:buNone/>
            </a:pPr>
            <a:r>
              <a:rPr lang="vi-VN" sz="1800" b="1" dirty="0">
                <a:solidFill>
                  <a:srgbClr val="002060"/>
                </a:solidFill>
                <a:latin typeface="Arial" panose="020B0604020202020204" pitchFamily="34" charset="0"/>
                <a:cs typeface="Arial" panose="020B0604020202020204" pitchFamily="34" charset="0"/>
              </a:rPr>
              <a:t>Thời gian phản hồi của một máy chủ</a:t>
            </a:r>
          </a:p>
          <a:p>
            <a:pPr marL="76200" indent="0" algn="just">
              <a:lnSpc>
                <a:spcPct val="120000"/>
              </a:lnSpc>
              <a:spcBef>
                <a:spcPts val="0"/>
              </a:spcBef>
              <a:buNone/>
            </a:pPr>
            <a:r>
              <a:rPr lang="vi-VN" sz="1800" dirty="0">
                <a:solidFill>
                  <a:srgbClr val="002060"/>
                </a:solidFill>
                <a:latin typeface="Arial" panose="020B0604020202020204" pitchFamily="34" charset="0"/>
                <a:cs typeface="Arial" panose="020B0604020202020204" pitchFamily="34" charset="0"/>
              </a:rPr>
              <a:t>Giả sử bạn là một kỹ sư hệ thống và bạn đang theo dõi thời gian phản hồi của một máy chủ web khi nhận yêu cầu từ người dùng. Thời gian phản hồi có thể bị ảnh hưởng bởi nhiều yếu tố như tải của máy chủ, băng thông mạng, và độ phức tạp của yêu cầu. Sau khi thu thập dữ liệu trong một khoảng thời gian, ghi nhận thời gian phản hồi như sau:</a:t>
            </a:r>
          </a:p>
          <a:p>
            <a:pPr lvl="2" algn="just">
              <a:lnSpc>
                <a:spcPct val="120000"/>
              </a:lnSpc>
            </a:pPr>
            <a:r>
              <a:rPr lang="vi-VN" sz="1800" dirty="0">
                <a:solidFill>
                  <a:srgbClr val="002060"/>
                </a:solidFill>
                <a:latin typeface="Arial" panose="020B0604020202020204" pitchFamily="34" charset="0"/>
                <a:cs typeface="Arial" panose="020B0604020202020204" pitchFamily="34" charset="0"/>
              </a:rPr>
              <a:t>50 ms (xác suất 0.2)</a:t>
            </a:r>
          </a:p>
          <a:p>
            <a:pPr lvl="2" algn="just">
              <a:lnSpc>
                <a:spcPct val="120000"/>
              </a:lnSpc>
            </a:pPr>
            <a:r>
              <a:rPr lang="vi-VN" sz="1800" dirty="0">
                <a:solidFill>
                  <a:srgbClr val="002060"/>
                </a:solidFill>
                <a:latin typeface="Arial" panose="020B0604020202020204" pitchFamily="34" charset="0"/>
                <a:cs typeface="Arial" panose="020B0604020202020204" pitchFamily="34" charset="0"/>
              </a:rPr>
              <a:t>75 ms (xác suất 0.5)</a:t>
            </a:r>
          </a:p>
          <a:p>
            <a:pPr lvl="2" algn="just">
              <a:lnSpc>
                <a:spcPct val="120000"/>
              </a:lnSpc>
            </a:pPr>
            <a:r>
              <a:rPr lang="vi-VN" sz="1800" dirty="0">
                <a:solidFill>
                  <a:srgbClr val="002060"/>
                </a:solidFill>
                <a:latin typeface="Arial" panose="020B0604020202020204" pitchFamily="34" charset="0"/>
                <a:cs typeface="Arial" panose="020B0604020202020204" pitchFamily="34" charset="0"/>
              </a:rPr>
              <a:t>100 ms (xác suất 0.2)</a:t>
            </a:r>
          </a:p>
          <a:p>
            <a:pPr lvl="2" algn="just">
              <a:lnSpc>
                <a:spcPct val="120000"/>
              </a:lnSpc>
            </a:pPr>
            <a:r>
              <a:rPr lang="vi-VN" sz="1800" dirty="0">
                <a:solidFill>
                  <a:srgbClr val="002060"/>
                </a:solidFill>
                <a:latin typeface="Arial" panose="020B0604020202020204" pitchFamily="34" charset="0"/>
                <a:cs typeface="Arial" panose="020B0604020202020204" pitchFamily="34" charset="0"/>
              </a:rPr>
              <a:t>150 ms (xác suất 0.1)</a:t>
            </a:r>
          </a:p>
          <a:p>
            <a:pPr marL="76200" indent="0" algn="just">
              <a:lnSpc>
                <a:spcPct val="120000"/>
              </a:lnSpc>
              <a:spcBef>
                <a:spcPts val="0"/>
              </a:spcBef>
              <a:buNone/>
            </a:pP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định</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thời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gian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trả</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lời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trung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bình</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của</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máy</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chủ</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và</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đánh</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giá</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xem</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nó</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có</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đáp</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ứng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đủ</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tiêu</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chuẩn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không</a:t>
            </a:r>
            <a:r>
              <a:rPr lang="en-US" sz="1800" dirty="0">
                <a:solidFill>
                  <a:srgbClr val="002060"/>
                </a:solidFill>
                <a:latin typeface="Arial" panose="020B0604020202020204" pitchFamily="34" charset="0"/>
                <a:cs typeface="Arial" panose="020B0604020202020204" pitchFamily="34" charset="0"/>
              </a:rPr>
              <a:t>?</a:t>
            </a:r>
            <a:endParaRPr lang="vi-VN" sz="1800" dirty="0">
              <a:solidFill>
                <a:srgbClr val="002060"/>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1C783B9-F0F1-478D-8B63-CFEB416BA0E3}"/>
              </a:ext>
            </a:extLst>
          </p:cNvPr>
          <p:cNvSpPr txBox="1"/>
          <p:nvPr/>
        </p:nvSpPr>
        <p:spPr>
          <a:xfrm>
            <a:off x="3200400" y="234315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p:txBody>
      </p:sp>
    </p:spTree>
    <p:extLst>
      <p:ext uri="{BB962C8B-B14F-4D97-AF65-F5344CB8AC3E}">
        <p14:creationId xmlns:p14="http://schemas.microsoft.com/office/powerpoint/2010/main" val="1127100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211"/>
        <p:cNvGrpSpPr/>
        <p:nvPr/>
      </p:nvGrpSpPr>
      <p:grpSpPr>
        <a:xfrm>
          <a:off x="0" y="0"/>
          <a:ext cx="0" cy="0"/>
          <a:chOff x="0" y="0"/>
          <a:chExt cx="0" cy="0"/>
        </a:xfrm>
      </p:grpSpPr>
      <p:sp>
        <p:nvSpPr>
          <p:cNvPr id="11" name="Google Shape;243;p17"/>
          <p:cNvSpPr txBox="1">
            <a:spLocks noGrp="1"/>
          </p:cNvSpPr>
          <p:nvPr>
            <p:ph type="body" idx="1"/>
          </p:nvPr>
        </p:nvSpPr>
        <p:spPr>
          <a:xfrm>
            <a:off x="1271832" y="402275"/>
            <a:ext cx="7240413" cy="4265419"/>
          </a:xfrm>
          <a:prstGeom prst="rect">
            <a:avLst/>
          </a:prstGeom>
        </p:spPr>
        <p:txBody>
          <a:bodyPr spcFirstLastPara="1" wrap="square" lIns="91425" tIns="91425" rIns="91425" bIns="91425" anchor="t" anchorCtr="0">
            <a:noAutofit/>
          </a:bodyPr>
          <a:lstStyle/>
          <a:p>
            <a:pPr marL="565150" lvl="0" indent="-514350" algn="l" rtl="0">
              <a:spcBef>
                <a:spcPts val="600"/>
              </a:spcBef>
              <a:spcAft>
                <a:spcPts val="0"/>
              </a:spcAft>
              <a:buSzPct val="110000"/>
              <a:buFont typeface="+mj-lt"/>
              <a:buAutoNum type="arabicPeriod"/>
            </a:pPr>
            <a:r>
              <a:rPr lang="en-US" sz="1800" dirty="0" err="1">
                <a:solidFill>
                  <a:srgbClr val="002060"/>
                </a:solidFill>
                <a:latin typeface="Arial" panose="020B0604020202020204" pitchFamily="34" charset="0"/>
                <a:cs typeface="Arial" panose="020B0604020202020204" pitchFamily="34" charset="0"/>
              </a:rPr>
              <a:t>Biến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ngẫu</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nhiên</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Định</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nghĩa</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loại</a:t>
            </a:r>
            <a:r>
              <a:rPr lang="en-US" sz="1800" dirty="0">
                <a:solidFill>
                  <a:srgbClr val="002060"/>
                </a:solidFill>
                <a:latin typeface="Arial" panose="020B0604020202020204" pitchFamily="34" charset="0"/>
                <a:cs typeface="Arial" panose="020B0604020202020204" pitchFamily="34" charset="0"/>
              </a:rPr>
              <a:t> BNN</a:t>
            </a:r>
          </a:p>
          <a:p>
            <a:pPr marL="565150" lvl="0" indent="-514350" algn="l" rtl="0">
              <a:spcBef>
                <a:spcPts val="600"/>
              </a:spcBef>
              <a:spcAft>
                <a:spcPts val="0"/>
              </a:spcAft>
              <a:buSzPct val="110000"/>
              <a:buFont typeface="+mj-lt"/>
              <a:buAutoNum type="arabicPeriod" startAt="2"/>
            </a:pPr>
            <a:r>
              <a:rPr lang="en-US" sz="1800" dirty="0" err="1">
                <a:solidFill>
                  <a:srgbClr val="002060"/>
                </a:solidFill>
                <a:latin typeface="Arial" panose="020B0604020202020204" pitchFamily="34" charset="0"/>
                <a:cs typeface="Arial" panose="020B0604020202020204" pitchFamily="34" charset="0"/>
              </a:rPr>
              <a:t>Quy</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luật</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phối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của</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biến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ngẫu</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nhiên</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Bảng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phối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Hàm</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phối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Hàm</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bố</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endParaRPr lang="en-US" sz="1800" dirty="0">
              <a:solidFill>
                <a:srgbClr val="002060"/>
              </a:solidFill>
              <a:latin typeface="Arial" panose="020B0604020202020204" pitchFamily="34" charset="0"/>
              <a:cs typeface="Arial" panose="020B0604020202020204" pitchFamily="34" charset="0"/>
            </a:endParaRPr>
          </a:p>
          <a:p>
            <a:pPr marL="508000" lvl="0" indent="-457200" algn="l" rtl="0">
              <a:spcBef>
                <a:spcPts val="600"/>
              </a:spcBef>
              <a:spcAft>
                <a:spcPts val="0"/>
              </a:spcAft>
              <a:buSzPct val="110000"/>
              <a:buFont typeface="+mj-lt"/>
              <a:buAutoNum type="arabicPeriod" startAt="3"/>
            </a:pPr>
            <a:r>
              <a:rPr lang="en-US" sz="1800" dirty="0" err="1">
                <a:solidFill>
                  <a:srgbClr val="002060"/>
                </a:solidFill>
                <a:latin typeface="Arial" panose="020B0604020202020204" pitchFamily="34" charset="0"/>
                <a:cs typeface="Arial" panose="020B0604020202020204" pitchFamily="34" charset="0"/>
              </a:rPr>
              <a:t>Các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tham</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số</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đặc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trưng</a:t>
            </a:r>
            <a:endParaRPr lang="en-US" sz="1800" dirty="0">
              <a:solidFill>
                <a:srgbClr val="002060"/>
              </a:solidFill>
              <a:latin typeface="Arial" panose="020B0604020202020204" pitchFamily="34" charset="0"/>
              <a:cs typeface="Arial" panose="020B0604020202020204" pitchFamily="34" charset="0"/>
            </a:endParaRPr>
          </a:p>
          <a:p>
            <a:pPr marL="965200" lvl="1" indent="-45720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Kỳ</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vọng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toán</a:t>
            </a:r>
            <a:endParaRPr lang="en-US" sz="1800" dirty="0">
              <a:solidFill>
                <a:srgbClr val="002060"/>
              </a:solidFill>
              <a:latin typeface="Arial" panose="020B0604020202020204" pitchFamily="34" charset="0"/>
              <a:cs typeface="Arial" panose="020B0604020202020204" pitchFamily="34" charset="0"/>
            </a:endParaRPr>
          </a:p>
          <a:p>
            <a:pPr marL="965200" lvl="1" indent="-45720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Phương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sai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và</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độ</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lệch</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chuẩn</a:t>
            </a:r>
            <a:endParaRPr lang="en-US" sz="1800" dirty="0">
              <a:solidFill>
                <a:srgbClr val="002060"/>
              </a:solidFill>
              <a:latin typeface="Arial" panose="020B0604020202020204" pitchFamily="34" charset="0"/>
              <a:cs typeface="Arial" panose="020B0604020202020204" pitchFamily="34" charset="0"/>
            </a:endParaRPr>
          </a:p>
          <a:p>
            <a:pPr marL="965200" lvl="1" indent="-457200">
              <a:spcBef>
                <a:spcPts val="600"/>
              </a:spcBef>
              <a:buSzPct val="90000"/>
              <a:buFont typeface="Varela Round" panose="020B0604020202020204" charset="-79"/>
              <a:buChar char="►"/>
            </a:pPr>
            <a:r>
              <a:rPr lang="vi-VN" sz="1800" dirty="0">
                <a:solidFill>
                  <a:srgbClr val="002060"/>
                </a:solidFill>
                <a:latin typeface="Arial" panose="020B0604020202020204" pitchFamily="34" charset="0"/>
                <a:cs typeface="Arial" panose="020B0604020202020204" pitchFamily="34" charset="0"/>
              </a:rPr>
              <a:t>Trung vị</a:t>
            </a:r>
          </a:p>
          <a:p>
            <a:pPr marL="965200" lvl="1" indent="-457200">
              <a:spcBef>
                <a:spcPts val="600"/>
              </a:spcBef>
              <a:buSzPct val="90000"/>
              <a:buFont typeface="Varela Round" panose="020B0604020202020204" charset="-79"/>
              <a:buChar char="►"/>
            </a:pPr>
            <a:r>
              <a:rPr lang="vi-VN" sz="1800" dirty="0">
                <a:solidFill>
                  <a:srgbClr val="002060"/>
                </a:solidFill>
                <a:latin typeface="Arial" panose="020B0604020202020204" pitchFamily="34" charset="0"/>
                <a:cs typeface="Arial" panose="020B0604020202020204" pitchFamily="34" charset="0"/>
              </a:rPr>
              <a:t>Mốt</a:t>
            </a:r>
            <a:endParaRPr sz="1800" dirty="0">
              <a:solidFill>
                <a:srgbClr val="002060"/>
              </a:solidFill>
              <a:latin typeface="Arial" panose="020B0604020202020204" pitchFamily="34" charset="0"/>
              <a:cs typeface="Arial" panose="020B0604020202020204" pitchFamily="34" charset="0"/>
            </a:endParaRPr>
          </a:p>
          <a:p>
            <a:pPr marL="0" lvl="0" indent="0" algn="l" rtl="0">
              <a:spcBef>
                <a:spcPts val="600"/>
              </a:spcBef>
              <a:spcAft>
                <a:spcPts val="0"/>
              </a:spcAft>
              <a:buNone/>
            </a:pPr>
            <a:endParaRPr sz="1800" dirty="0">
              <a:solidFill>
                <a:srgbClr val="002060"/>
              </a:solidFill>
              <a:latin typeface="Arial" panose="020B0604020202020204" pitchFamily="34" charset="0"/>
              <a:cs typeface="Arial" panose="020B0604020202020204" pitchFamily="34" charset="0"/>
            </a:endParaRPr>
          </a:p>
        </p:txBody>
      </p:sp>
      <p:sp>
        <p:nvSpPr>
          <p:cNvPr id="3" name="Google Shape;422;p35">
            <a:extLst>
              <a:ext uri="{FF2B5EF4-FFF2-40B4-BE49-F238E27FC236}">
                <a16:creationId xmlns:a16="http://schemas.microsoft.com/office/drawing/2014/main" id="{6A4970AF-0C15-E73A-9277-0A984A6073EF}"/>
              </a:ext>
            </a:extLst>
          </p:cNvPr>
          <p:cNvSpPr txBox="1">
            <a:spLocks/>
          </p:cNvSpPr>
          <p:nvPr/>
        </p:nvSpPr>
        <p:spPr>
          <a:xfrm>
            <a:off x="3349193" y="0"/>
            <a:ext cx="2829661" cy="6738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7BD100"/>
              </a:buClr>
              <a:buSzPts val="3000"/>
              <a:buFont typeface="Varela Round"/>
              <a:buChar char="×"/>
              <a:defRPr sz="3000" b="0" i="0" u="none" strike="noStrike" cap="none">
                <a:solidFill>
                  <a:srgbClr val="546973"/>
                </a:solidFill>
                <a:latin typeface="Varela Round"/>
                <a:ea typeface="Varela Round"/>
                <a:cs typeface="Varela Round"/>
                <a:sym typeface="Varela Round"/>
              </a:defRPr>
            </a:lvl1pPr>
            <a:lvl2pPr marL="914400" marR="0" lvl="1" indent="-381000" algn="l" rtl="0">
              <a:lnSpc>
                <a:spcPct val="100000"/>
              </a:lnSpc>
              <a:spcBef>
                <a:spcPts val="0"/>
              </a:spcBef>
              <a:spcAft>
                <a:spcPts val="0"/>
              </a:spcAft>
              <a:buClr>
                <a:srgbClr val="7BD100"/>
              </a:buClr>
              <a:buSzPts val="2400"/>
              <a:buFont typeface="Varela Round"/>
              <a:buChar char="×"/>
              <a:defRPr sz="2400" b="0" i="0" u="none" strike="noStrike" cap="none">
                <a:solidFill>
                  <a:srgbClr val="546973"/>
                </a:solidFill>
                <a:latin typeface="Varela Round"/>
                <a:ea typeface="Varela Round"/>
                <a:cs typeface="Varela Round"/>
                <a:sym typeface="Varela Round"/>
              </a:defRPr>
            </a:lvl2pPr>
            <a:lvl3pPr marL="1371600" marR="0" lvl="2" indent="-381000" algn="l" rtl="0">
              <a:lnSpc>
                <a:spcPct val="100000"/>
              </a:lnSpc>
              <a:spcBef>
                <a:spcPts val="0"/>
              </a:spcBef>
              <a:spcAft>
                <a:spcPts val="0"/>
              </a:spcAft>
              <a:buClr>
                <a:srgbClr val="7BD100"/>
              </a:buClr>
              <a:buSzPts val="2400"/>
              <a:buFont typeface="Varela Round"/>
              <a:buChar char="×"/>
              <a:defRPr sz="2400" b="0" i="0" u="none" strike="noStrike" cap="none">
                <a:solidFill>
                  <a:srgbClr val="546973"/>
                </a:solidFill>
                <a:latin typeface="Varela Round"/>
                <a:ea typeface="Varela Round"/>
                <a:cs typeface="Varela Round"/>
                <a:sym typeface="Varela Round"/>
              </a:defRPr>
            </a:lvl3pPr>
            <a:lvl4pPr marL="1828800" marR="0" lvl="3" indent="-342900" algn="l" rtl="0">
              <a:lnSpc>
                <a:spcPct val="100000"/>
              </a:lnSpc>
              <a:spcBef>
                <a:spcPts val="0"/>
              </a:spcBef>
              <a:spcAft>
                <a:spcPts val="0"/>
              </a:spcAft>
              <a:buClr>
                <a:srgbClr val="7BD100"/>
              </a:buClr>
              <a:buSzPts val="1800"/>
              <a:buFont typeface="Varela Round"/>
              <a:buChar char="×"/>
              <a:defRPr sz="1800" b="0" i="0" u="none" strike="noStrike" cap="none">
                <a:solidFill>
                  <a:srgbClr val="546973"/>
                </a:solidFill>
                <a:latin typeface="Varela Round"/>
                <a:ea typeface="Varela Round"/>
                <a:cs typeface="Varela Round"/>
                <a:sym typeface="Varela Round"/>
              </a:defRPr>
            </a:lvl4pPr>
            <a:lvl5pPr marL="2286000" marR="0" lvl="4" indent="-342900" algn="l" rtl="0">
              <a:lnSpc>
                <a:spcPct val="100000"/>
              </a:lnSpc>
              <a:spcBef>
                <a:spcPts val="0"/>
              </a:spcBef>
              <a:spcAft>
                <a:spcPts val="0"/>
              </a:spcAft>
              <a:buClr>
                <a:srgbClr val="7BD100"/>
              </a:buClr>
              <a:buSzPts val="1800"/>
              <a:buFont typeface="Varela Round"/>
              <a:buChar char="×"/>
              <a:defRPr sz="1800" b="0" i="0" u="none" strike="noStrike" cap="none">
                <a:solidFill>
                  <a:srgbClr val="546973"/>
                </a:solidFill>
                <a:latin typeface="Varela Round"/>
                <a:ea typeface="Varela Round"/>
                <a:cs typeface="Varela Round"/>
                <a:sym typeface="Varela Round"/>
              </a:defRPr>
            </a:lvl5pPr>
            <a:lvl6pPr marL="2743200" marR="0" lvl="5" indent="-342900" algn="l" rtl="0">
              <a:lnSpc>
                <a:spcPct val="100000"/>
              </a:lnSpc>
              <a:spcBef>
                <a:spcPts val="0"/>
              </a:spcBef>
              <a:spcAft>
                <a:spcPts val="0"/>
              </a:spcAft>
              <a:buClr>
                <a:srgbClr val="7BD100"/>
              </a:buClr>
              <a:buSzPts val="1800"/>
              <a:buFont typeface="Varela Round"/>
              <a:buChar char="×"/>
              <a:defRPr sz="1800" b="0" i="0" u="none" strike="noStrike" cap="none">
                <a:solidFill>
                  <a:srgbClr val="546973"/>
                </a:solidFill>
                <a:latin typeface="Varela Round"/>
                <a:ea typeface="Varela Round"/>
                <a:cs typeface="Varela Round"/>
                <a:sym typeface="Varela Round"/>
              </a:defRPr>
            </a:lvl6pPr>
            <a:lvl7pPr marL="3200400" marR="0" lvl="6" indent="-342900" algn="l" rtl="0">
              <a:lnSpc>
                <a:spcPct val="100000"/>
              </a:lnSpc>
              <a:spcBef>
                <a:spcPts val="0"/>
              </a:spcBef>
              <a:spcAft>
                <a:spcPts val="0"/>
              </a:spcAft>
              <a:buClr>
                <a:srgbClr val="546973"/>
              </a:buClr>
              <a:buSzPts val="1800"/>
              <a:buFont typeface="Varela Round"/>
              <a:buChar char="●"/>
              <a:defRPr sz="1800" b="0" i="0" u="none" strike="noStrike" cap="none">
                <a:solidFill>
                  <a:srgbClr val="546973"/>
                </a:solidFill>
                <a:latin typeface="Varela Round"/>
                <a:ea typeface="Varela Round"/>
                <a:cs typeface="Varela Round"/>
                <a:sym typeface="Varela Round"/>
              </a:defRPr>
            </a:lvl7pPr>
            <a:lvl8pPr marL="3657600" marR="0" lvl="7" indent="-342900" algn="l" rtl="0">
              <a:lnSpc>
                <a:spcPct val="100000"/>
              </a:lnSpc>
              <a:spcBef>
                <a:spcPts val="0"/>
              </a:spcBef>
              <a:spcAft>
                <a:spcPts val="0"/>
              </a:spcAft>
              <a:buClr>
                <a:srgbClr val="546973"/>
              </a:buClr>
              <a:buSzPts val="1800"/>
              <a:buFont typeface="Varela Round"/>
              <a:buChar char="○"/>
              <a:defRPr sz="1800" b="0" i="0" u="none" strike="noStrike" cap="none">
                <a:solidFill>
                  <a:srgbClr val="546973"/>
                </a:solidFill>
                <a:latin typeface="Varela Round"/>
                <a:ea typeface="Varela Round"/>
                <a:cs typeface="Varela Round"/>
                <a:sym typeface="Varela Round"/>
              </a:defRPr>
            </a:lvl8pPr>
            <a:lvl9pPr marL="4114800" marR="0" lvl="8" indent="-342900" algn="l" rtl="0">
              <a:lnSpc>
                <a:spcPct val="100000"/>
              </a:lnSpc>
              <a:spcBef>
                <a:spcPts val="0"/>
              </a:spcBef>
              <a:spcAft>
                <a:spcPts val="0"/>
              </a:spcAft>
              <a:buClr>
                <a:srgbClr val="546973"/>
              </a:buClr>
              <a:buSzPts val="1800"/>
              <a:buFont typeface="Varela Round"/>
              <a:buChar char="■"/>
              <a:defRPr sz="1800" b="0" i="0" u="none" strike="noStrike" cap="none">
                <a:solidFill>
                  <a:srgbClr val="546973"/>
                </a:solidFill>
                <a:latin typeface="Varela Round"/>
                <a:ea typeface="Varela Round"/>
                <a:cs typeface="Varela Round"/>
                <a:sym typeface="Varela Round"/>
              </a:defRPr>
            </a:lvl9pPr>
          </a:lstStyle>
          <a:p>
            <a:pPr marL="50800" indent="0" algn="ctr">
              <a:buClr>
                <a:srgbClr val="637991"/>
              </a:buClr>
              <a:buSzPct val="100000"/>
              <a:buNone/>
            </a:pPr>
            <a:r>
              <a:rPr lang="en-US" sz="2800" b="1" dirty="0">
                <a:solidFill>
                  <a:srgbClr val="002060"/>
                </a:solidFill>
                <a:latin typeface="Arial" panose="020B0604020202020204" pitchFamily="34" charset="0"/>
                <a:cs typeface="Arial" panose="020B0604020202020204" pitchFamily="34" charset="0"/>
              </a:rPr>
              <a:t>NỘI DUNG</a:t>
            </a:r>
          </a:p>
        </p:txBody>
      </p:sp>
      <p:pic>
        <p:nvPicPr>
          <p:cNvPr id="6" name="Picture 5" descr="Dai Nam [PPT] Template 11.png">
            <a:extLst>
              <a:ext uri="{FF2B5EF4-FFF2-40B4-BE49-F238E27FC236}">
                <a16:creationId xmlns:a16="http://schemas.microsoft.com/office/drawing/2014/main" id="{A7EEDB5B-0CC2-9D2C-C759-24F6336734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241"/>
        <p:cNvGrpSpPr/>
        <p:nvPr/>
      </p:nvGrpSpPr>
      <p:grpSpPr>
        <a:xfrm>
          <a:off x="0" y="0"/>
          <a:ext cx="0" cy="0"/>
          <a:chOff x="0" y="0"/>
          <a:chExt cx="0" cy="0"/>
        </a:xfrm>
      </p:grpSpPr>
      <p:sp>
        <p:nvSpPr>
          <p:cNvPr id="242" name="Google Shape;242;p17"/>
          <p:cNvSpPr txBox="1">
            <a:spLocks noGrp="1"/>
          </p:cNvSpPr>
          <p:nvPr>
            <p:ph type="title"/>
          </p:nvPr>
        </p:nvSpPr>
        <p:spPr>
          <a:xfrm>
            <a:off x="1618423" y="110528"/>
            <a:ext cx="5907154" cy="676656"/>
          </a:xfrm>
          <a:prstGeom prst="rect">
            <a:avLst/>
          </a:prstGeom>
        </p:spPr>
        <p:txBody>
          <a:bodyPr spcFirstLastPara="1" wrap="square" lIns="91425" tIns="91425" rIns="91425" bIns="91425" anchor="ctr" anchorCtr="0">
            <a:noAutofit/>
          </a:bodyPr>
          <a:lstStyle/>
          <a:p>
            <a:pPr lvl="0"/>
            <a:r>
              <a:rPr lang="en-US" sz="3200" spc="-5" dirty="0" err="1">
                <a:solidFill>
                  <a:srgbClr val="002060"/>
                </a:solidFill>
                <a:latin typeface="Arial" panose="020B0604020202020204" pitchFamily="34" charset="0"/>
                <a:cs typeface="Arial" panose="020B0604020202020204" pitchFamily="34" charset="0"/>
              </a:rPr>
              <a:t>Định</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nghĩa</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biến</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ngẫu</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nhiên</a:t>
            </a:r>
            <a:endParaRPr sz="3200" dirty="0">
              <a:solidFill>
                <a:srgbClr val="002060"/>
              </a:solidFill>
              <a:latin typeface="Arial" panose="020B0604020202020204" pitchFamily="34" charset="0"/>
              <a:cs typeface="Arial" panose="020B0604020202020204" pitchFamily="34" charset="0"/>
            </a:endParaRPr>
          </a:p>
        </p:txBody>
      </p:sp>
      <p:sp>
        <p:nvSpPr>
          <p:cNvPr id="244" name="Google Shape;244;p17"/>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mc:AlternateContent xmlns:mc="http://schemas.openxmlformats.org/markup-compatibility/2006" xmlns:a14="http://schemas.microsoft.com/office/drawing/2010/main">
        <mc:Choice Requires="a14">
          <p:sp>
            <p:nvSpPr>
              <p:cNvPr id="2" name="Text Placeholder 1"/>
              <p:cNvSpPr>
                <a:spLocks noGrp="1"/>
              </p:cNvSpPr>
              <p:nvPr>
                <p:ph type="body" idx="1"/>
              </p:nvPr>
            </p:nvSpPr>
            <p:spPr>
              <a:xfrm>
                <a:off x="393361" y="1010554"/>
                <a:ext cx="8357278" cy="3250549"/>
              </a:xfrm>
            </p:spPr>
            <p:txBody>
              <a:bodyPr/>
              <a:lstStyle/>
              <a:p>
                <a:pPr algn="just"/>
                <a:r>
                  <a:rPr lang="vi-VN" sz="2400" dirty="0">
                    <a:solidFill>
                      <a:srgbClr val="002060"/>
                    </a:solidFill>
                    <a:latin typeface="Arial" panose="020B0604020202020204" pitchFamily="34" charset="0"/>
                    <a:cs typeface="Arial" panose="020B0604020202020204" pitchFamily="34" charset="0"/>
                  </a:rPr>
                  <a:t>Cho phép thử ngẫu nhiên T có không gian mẫu Ω.</a:t>
                </a:r>
              </a:p>
              <a:p>
                <a:pPr marL="50800" indent="0" algn="just">
                  <a:buNone/>
                </a:pPr>
                <a:r>
                  <a:rPr lang="en-US" sz="2400" i="1" dirty="0">
                    <a:solidFill>
                      <a:srgbClr val="002060"/>
                    </a:solidFill>
                    <a:latin typeface="Arial" panose="020B0604020202020204" pitchFamily="34" charset="0"/>
                    <a:cs typeface="Arial" panose="020B0604020202020204" pitchFamily="34" charset="0"/>
                  </a:rPr>
                  <a:t>				</a:t>
                </a:r>
                <a:r>
                  <a:rPr lang="en-US" sz="2400" dirty="0">
                    <a:solidFill>
                      <a:srgbClr val="002060"/>
                    </a:solidFill>
                    <a:latin typeface="Arial" panose="020B0604020202020204" pitchFamily="34" charset="0"/>
                    <a:cs typeface="Arial" panose="020B0604020202020204" pitchFamily="34" charset="0"/>
                  </a:rPr>
                  <a:t>X:</a:t>
                </a:r>
                <a:r>
                  <a:rPr lang="vi-VN" sz="2400" dirty="0">
                    <a:solidFill>
                      <a:srgbClr val="002060"/>
                    </a:solidFill>
                    <a:latin typeface="Arial" panose="020B0604020202020204" pitchFamily="34" charset="0"/>
                    <a:cs typeface="Arial" panose="020B0604020202020204" pitchFamily="34" charset="0"/>
                  </a:rPr>
                  <a:t> Ω →ℝ</a:t>
                </a:r>
                <a:r>
                  <a:rPr lang="en-US" sz="2400" dirty="0">
                    <a:solidFill>
                      <a:srgbClr val="002060"/>
                    </a:solidFill>
                    <a:latin typeface="Arial" panose="020B0604020202020204" pitchFamily="34" charset="0"/>
                    <a:cs typeface="Arial" panose="020B0604020202020204" pitchFamily="34" charset="0"/>
                  </a:rPr>
                  <a:t>			  </a:t>
                </a:r>
              </a:p>
              <a:p>
                <a:pPr marL="50800" indent="0" algn="just">
                  <a:buNone/>
                </a:pPr>
                <a:r>
                  <a:rPr lang="en-US" sz="2400" dirty="0">
                    <a:solidFill>
                      <a:srgbClr val="002060"/>
                    </a:solidFill>
                    <a:latin typeface="Arial" panose="020B0604020202020204" pitchFamily="34" charset="0"/>
                    <a:cs typeface="Arial" panose="020B0604020202020204" pitchFamily="34" charset="0"/>
                  </a:rPr>
                  <a:t>     Khi </a:t>
                </a:r>
                <a:r>
                  <a:rPr lang="en-US" sz="2400" dirty="0" err="1">
                    <a:solidFill>
                      <a:srgbClr val="002060"/>
                    </a:solidFill>
                    <a:latin typeface="Arial" panose="020B0604020202020204" pitchFamily="34" charset="0"/>
                    <a:cs typeface="Arial" panose="020B0604020202020204" pitchFamily="34" charset="0"/>
                  </a:rPr>
                  <a:t>đó</a:t>
                </a:r>
                <a:r>
                  <a:rPr lang="en-US" sz="2400" dirty="0">
                    <a:solidFill>
                      <a:srgbClr val="002060"/>
                    </a:solidFill>
                    <a:latin typeface="Arial" panose="020B0604020202020204" pitchFamily="34" charset="0"/>
                    <a:cs typeface="Arial" panose="020B0604020202020204" pitchFamily="34" charset="0"/>
                  </a:rPr>
                  <a:t> X </a:t>
                </a:r>
                <a:r>
                  <a:rPr lang="en-US" sz="2400" dirty="0" err="1">
                    <a:solidFill>
                      <a:srgbClr val="002060"/>
                    </a:solidFill>
                    <a:latin typeface="Arial" panose="020B0604020202020204" pitchFamily="34" charset="0"/>
                    <a:cs typeface="Arial" panose="020B0604020202020204" pitchFamily="34" charset="0"/>
                  </a:rPr>
                  <a:t>gọi</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là</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biến</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ngẫu</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nhiên</a:t>
                </a:r>
                <a:r>
                  <a:rPr lang="en-US" sz="2400" dirty="0">
                    <a:solidFill>
                      <a:srgbClr val="002060"/>
                    </a:solidFill>
                    <a:latin typeface="Arial" panose="020B0604020202020204" pitchFamily="34" charset="0"/>
                    <a:cs typeface="Arial" panose="020B0604020202020204" pitchFamily="34" charset="0"/>
                  </a:rPr>
                  <a:t>.</a:t>
                </a:r>
              </a:p>
              <a:p>
                <a:pPr algn="just"/>
                <a:r>
                  <a:rPr lang="en-US" sz="2400" dirty="0" err="1">
                    <a:solidFill>
                      <a:srgbClr val="002060"/>
                    </a:solidFill>
                    <a:latin typeface="Arial" panose="020B0604020202020204" pitchFamily="34" charset="0"/>
                    <a:cs typeface="Arial" panose="020B0604020202020204" pitchFamily="34" charset="0"/>
                  </a:rPr>
                  <a:t>Kí</a:t>
                </a:r>
                <a:r>
                  <a:rPr lang="vi-VN" sz="2400" dirty="0">
                    <a:solidFill>
                      <a:srgbClr val="002060"/>
                    </a:solidFill>
                    <a:latin typeface="Arial" panose="020B0604020202020204" pitchFamily="34" charset="0"/>
                    <a:cs typeface="Arial" panose="020B0604020202020204" pitchFamily="34" charset="0"/>
                  </a:rPr>
                  <a:t> hi</a:t>
                </a:r>
                <a:r>
                  <a:rPr lang="en-US" sz="2400" dirty="0" err="1">
                    <a:solidFill>
                      <a:srgbClr val="002060"/>
                    </a:solidFill>
                    <a:latin typeface="Arial" panose="020B0604020202020204" pitchFamily="34" charset="0"/>
                    <a:cs typeface="Arial" panose="020B0604020202020204" pitchFamily="34" charset="0"/>
                  </a:rPr>
                  <a:t>ệ</a:t>
                </a:r>
                <a:r>
                  <a:rPr lang="vi-VN" sz="2400" dirty="0">
                    <a:solidFill>
                      <a:srgbClr val="002060"/>
                    </a:solidFill>
                    <a:latin typeface="Arial" panose="020B0604020202020204" pitchFamily="34" charset="0"/>
                    <a:cs typeface="Arial" panose="020B0604020202020204" pitchFamily="34" charset="0"/>
                  </a:rPr>
                  <a:t>u : </a:t>
                </a:r>
                <a14:m>
                  <m:oMath xmlns:m="http://schemas.openxmlformats.org/officeDocument/2006/math">
                    <m:r>
                      <a:rPr lang="vi-VN" sz="2400" i="1" dirty="0">
                        <a:solidFill>
                          <a:srgbClr val="002060"/>
                        </a:solidFill>
                        <a:latin typeface="Cambria Math" panose="02040503050406030204" pitchFamily="18" charset="0"/>
                        <a:cs typeface="Times New Roman" panose="02020603050405020304" pitchFamily="18" charset="0"/>
                      </a:rPr>
                      <m:t>𝑋</m:t>
                    </m:r>
                    <m:r>
                      <a:rPr lang="vi-VN" sz="2400" i="1" dirty="0">
                        <a:solidFill>
                          <a:srgbClr val="002060"/>
                        </a:solidFill>
                        <a:latin typeface="Cambria Math" panose="02040503050406030204" pitchFamily="18" charset="0"/>
                        <a:cs typeface="Times New Roman" panose="02020603050405020304" pitchFamily="18" charset="0"/>
                      </a:rPr>
                      <m:t>; </m:t>
                    </m:r>
                    <m:r>
                      <a:rPr lang="vi-VN" sz="2400" i="1" dirty="0">
                        <a:solidFill>
                          <a:srgbClr val="002060"/>
                        </a:solidFill>
                        <a:latin typeface="Cambria Math" panose="02040503050406030204" pitchFamily="18" charset="0"/>
                        <a:cs typeface="Times New Roman" panose="02020603050405020304" pitchFamily="18" charset="0"/>
                      </a:rPr>
                      <m:t>𝑌</m:t>
                    </m:r>
                    <m:r>
                      <a:rPr lang="vi-VN" sz="2400" i="1" dirty="0">
                        <a:solidFill>
                          <a:srgbClr val="002060"/>
                        </a:solidFill>
                        <a:latin typeface="Cambria Math" panose="02040503050406030204" pitchFamily="18" charset="0"/>
                        <a:cs typeface="Times New Roman" panose="02020603050405020304" pitchFamily="18" charset="0"/>
                      </a:rPr>
                      <m:t>; </m:t>
                    </m:r>
                    <m:r>
                      <a:rPr lang="vi-VN" sz="2400" i="1" dirty="0">
                        <a:solidFill>
                          <a:srgbClr val="002060"/>
                        </a:solidFill>
                        <a:latin typeface="Cambria Math" panose="02040503050406030204" pitchFamily="18" charset="0"/>
                        <a:cs typeface="Times New Roman" panose="02020603050405020304" pitchFamily="18" charset="0"/>
                      </a:rPr>
                      <m:t>𝑍</m:t>
                    </m:r>
                    <m:r>
                      <a:rPr lang="vi-VN" sz="2400" i="1" dirty="0">
                        <a:solidFill>
                          <a:srgbClr val="002060"/>
                        </a:solidFill>
                        <a:latin typeface="Cambria Math" panose="02040503050406030204" pitchFamily="18" charset="0"/>
                        <a:cs typeface="Times New Roman" panose="02020603050405020304" pitchFamily="18" charset="0"/>
                      </a:rPr>
                      <m:t>; </m:t>
                    </m:r>
                    <m:r>
                      <a:rPr lang="vi-VN" sz="2400" i="1" dirty="0">
                        <a:solidFill>
                          <a:srgbClr val="002060"/>
                        </a:solidFill>
                        <a:latin typeface="Cambria Math" panose="02040503050406030204" pitchFamily="18" charset="0"/>
                        <a:cs typeface="Times New Roman" panose="02020603050405020304" pitchFamily="18" charset="0"/>
                      </a:rPr>
                      <m:t>𝑋</m:t>
                    </m:r>
                    <m:r>
                      <a:rPr lang="vi-VN" sz="1400" i="1" dirty="0">
                        <a:solidFill>
                          <a:srgbClr val="002060"/>
                        </a:solidFill>
                        <a:latin typeface="Cambria Math" panose="02040503050406030204" pitchFamily="18" charset="0"/>
                        <a:cs typeface="Times New Roman" panose="02020603050405020304" pitchFamily="18" charset="0"/>
                      </a:rPr>
                      <m:t>1</m:t>
                    </m:r>
                    <m:r>
                      <a:rPr lang="vi-VN" sz="2400" i="1" dirty="0">
                        <a:solidFill>
                          <a:srgbClr val="002060"/>
                        </a:solidFill>
                        <a:latin typeface="Cambria Math" panose="02040503050406030204" pitchFamily="18" charset="0"/>
                        <a:cs typeface="Times New Roman" panose="02020603050405020304" pitchFamily="18" charset="0"/>
                      </a:rPr>
                      <m:t>; </m:t>
                    </m:r>
                    <m:r>
                      <a:rPr lang="vi-VN" sz="2400" i="1" dirty="0">
                        <a:solidFill>
                          <a:srgbClr val="002060"/>
                        </a:solidFill>
                        <a:latin typeface="Cambria Math" panose="02040503050406030204" pitchFamily="18" charset="0"/>
                        <a:cs typeface="Times New Roman" panose="02020603050405020304" pitchFamily="18" charset="0"/>
                      </a:rPr>
                      <m:t>𝑋</m:t>
                    </m:r>
                    <m:r>
                      <a:rPr lang="vi-VN" sz="1400" i="1" dirty="0">
                        <a:solidFill>
                          <a:srgbClr val="002060"/>
                        </a:solidFill>
                        <a:latin typeface="Cambria Math" panose="02040503050406030204" pitchFamily="18" charset="0"/>
                        <a:cs typeface="Times New Roman" panose="02020603050405020304" pitchFamily="18" charset="0"/>
                      </a:rPr>
                      <m:t>2</m:t>
                    </m:r>
                    <m:r>
                      <a:rPr lang="vi-VN" sz="2400" i="1" dirty="0">
                        <a:solidFill>
                          <a:srgbClr val="002060"/>
                        </a:solidFill>
                        <a:latin typeface="Cambria Math" panose="02040503050406030204" pitchFamily="18" charset="0"/>
                        <a:cs typeface="Times New Roman" panose="02020603050405020304" pitchFamily="18" charset="0"/>
                      </a:rPr>
                      <m:t>; </m:t>
                    </m:r>
                    <m:r>
                      <a:rPr lang="en-US" sz="2400" i="1" dirty="0">
                        <a:solidFill>
                          <a:srgbClr val="002060"/>
                        </a:solidFill>
                        <a:latin typeface="Cambria Math" panose="02040503050406030204" pitchFamily="18" charset="0"/>
                        <a:cs typeface="Times New Roman" panose="02020603050405020304" pitchFamily="18" charset="0"/>
                      </a:rPr>
                      <m:t>…</m:t>
                    </m:r>
                  </m:oMath>
                </a14:m>
                <a:endParaRPr lang="en-US" sz="2400" dirty="0">
                  <a:solidFill>
                    <a:srgbClr val="002060"/>
                  </a:solidFill>
                  <a:latin typeface="Arial" panose="020B0604020202020204" pitchFamily="34" charset="0"/>
                  <a:cs typeface="Arial" panose="020B0604020202020204" pitchFamily="34" charset="0"/>
                </a:endParaRPr>
              </a:p>
              <a:p>
                <a:pPr algn="just"/>
                <a:r>
                  <a:rPr lang="en-US" sz="2400" dirty="0" err="1">
                    <a:solidFill>
                      <a:srgbClr val="002060"/>
                    </a:solidFill>
                    <a:latin typeface="Arial" panose="020B0604020202020204" pitchFamily="34" charset="0"/>
                    <a:cs typeface="Arial" panose="020B0604020202020204" pitchFamily="34" charset="0"/>
                  </a:rPr>
                  <a:t>Cá</a:t>
                </a:r>
                <a:r>
                  <a:rPr lang="vi-VN" sz="2400" dirty="0">
                    <a:solidFill>
                      <a:srgbClr val="002060"/>
                    </a:solidFill>
                    <a:latin typeface="Arial" panose="020B0604020202020204" pitchFamily="34" charset="0"/>
                    <a:cs typeface="Arial" panose="020B0604020202020204" pitchFamily="34" charset="0"/>
                  </a:rPr>
                  <a:t>c gi</a:t>
                </a:r>
                <a:r>
                  <a:rPr lang="en-US" sz="2400" dirty="0" err="1">
                    <a:solidFill>
                      <a:srgbClr val="002060"/>
                    </a:solidFill>
                    <a:latin typeface="Arial" panose="020B0604020202020204" pitchFamily="34" charset="0"/>
                    <a:cs typeface="Arial" panose="020B0604020202020204" pitchFamily="34" charset="0"/>
                  </a:rPr>
                  <a:t>á</a:t>
                </a:r>
                <a:r>
                  <a:rPr lang="vi-VN" sz="2400" dirty="0">
                    <a:solidFill>
                      <a:srgbClr val="002060"/>
                    </a:solidFill>
                    <a:latin typeface="Arial" panose="020B0604020202020204" pitchFamily="34" charset="0"/>
                    <a:cs typeface="Arial" panose="020B0604020202020204" pitchFamily="34" charset="0"/>
                  </a:rPr>
                  <a:t> trị </a:t>
                </a:r>
                <a:r>
                  <a:rPr lang="en-US" sz="2400" dirty="0" err="1">
                    <a:solidFill>
                      <a:srgbClr val="002060"/>
                    </a:solidFill>
                    <a:latin typeface="Arial" panose="020B0604020202020204" pitchFamily="34" charset="0"/>
                    <a:cs typeface="Arial" panose="020B0604020202020204" pitchFamily="34" charset="0"/>
                  </a:rPr>
                  <a:t>của</a:t>
                </a:r>
                <a:r>
                  <a:rPr lang="en-US" sz="2400" dirty="0">
                    <a:solidFill>
                      <a:srgbClr val="002060"/>
                    </a:solidFill>
                    <a:latin typeface="Arial" panose="020B0604020202020204" pitchFamily="34" charset="0"/>
                    <a:cs typeface="Arial" panose="020B0604020202020204" pitchFamily="34" charset="0"/>
                  </a:rPr>
                  <a:t> BNN </a:t>
                </a:r>
                <a:r>
                  <a:rPr lang="en-US" sz="2400" dirty="0" err="1">
                    <a:solidFill>
                      <a:srgbClr val="002060"/>
                    </a:solidFill>
                    <a:latin typeface="Arial" panose="020B0604020202020204" pitchFamily="34" charset="0"/>
                    <a:cs typeface="Arial" panose="020B0604020202020204" pitchFamily="34" charset="0"/>
                  </a:rPr>
                  <a:t>ký</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hiệu</a:t>
                </a:r>
                <a:r>
                  <a:rPr lang="en-US" sz="2400" dirty="0">
                    <a:solidFill>
                      <a:srgbClr val="002060"/>
                    </a:solidFill>
                    <a:latin typeface="Arial" panose="020B0604020202020204" pitchFamily="34" charset="0"/>
                    <a:cs typeface="Arial" panose="020B0604020202020204" pitchFamily="34" charset="0"/>
                  </a:rPr>
                  <a:t> </a:t>
                </a:r>
                <a:r>
                  <a:rPr lang="en-US" sz="2400" i="1" dirty="0">
                    <a:solidFill>
                      <a:srgbClr val="002060"/>
                    </a:solidFill>
                    <a:latin typeface="Times New Roman" panose="02020603050405020304" pitchFamily="18" charset="0"/>
                    <a:cs typeface="Times New Roman" panose="02020603050405020304" pitchFamily="18" charset="0"/>
                  </a:rPr>
                  <a:t>x, y </a:t>
                </a:r>
                <a:r>
                  <a:rPr lang="en-US" sz="2400" dirty="0">
                    <a:solidFill>
                      <a:srgbClr val="002060"/>
                    </a:solidFill>
                    <a:latin typeface="Arial" panose="020B0604020202020204" pitchFamily="34" charset="0"/>
                    <a:cs typeface="Arial" panose="020B0604020202020204" pitchFamily="34" charset="0"/>
                  </a:rPr>
                  <a:t>hay </a:t>
                </a:r>
                <a14:m>
                  <m:oMath xmlns:m="http://schemas.openxmlformats.org/officeDocument/2006/math">
                    <m:sSub>
                      <m:sSubPr>
                        <m:ctrlPr>
                          <a:rPr lang="en-US" sz="2400" b="0" i="1" smtClean="0">
                            <a:solidFill>
                              <a:srgbClr val="002060"/>
                            </a:solidFill>
                            <a:latin typeface="Cambria Math" panose="02040503050406030204" pitchFamily="18" charset="0"/>
                            <a:cs typeface="Times New Roman" panose="02020603050405020304" pitchFamily="18" charset="0"/>
                          </a:rPr>
                        </m:ctrlPr>
                      </m:sSubPr>
                      <m:e>
                        <m:r>
                          <a:rPr lang="en-US" sz="2400" b="0" i="1" smtClean="0">
                            <a:solidFill>
                              <a:srgbClr val="002060"/>
                            </a:solidFill>
                            <a:latin typeface="Cambria Math" panose="02040503050406030204" pitchFamily="18" charset="0"/>
                            <a:cs typeface="Times New Roman" panose="02020603050405020304" pitchFamily="18" charset="0"/>
                          </a:rPr>
                          <m:t>𝑥</m:t>
                        </m:r>
                      </m:e>
                      <m:sub>
                        <m:r>
                          <a:rPr lang="en-US" sz="2400" b="0" i="1" smtClean="0">
                            <a:solidFill>
                              <a:srgbClr val="002060"/>
                            </a:solidFill>
                            <a:latin typeface="Cambria Math" panose="02040503050406030204" pitchFamily="18" charset="0"/>
                            <a:cs typeface="Times New Roman" panose="02020603050405020304" pitchFamily="18" charset="0"/>
                          </a:rPr>
                          <m:t>1</m:t>
                        </m:r>
                      </m:sub>
                    </m:sSub>
                    <m:r>
                      <a:rPr lang="en-US" sz="2400" b="0" i="1" smtClean="0">
                        <a:solidFill>
                          <a:srgbClr val="002060"/>
                        </a:solidFill>
                        <a:latin typeface="Cambria Math" panose="02040503050406030204" pitchFamily="18" charset="0"/>
                        <a:cs typeface="Times New Roman" panose="02020603050405020304" pitchFamily="18" charset="0"/>
                      </a:rPr>
                      <m:t>,</m:t>
                    </m:r>
                    <m:sSub>
                      <m:sSubPr>
                        <m:ctrlPr>
                          <a:rPr lang="en-US" sz="2400" i="1">
                            <a:solidFill>
                              <a:srgbClr val="002060"/>
                            </a:solidFill>
                            <a:latin typeface="Cambria Math" panose="02040503050406030204" pitchFamily="18" charset="0"/>
                            <a:cs typeface="Times New Roman" panose="02020603050405020304" pitchFamily="18" charset="0"/>
                          </a:rPr>
                        </m:ctrlPr>
                      </m:sSubPr>
                      <m:e>
                        <m:r>
                          <a:rPr lang="en-US" sz="2400" i="1">
                            <a:solidFill>
                              <a:srgbClr val="002060"/>
                            </a:solidFill>
                            <a:latin typeface="Cambria Math" panose="02040503050406030204" pitchFamily="18" charset="0"/>
                            <a:cs typeface="Times New Roman" panose="02020603050405020304" pitchFamily="18" charset="0"/>
                          </a:rPr>
                          <m:t>𝑥</m:t>
                        </m:r>
                      </m:e>
                      <m:sub>
                        <m:r>
                          <a:rPr lang="en-US" sz="2400" b="0" i="1" smtClean="0">
                            <a:solidFill>
                              <a:srgbClr val="002060"/>
                            </a:solidFill>
                            <a:latin typeface="Cambria Math" panose="02040503050406030204" pitchFamily="18" charset="0"/>
                            <a:cs typeface="Times New Roman" panose="02020603050405020304" pitchFamily="18" charset="0"/>
                          </a:rPr>
                          <m:t>2</m:t>
                        </m:r>
                      </m:sub>
                    </m:sSub>
                    <m:r>
                      <a:rPr lang="en-US" sz="2400" b="0" i="1" smtClean="0">
                        <a:solidFill>
                          <a:srgbClr val="002060"/>
                        </a:solidFill>
                        <a:latin typeface="Cambria Math" panose="02040503050406030204" pitchFamily="18" charset="0"/>
                        <a:cs typeface="Times New Roman" panose="02020603050405020304" pitchFamily="18" charset="0"/>
                      </a:rPr>
                      <m:t>,…</m:t>
                    </m:r>
                  </m:oMath>
                </a14:m>
                <a:endParaRPr lang="en-US" sz="2400" dirty="0">
                  <a:solidFill>
                    <a:srgbClr val="002060"/>
                  </a:solidFill>
                  <a:latin typeface="Arial" panose="020B0604020202020204" pitchFamily="34" charset="0"/>
                  <a:cs typeface="Arial" panose="020B0604020202020204" pitchFamily="34" charset="0"/>
                </a:endParaRPr>
              </a:p>
              <a:p>
                <a:pPr marL="50800" indent="0" algn="just">
                  <a:buNone/>
                </a:pPr>
                <a:r>
                  <a:rPr lang="vi-VN" sz="2400" dirty="0">
                    <a:solidFill>
                      <a:srgbClr val="002060"/>
                    </a:solidFill>
                    <a:latin typeface="Arial" panose="020B0604020202020204" pitchFamily="34" charset="0"/>
                    <a:cs typeface="Arial" panose="020B0604020202020204" pitchFamily="34" charset="0"/>
                  </a:rPr>
                  <a:t>Vậy, </a:t>
                </a:r>
                <a:r>
                  <a:rPr lang="vi-VN" sz="2400" dirty="0">
                    <a:solidFill>
                      <a:srgbClr val="00B050"/>
                    </a:solidFill>
                    <a:latin typeface="Arial" panose="020B0604020202020204" pitchFamily="34" charset="0"/>
                    <a:cs typeface="Arial" panose="020B0604020202020204" pitchFamily="34" charset="0"/>
                  </a:rPr>
                  <a:t>X </a:t>
                </a:r>
                <a:r>
                  <a:rPr lang="vi-VN" sz="2400" dirty="0">
                    <a:solidFill>
                      <a:srgbClr val="002060"/>
                    </a:solidFill>
                    <a:latin typeface="Arial" panose="020B0604020202020204" pitchFamily="34" charset="0"/>
                    <a:cs typeface="Arial" panose="020B0604020202020204" pitchFamily="34" charset="0"/>
                  </a:rPr>
                  <a:t>mang tính </a:t>
                </a:r>
                <a:r>
                  <a:rPr lang="vi-VN" sz="2400" dirty="0">
                    <a:solidFill>
                      <a:srgbClr val="00B050"/>
                    </a:solidFill>
                    <a:latin typeface="Arial" panose="020B0604020202020204" pitchFamily="34" charset="0"/>
                    <a:cs typeface="Arial" panose="020B0604020202020204" pitchFamily="34" charset="0"/>
                  </a:rPr>
                  <a:t>ngẫu nhiên</a:t>
                </a:r>
                <a:r>
                  <a:rPr lang="vi-VN" sz="2400" dirty="0">
                    <a:solidFill>
                      <a:srgbClr val="002060"/>
                    </a:solidFill>
                    <a:latin typeface="Arial" panose="020B0604020202020204" pitchFamily="34" charset="0"/>
                    <a:cs typeface="Arial" panose="020B0604020202020204" pitchFamily="34" charset="0"/>
                  </a:rPr>
                  <a:t>, còn</a:t>
                </a:r>
                <a:r>
                  <a:rPr lang="en-US" sz="2400" i="1" dirty="0">
                    <a:solidFill>
                      <a:srgbClr val="002060"/>
                    </a:solidFill>
                    <a:latin typeface="Times New Roman" panose="02020603050405020304" pitchFamily="18" charset="0"/>
                    <a:cs typeface="Times New Roman" panose="02020603050405020304" pitchFamily="18" charset="0"/>
                  </a:rPr>
                  <a:t> </a:t>
                </a:r>
                <a:r>
                  <a:rPr lang="en-US" sz="2400" i="1" dirty="0">
                    <a:solidFill>
                      <a:srgbClr val="00B050"/>
                    </a:solidFill>
                    <a:latin typeface="Times New Roman" panose="02020603050405020304" pitchFamily="18" charset="0"/>
                    <a:cs typeface="Times New Roman" panose="02020603050405020304" pitchFamily="18" charset="0"/>
                  </a:rPr>
                  <a:t>x</a:t>
                </a:r>
                <a:r>
                  <a:rPr lang="vi-VN" sz="2400" dirty="0">
                    <a:solidFill>
                      <a:srgbClr val="002060"/>
                    </a:solidFill>
                    <a:latin typeface="Arial" panose="020B0604020202020204" pitchFamily="34" charset="0"/>
                    <a:cs typeface="Arial" panose="020B0604020202020204" pitchFamily="34" charset="0"/>
                  </a:rPr>
                  <a:t> là </a:t>
                </a:r>
                <a:r>
                  <a:rPr lang="vi-VN" sz="2400" dirty="0">
                    <a:solidFill>
                      <a:srgbClr val="00B050"/>
                    </a:solidFill>
                    <a:latin typeface="Arial" panose="020B0604020202020204" pitchFamily="34" charset="0"/>
                    <a:cs typeface="Arial" panose="020B0604020202020204" pitchFamily="34" charset="0"/>
                  </a:rPr>
                  <a:t>giá trị cụ thể </a:t>
                </a:r>
                <a:r>
                  <a:rPr lang="vi-VN" sz="2400" dirty="0">
                    <a:solidFill>
                      <a:srgbClr val="002060"/>
                    </a:solidFill>
                    <a:latin typeface="Arial" panose="020B0604020202020204" pitchFamily="34" charset="0"/>
                    <a:cs typeface="Arial" panose="020B0604020202020204" pitchFamily="34" charset="0"/>
                  </a:rPr>
                  <a:t>quan sát được khi phép thử đã tiến hành</a:t>
                </a:r>
                <a:endParaRPr lang="en-US" sz="2400" dirty="0">
                  <a:solidFill>
                    <a:srgbClr val="002060"/>
                  </a:solidFill>
                  <a:latin typeface="Arial" panose="020B0604020202020204" pitchFamily="34" charset="0"/>
                  <a:cs typeface="Arial" panose="020B0604020202020204" pitchFamily="34" charset="0"/>
                </a:endParaRPr>
              </a:p>
              <a:p>
                <a:pPr marL="50800" indent="0" algn="just">
                  <a:buNone/>
                </a:pPr>
                <a:endParaRPr lang="en-US" sz="2400" dirty="0">
                  <a:solidFill>
                    <a:srgbClr val="002060"/>
                  </a:solidFill>
                  <a:latin typeface="Arial" panose="020B0604020202020204" pitchFamily="34" charset="0"/>
                  <a:cs typeface="Arial" panose="020B0604020202020204" pitchFamily="34" charset="0"/>
                </a:endParaRPr>
              </a:p>
            </p:txBody>
          </p:sp>
        </mc:Choice>
        <mc:Fallback xmlns="">
          <p:sp>
            <p:nvSpPr>
              <p:cNvPr id="2" name="Text Placeholder 1"/>
              <p:cNvSpPr>
                <a:spLocks noGrp="1" noRot="1" noChangeAspect="1" noMove="1" noResize="1" noEditPoints="1" noAdjustHandles="1" noChangeArrowheads="1" noChangeShapeType="1" noTextEdit="1"/>
              </p:cNvSpPr>
              <p:nvPr>
                <p:ph type="body" idx="1"/>
              </p:nvPr>
            </p:nvSpPr>
            <p:spPr>
              <a:xfrm>
                <a:off x="393361" y="1010554"/>
                <a:ext cx="8357278" cy="3250549"/>
              </a:xfrm>
              <a:blipFill>
                <a:blip r:embed="rId3"/>
                <a:stretch>
                  <a:fillRect l="-1064" r="-1216" b="-1167"/>
                </a:stretch>
              </a:blipFill>
            </p:spPr>
            <p:txBody>
              <a:bodyPr/>
              <a:lstStyle/>
              <a:p>
                <a:r>
                  <a:rPr lang="en-VN">
                    <a:noFill/>
                  </a:rPr>
                  <a:t> </a:t>
                </a:r>
              </a:p>
            </p:txBody>
          </p:sp>
        </mc:Fallback>
      </mc:AlternateContent>
      <p:pic>
        <p:nvPicPr>
          <p:cNvPr id="3" name="Picture 2" descr="Dai Nam [PPT] Template 11.png">
            <a:extLst>
              <a:ext uri="{FF2B5EF4-FFF2-40B4-BE49-F238E27FC236}">
                <a16:creationId xmlns:a16="http://schemas.microsoft.com/office/drawing/2014/main" id="{369E7D9D-2FEB-BA55-6F9D-4498F733CC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p19"/>
          <p:cNvSpPr txBox="1">
            <a:spLocks noGrp="1"/>
          </p:cNvSpPr>
          <p:nvPr>
            <p:ph type="body" idx="1"/>
          </p:nvPr>
        </p:nvSpPr>
        <p:spPr>
          <a:xfrm>
            <a:off x="301055" y="680111"/>
            <a:ext cx="8541890" cy="3987534"/>
          </a:xfrm>
          <a:prstGeom prst="rect">
            <a:avLst/>
          </a:prstGeom>
        </p:spPr>
        <p:txBody>
          <a:bodyPr spcFirstLastPara="1" wrap="square" lIns="91425" tIns="91425" rIns="91425" bIns="91425" anchor="t" anchorCtr="0">
            <a:noAutofit/>
          </a:bodyPr>
          <a:lstStyle/>
          <a:p>
            <a:pPr marL="0" lvl="0" indent="0" algn="just" rtl="0">
              <a:lnSpc>
                <a:spcPct val="150000"/>
              </a:lnSpc>
              <a:spcBef>
                <a:spcPts val="600"/>
              </a:spcBef>
              <a:spcAft>
                <a:spcPts val="0"/>
              </a:spcAft>
              <a:buNone/>
            </a:pPr>
            <a:r>
              <a:rPr lang="en-US" sz="2200" b="1" dirty="0" err="1">
                <a:solidFill>
                  <a:srgbClr val="002060"/>
                </a:solidFill>
                <a:latin typeface="Arial" panose="020B0604020202020204" pitchFamily="34" charset="0"/>
                <a:cs typeface="Arial" panose="020B0604020202020204" pitchFamily="34" charset="0"/>
              </a:rPr>
              <a:t>Ví</a:t>
            </a:r>
            <a:r>
              <a:rPr lang="en-US" sz="2200" b="1" dirty="0">
                <a:solidFill>
                  <a:srgbClr val="002060"/>
                </a:solidFill>
                <a:latin typeface="Arial" panose="020B0604020202020204" pitchFamily="34" charset="0"/>
                <a:cs typeface="Arial" panose="020B0604020202020204" pitchFamily="34" charset="0"/>
              </a:rPr>
              <a:t> </a:t>
            </a:r>
            <a:r>
              <a:rPr lang="en-US" sz="2200" b="1" dirty="0" err="1">
                <a:solidFill>
                  <a:srgbClr val="002060"/>
                </a:solidFill>
                <a:latin typeface="Arial" panose="020B0604020202020204" pitchFamily="34" charset="0"/>
                <a:cs typeface="Arial" panose="020B0604020202020204" pitchFamily="34" charset="0"/>
              </a:rPr>
              <a:t>dụ</a:t>
            </a:r>
            <a:endParaRPr lang="en-US" sz="2200" b="1" dirty="0">
              <a:solidFill>
                <a:srgbClr val="002060"/>
              </a:solidFill>
              <a:latin typeface="Arial" panose="020B0604020202020204" pitchFamily="34" charset="0"/>
              <a:cs typeface="Arial" panose="020B0604020202020204" pitchFamily="34" charset="0"/>
            </a:endParaRPr>
          </a:p>
          <a:p>
            <a:pPr marL="342900" indent="-342900" algn="just">
              <a:lnSpc>
                <a:spcPct val="150000"/>
              </a:lnSpc>
              <a:buClr>
                <a:srgbClr val="92D050"/>
              </a:buClr>
              <a:buSzPct val="120000"/>
              <a:buFont typeface="Courier New" panose="02070309020205020404" pitchFamily="49" charset="0"/>
              <a:buChar char="o"/>
            </a:pP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X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là</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số</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chấm</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xuất</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hiện</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khi</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gieo</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một</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con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xúc</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sắc</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p>
          <a:p>
            <a:pPr marL="0" indent="0" algn="just">
              <a:lnSpc>
                <a:spcPct val="150000"/>
              </a:lnSpc>
              <a:buClr>
                <a:srgbClr val="92D050"/>
              </a:buClr>
              <a:buSzPct val="120000"/>
              <a:buNone/>
            </a:pPr>
            <a:r>
              <a:rPr lang="en-US" sz="2200" dirty="0">
                <a:latin typeface="Arial" panose="020B0604020202020204" pitchFamily="34" charset="0"/>
                <a:ea typeface="Calibri" panose="020F0502020204030204" pitchFamily="34" charset="0"/>
                <a:cs typeface="Arial" panose="020B0604020202020204" pitchFamily="34" charset="0"/>
              </a:rPr>
              <a:t>     </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X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có</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thể</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nhận</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một</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trong</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các</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giá</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trị</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1, 2, 3, 4, 5, 6. </a:t>
            </a:r>
          </a:p>
          <a:p>
            <a:pPr marL="342900" indent="-342900" algn="just">
              <a:lnSpc>
                <a:spcPct val="150000"/>
              </a:lnSpc>
              <a:buClr>
                <a:srgbClr val="92D050"/>
              </a:buClr>
              <a:buSzPct val="120000"/>
              <a:buFont typeface="Courier New" panose="02070309020205020404" pitchFamily="49" charset="0"/>
              <a:buChar char="o"/>
            </a:pP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Bắn</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1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viên</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đạn</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vào</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bia</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có</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bán</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kính</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là</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20cm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và</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giả</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sử</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viên</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đạn</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trúng</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bia</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Gọi</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Z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là</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khoảng</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cách</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từ</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tâm</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bia</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tới</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điểm</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bia</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trúng</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002060"/>
                </a:solidFill>
                <a:latin typeface="Arial" panose="020B0604020202020204" pitchFamily="34" charset="0"/>
                <a:ea typeface="Calibri" panose="020F0502020204030204" pitchFamily="34" charset="0"/>
                <a:cs typeface="Arial" panose="020B0604020202020204" pitchFamily="34" charset="0"/>
              </a:rPr>
              <a:t>đạn</a:t>
            </a:r>
            <a:r>
              <a:rPr lang="en-US" sz="2200" dirty="0">
                <a:solidFill>
                  <a:srgbClr val="002060"/>
                </a:solidFill>
                <a:latin typeface="Arial" panose="020B0604020202020204" pitchFamily="34" charset="0"/>
                <a:ea typeface="Calibri" panose="020F0502020204030204" pitchFamily="34" charset="0"/>
                <a:cs typeface="Arial" panose="020B0604020202020204" pitchFamily="34" charset="0"/>
              </a:rPr>
              <a:t>.</a:t>
            </a:r>
          </a:p>
          <a:p>
            <a:pPr marL="0" indent="0" algn="just">
              <a:lnSpc>
                <a:spcPct val="150000"/>
              </a:lnSpc>
              <a:buClr>
                <a:srgbClr val="92D050"/>
              </a:buClr>
              <a:buSzPct val="120000"/>
              <a:buNone/>
            </a:pPr>
            <a:r>
              <a:rPr lang="en-US" sz="2200" dirty="0">
                <a:latin typeface="Arial" panose="020B0604020202020204" pitchFamily="34" charset="0"/>
                <a:ea typeface="Calibri" panose="020F0502020204030204" pitchFamily="34" charset="0"/>
                <a:cs typeface="Arial" panose="020B0604020202020204" pitchFamily="34" charset="0"/>
              </a:rPr>
              <a:t>     </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Z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có</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thể</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nhận</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các</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giá</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trị</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thuộc</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nửa</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a:t>
            </a:r>
            <a:r>
              <a:rPr lang="en-US" sz="2200" dirty="0" err="1">
                <a:solidFill>
                  <a:srgbClr val="C00000"/>
                </a:solidFill>
                <a:latin typeface="Arial" panose="020B0604020202020204" pitchFamily="34" charset="0"/>
                <a:ea typeface="Calibri" panose="020F0502020204030204" pitchFamily="34" charset="0"/>
                <a:cs typeface="Arial" panose="020B0604020202020204" pitchFamily="34" charset="0"/>
              </a:rPr>
              <a:t>đoạn</a:t>
            </a:r>
            <a:r>
              <a:rPr lang="en-US" sz="2200" dirty="0">
                <a:solidFill>
                  <a:srgbClr val="C00000"/>
                </a:solidFill>
                <a:latin typeface="Arial" panose="020B0604020202020204" pitchFamily="34" charset="0"/>
                <a:ea typeface="Calibri" panose="020F0502020204030204" pitchFamily="34" charset="0"/>
                <a:cs typeface="Arial" panose="020B0604020202020204" pitchFamily="34" charset="0"/>
              </a:rPr>
              <a:t> [0; 20).</a:t>
            </a:r>
            <a:endParaRPr lang="en-US" sz="2200" dirty="0">
              <a:solidFill>
                <a:srgbClr val="C00000"/>
              </a:solidFill>
              <a:latin typeface="Arial" panose="020B0604020202020204" pitchFamily="34" charset="0"/>
              <a:cs typeface="Arial" panose="020B0604020202020204" pitchFamily="34" charset="0"/>
            </a:endParaRPr>
          </a:p>
          <a:p>
            <a:pPr marL="342900" indent="-342900" algn="just">
              <a:lnSpc>
                <a:spcPct val="150000"/>
              </a:lnSpc>
              <a:buClr>
                <a:srgbClr val="92D050"/>
              </a:buClr>
              <a:buSzPct val="120000"/>
              <a:buFont typeface="Courier New" panose="02070309020205020404" pitchFamily="49" charset="0"/>
              <a:buChar char="o"/>
            </a:pPr>
            <a:endParaRPr lang="en-US" sz="2200" dirty="0">
              <a:latin typeface="Arial" panose="020B0604020202020204" pitchFamily="34" charset="0"/>
              <a:ea typeface="Calibri" panose="020F0502020204030204" pitchFamily="34" charset="0"/>
              <a:cs typeface="Arial" panose="020B0604020202020204" pitchFamily="34" charset="0"/>
            </a:endParaRPr>
          </a:p>
        </p:txBody>
      </p:sp>
      <p:sp>
        <p:nvSpPr>
          <p:cNvPr id="272" name="Google Shape;272;p19"/>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sp>
        <p:nvSpPr>
          <p:cNvPr id="7" name="Google Shape;242;p17"/>
          <p:cNvSpPr txBox="1">
            <a:spLocks noGrp="1"/>
          </p:cNvSpPr>
          <p:nvPr>
            <p:ph type="title"/>
          </p:nvPr>
        </p:nvSpPr>
        <p:spPr>
          <a:xfrm>
            <a:off x="2208241" y="64008"/>
            <a:ext cx="5276218" cy="822960"/>
          </a:xfrm>
          <a:prstGeom prst="rect">
            <a:avLst/>
          </a:prstGeom>
        </p:spPr>
        <p:txBody>
          <a:bodyPr spcFirstLastPara="1" wrap="square" lIns="91425" tIns="91425" rIns="91425" bIns="91425" anchor="ctr" anchorCtr="0">
            <a:noAutofit/>
          </a:bodyPr>
          <a:lstStyle/>
          <a:p>
            <a:pPr lvl="0"/>
            <a:r>
              <a:rPr lang="en-US" sz="2800" spc="-5" dirty="0" err="1">
                <a:solidFill>
                  <a:srgbClr val="002060"/>
                </a:solidFill>
                <a:latin typeface="Arial" panose="020B0604020202020204" pitchFamily="34" charset="0"/>
                <a:cs typeface="Arial" panose="020B0604020202020204" pitchFamily="34" charset="0"/>
              </a:rPr>
              <a:t>Định</a:t>
            </a:r>
            <a:r>
              <a:rPr lang="en-US" sz="2800" spc="-5" dirty="0">
                <a:solidFill>
                  <a:srgbClr val="002060"/>
                </a:solidFill>
                <a:latin typeface="Arial" panose="020B0604020202020204" pitchFamily="34" charset="0"/>
                <a:cs typeface="Arial" panose="020B0604020202020204" pitchFamily="34" charset="0"/>
              </a:rPr>
              <a:t> </a:t>
            </a:r>
            <a:r>
              <a:rPr lang="en-US" sz="2800" spc="-5" dirty="0" err="1">
                <a:solidFill>
                  <a:srgbClr val="002060"/>
                </a:solidFill>
                <a:latin typeface="Arial" panose="020B0604020202020204" pitchFamily="34" charset="0"/>
                <a:cs typeface="Arial" panose="020B0604020202020204" pitchFamily="34" charset="0"/>
              </a:rPr>
              <a:t>nghĩa</a:t>
            </a:r>
            <a:r>
              <a:rPr lang="en-US" sz="2800" spc="-5" dirty="0">
                <a:solidFill>
                  <a:srgbClr val="002060"/>
                </a:solidFill>
                <a:latin typeface="Arial" panose="020B0604020202020204" pitchFamily="34" charset="0"/>
                <a:cs typeface="Arial" panose="020B0604020202020204" pitchFamily="34" charset="0"/>
              </a:rPr>
              <a:t> </a:t>
            </a:r>
            <a:r>
              <a:rPr lang="en-US" sz="2800" spc="-5" dirty="0" err="1">
                <a:solidFill>
                  <a:srgbClr val="002060"/>
                </a:solidFill>
                <a:latin typeface="Arial" panose="020B0604020202020204" pitchFamily="34" charset="0"/>
                <a:cs typeface="Arial" panose="020B0604020202020204" pitchFamily="34" charset="0"/>
              </a:rPr>
              <a:t>biến</a:t>
            </a:r>
            <a:r>
              <a:rPr lang="en-US" sz="2800" spc="-5" dirty="0">
                <a:solidFill>
                  <a:srgbClr val="002060"/>
                </a:solidFill>
                <a:latin typeface="Arial" panose="020B0604020202020204" pitchFamily="34" charset="0"/>
                <a:cs typeface="Arial" panose="020B0604020202020204" pitchFamily="34" charset="0"/>
              </a:rPr>
              <a:t> </a:t>
            </a:r>
            <a:r>
              <a:rPr lang="en-US" sz="2800" spc="-5" dirty="0" err="1">
                <a:solidFill>
                  <a:srgbClr val="002060"/>
                </a:solidFill>
                <a:latin typeface="Arial" panose="020B0604020202020204" pitchFamily="34" charset="0"/>
                <a:cs typeface="Arial" panose="020B0604020202020204" pitchFamily="34" charset="0"/>
              </a:rPr>
              <a:t>ngẫu</a:t>
            </a:r>
            <a:r>
              <a:rPr lang="en-US" sz="2800" spc="-5" dirty="0">
                <a:solidFill>
                  <a:srgbClr val="002060"/>
                </a:solidFill>
                <a:latin typeface="Arial" panose="020B0604020202020204" pitchFamily="34" charset="0"/>
                <a:cs typeface="Arial" panose="020B0604020202020204" pitchFamily="34" charset="0"/>
              </a:rPr>
              <a:t> </a:t>
            </a:r>
            <a:r>
              <a:rPr lang="en-US" sz="2800" spc="-5" dirty="0" err="1">
                <a:solidFill>
                  <a:srgbClr val="002060"/>
                </a:solidFill>
                <a:latin typeface="Arial" panose="020B0604020202020204" pitchFamily="34" charset="0"/>
                <a:cs typeface="Arial" panose="020B0604020202020204" pitchFamily="34" charset="0"/>
              </a:rPr>
              <a:t>nhiên</a:t>
            </a:r>
            <a:endParaRPr sz="2800" dirty="0">
              <a:solidFill>
                <a:srgbClr val="002060"/>
              </a:solidFill>
              <a:latin typeface="Arial" panose="020B0604020202020204" pitchFamily="34" charset="0"/>
              <a:cs typeface="Arial" panose="020B0604020202020204" pitchFamily="34" charset="0"/>
            </a:endParaRPr>
          </a:p>
        </p:txBody>
      </p:sp>
      <p:pic>
        <p:nvPicPr>
          <p:cNvPr id="2" name="Picture 1" descr="Dai Nam [PPT] Template 11.png">
            <a:extLst>
              <a:ext uri="{FF2B5EF4-FFF2-40B4-BE49-F238E27FC236}">
                <a16:creationId xmlns:a16="http://schemas.microsoft.com/office/drawing/2014/main" id="{CBBB3D4F-CE6D-8CB1-DDD2-CDADA16BFA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276"/>
        <p:cNvGrpSpPr/>
        <p:nvPr/>
      </p:nvGrpSpPr>
      <p:grpSpPr>
        <a:xfrm>
          <a:off x="0" y="0"/>
          <a:ext cx="0" cy="0"/>
          <a:chOff x="0" y="0"/>
          <a:chExt cx="0" cy="0"/>
        </a:xfrm>
      </p:grpSpPr>
      <p:sp>
        <p:nvSpPr>
          <p:cNvPr id="277" name="Google Shape;277;p20"/>
          <p:cNvSpPr txBox="1">
            <a:spLocks noGrp="1"/>
          </p:cNvSpPr>
          <p:nvPr>
            <p:ph type="title"/>
          </p:nvPr>
        </p:nvSpPr>
        <p:spPr>
          <a:xfrm>
            <a:off x="1994229" y="62962"/>
            <a:ext cx="5318774" cy="725544"/>
          </a:xfrm>
          <a:prstGeom prst="rect">
            <a:avLst/>
          </a:prstGeom>
        </p:spPr>
        <p:txBody>
          <a:bodyPr spcFirstLastPara="1" wrap="square" lIns="91425" tIns="91425" rIns="91425" bIns="91425" anchor="ctr" anchorCtr="0">
            <a:noAutofit/>
          </a:bodyPr>
          <a:lstStyle/>
          <a:p>
            <a:pPr lvl="0"/>
            <a:r>
              <a:rPr lang="en-US" sz="2800" spc="-5" dirty="0" err="1">
                <a:solidFill>
                  <a:srgbClr val="002060"/>
                </a:solidFill>
                <a:latin typeface="Arial" panose="020B0604020202020204" pitchFamily="34" charset="0"/>
                <a:cs typeface="Arial" panose="020B0604020202020204" pitchFamily="34" charset="0"/>
              </a:rPr>
              <a:t>Phân</a:t>
            </a:r>
            <a:r>
              <a:rPr lang="en-US" sz="2800" spc="-5" dirty="0">
                <a:solidFill>
                  <a:srgbClr val="002060"/>
                </a:solidFill>
                <a:latin typeface="Arial" panose="020B0604020202020204" pitchFamily="34" charset="0"/>
                <a:cs typeface="Arial" panose="020B0604020202020204" pitchFamily="34" charset="0"/>
              </a:rPr>
              <a:t> </a:t>
            </a:r>
            <a:r>
              <a:rPr lang="en-US" sz="2800" spc="-5" dirty="0" err="1">
                <a:solidFill>
                  <a:srgbClr val="002060"/>
                </a:solidFill>
                <a:latin typeface="Arial" panose="020B0604020202020204" pitchFamily="34" charset="0"/>
                <a:cs typeface="Arial" panose="020B0604020202020204" pitchFamily="34" charset="0"/>
              </a:rPr>
              <a:t>loại</a:t>
            </a:r>
            <a:r>
              <a:rPr lang="en-US" sz="2800" spc="-5" dirty="0">
                <a:solidFill>
                  <a:srgbClr val="002060"/>
                </a:solidFill>
                <a:latin typeface="Arial" panose="020B0604020202020204" pitchFamily="34" charset="0"/>
                <a:cs typeface="Arial" panose="020B0604020202020204" pitchFamily="34" charset="0"/>
              </a:rPr>
              <a:t> </a:t>
            </a:r>
            <a:r>
              <a:rPr lang="en-US" sz="2800" spc="-5" dirty="0" err="1">
                <a:solidFill>
                  <a:srgbClr val="002060"/>
                </a:solidFill>
                <a:latin typeface="Arial" panose="020B0604020202020204" pitchFamily="34" charset="0"/>
                <a:cs typeface="Arial" panose="020B0604020202020204" pitchFamily="34" charset="0"/>
              </a:rPr>
              <a:t>biến</a:t>
            </a:r>
            <a:r>
              <a:rPr lang="en-US" sz="2800" spc="-5" dirty="0">
                <a:solidFill>
                  <a:srgbClr val="002060"/>
                </a:solidFill>
                <a:latin typeface="Arial" panose="020B0604020202020204" pitchFamily="34" charset="0"/>
                <a:cs typeface="Arial" panose="020B0604020202020204" pitchFamily="34" charset="0"/>
              </a:rPr>
              <a:t> </a:t>
            </a:r>
            <a:r>
              <a:rPr lang="en-US" sz="2800" spc="-5" dirty="0" err="1">
                <a:solidFill>
                  <a:srgbClr val="002060"/>
                </a:solidFill>
                <a:latin typeface="Arial" panose="020B0604020202020204" pitchFamily="34" charset="0"/>
                <a:cs typeface="Arial" panose="020B0604020202020204" pitchFamily="34" charset="0"/>
              </a:rPr>
              <a:t>ngẫu</a:t>
            </a:r>
            <a:r>
              <a:rPr lang="en-US" sz="2800" spc="-5" dirty="0">
                <a:solidFill>
                  <a:srgbClr val="002060"/>
                </a:solidFill>
                <a:latin typeface="Arial" panose="020B0604020202020204" pitchFamily="34" charset="0"/>
                <a:cs typeface="Arial" panose="020B0604020202020204" pitchFamily="34" charset="0"/>
              </a:rPr>
              <a:t> </a:t>
            </a:r>
            <a:r>
              <a:rPr lang="en-US" sz="2800" spc="-5" dirty="0" err="1">
                <a:solidFill>
                  <a:srgbClr val="002060"/>
                </a:solidFill>
                <a:latin typeface="Arial" panose="020B0604020202020204" pitchFamily="34" charset="0"/>
                <a:cs typeface="Arial" panose="020B0604020202020204" pitchFamily="34" charset="0"/>
              </a:rPr>
              <a:t>nhiên</a:t>
            </a:r>
            <a:endParaRPr sz="2800" dirty="0">
              <a:solidFill>
                <a:srgbClr val="002060"/>
              </a:solidFill>
              <a:latin typeface="Arial" panose="020B0604020202020204" pitchFamily="34" charset="0"/>
              <a:cs typeface="Arial" panose="020B0604020202020204" pitchFamily="34" charset="0"/>
            </a:endParaRPr>
          </a:p>
        </p:txBody>
      </p:sp>
      <p:sp>
        <p:nvSpPr>
          <p:cNvPr id="278" name="Google Shape;278;p20"/>
          <p:cNvSpPr txBox="1">
            <a:spLocks noGrp="1"/>
          </p:cNvSpPr>
          <p:nvPr>
            <p:ph type="body" idx="1"/>
          </p:nvPr>
        </p:nvSpPr>
        <p:spPr>
          <a:xfrm>
            <a:off x="913922" y="1986811"/>
            <a:ext cx="3338424" cy="1748060"/>
          </a:xfrm>
          <a:prstGeom prst="rect">
            <a:avLst/>
          </a:prstGeom>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t" anchorCtr="0">
            <a:noAutofit/>
          </a:bodyPr>
          <a:lstStyle/>
          <a:p>
            <a:pPr marL="0" lvl="0" indent="0" algn="just" rtl="0">
              <a:spcBef>
                <a:spcPts val="600"/>
              </a:spcBef>
              <a:spcAft>
                <a:spcPts val="0"/>
              </a:spcAft>
              <a:buNone/>
            </a:pPr>
            <a:r>
              <a:rPr lang="en-US" sz="2000" b="1" dirty="0" err="1">
                <a:solidFill>
                  <a:srgbClr val="00B050"/>
                </a:solidFill>
                <a:latin typeface="Arial" panose="020B0604020202020204" pitchFamily="34" charset="0"/>
                <a:cs typeface="Arial" panose="020B0604020202020204" pitchFamily="34" charset="0"/>
              </a:rPr>
              <a:t>Biến</a:t>
            </a:r>
            <a:r>
              <a:rPr lang="en-US" sz="2000" b="1" dirty="0">
                <a:solidFill>
                  <a:srgbClr val="00B050"/>
                </a:solidFill>
                <a:latin typeface="Arial" panose="020B0604020202020204" pitchFamily="34" charset="0"/>
                <a:cs typeface="Arial" panose="020B0604020202020204" pitchFamily="34" charset="0"/>
              </a:rPr>
              <a:t> </a:t>
            </a:r>
            <a:r>
              <a:rPr lang="en-US" sz="2000" b="1" dirty="0" err="1">
                <a:solidFill>
                  <a:srgbClr val="00B050"/>
                </a:solidFill>
                <a:latin typeface="Arial" panose="020B0604020202020204" pitchFamily="34" charset="0"/>
                <a:cs typeface="Arial" panose="020B0604020202020204" pitchFamily="34" charset="0"/>
              </a:rPr>
              <a:t>ngẫu</a:t>
            </a:r>
            <a:r>
              <a:rPr lang="en-US" sz="2000" b="1" dirty="0">
                <a:solidFill>
                  <a:srgbClr val="00B050"/>
                </a:solidFill>
                <a:latin typeface="Arial" panose="020B0604020202020204" pitchFamily="34" charset="0"/>
                <a:cs typeface="Arial" panose="020B0604020202020204" pitchFamily="34" charset="0"/>
              </a:rPr>
              <a:t> </a:t>
            </a:r>
            <a:r>
              <a:rPr lang="en-US" sz="2000" b="1" dirty="0" err="1">
                <a:solidFill>
                  <a:srgbClr val="00B050"/>
                </a:solidFill>
                <a:latin typeface="Arial" panose="020B0604020202020204" pitchFamily="34" charset="0"/>
                <a:cs typeface="Arial" panose="020B0604020202020204" pitchFamily="34" charset="0"/>
              </a:rPr>
              <a:t>nhiên</a:t>
            </a:r>
            <a:r>
              <a:rPr lang="en-US" sz="2000" b="1" dirty="0">
                <a:solidFill>
                  <a:srgbClr val="00B050"/>
                </a:solidFill>
                <a:latin typeface="Arial" panose="020B0604020202020204" pitchFamily="34" charset="0"/>
                <a:cs typeface="Arial" panose="020B0604020202020204" pitchFamily="34" charset="0"/>
              </a:rPr>
              <a:t> </a:t>
            </a:r>
            <a:r>
              <a:rPr lang="en-US" sz="2000" b="1" dirty="0" err="1">
                <a:solidFill>
                  <a:srgbClr val="00B050"/>
                </a:solidFill>
                <a:latin typeface="Arial" panose="020B0604020202020204" pitchFamily="34" charset="0"/>
                <a:cs typeface="Arial" panose="020B0604020202020204" pitchFamily="34" charset="0"/>
              </a:rPr>
              <a:t>rời</a:t>
            </a:r>
            <a:r>
              <a:rPr lang="en-US" sz="2000" b="1" dirty="0">
                <a:solidFill>
                  <a:srgbClr val="00B050"/>
                </a:solidFill>
                <a:latin typeface="Arial" panose="020B0604020202020204" pitchFamily="34" charset="0"/>
                <a:cs typeface="Arial" panose="020B0604020202020204" pitchFamily="34" charset="0"/>
              </a:rPr>
              <a:t> </a:t>
            </a:r>
            <a:r>
              <a:rPr lang="en-US" sz="2000" b="1" dirty="0" err="1">
                <a:solidFill>
                  <a:srgbClr val="00B050"/>
                </a:solidFill>
                <a:latin typeface="Arial" panose="020B0604020202020204" pitchFamily="34" charset="0"/>
                <a:cs typeface="Arial" panose="020B0604020202020204" pitchFamily="34" charset="0"/>
              </a:rPr>
              <a:t>rạc</a:t>
            </a:r>
            <a:endParaRPr sz="2000" b="1" dirty="0">
              <a:solidFill>
                <a:srgbClr val="00B050"/>
              </a:solidFill>
              <a:latin typeface="Arial" panose="020B0604020202020204" pitchFamily="34" charset="0"/>
              <a:cs typeface="Arial" panose="020B0604020202020204" pitchFamily="34" charset="0"/>
            </a:endParaRPr>
          </a:p>
          <a:p>
            <a:pPr marL="0" lvl="0" indent="0" algn="just">
              <a:buNone/>
            </a:pPr>
            <a:r>
              <a:rPr lang="en-US" sz="2000" dirty="0" err="1">
                <a:solidFill>
                  <a:srgbClr val="002060"/>
                </a:solidFill>
                <a:latin typeface="Arial" panose="020B0604020202020204" pitchFamily="34" charset="0"/>
                <a:cs typeface="Arial" panose="020B0604020202020204" pitchFamily="34" charset="0"/>
              </a:rPr>
              <a:t>Tậ</a:t>
            </a:r>
            <a:r>
              <a:rPr lang="vi-VN" sz="2000" dirty="0">
                <a:solidFill>
                  <a:srgbClr val="002060"/>
                </a:solidFill>
                <a:latin typeface="Arial" panose="020B0604020202020204" pitchFamily="34" charset="0"/>
                <a:cs typeface="Arial" panose="020B0604020202020204" pitchFamily="34" charset="0"/>
              </a:rPr>
              <a:t>p gi</a:t>
            </a:r>
            <a:r>
              <a:rPr lang="en-US" sz="2000" dirty="0" err="1">
                <a:solidFill>
                  <a:srgbClr val="002060"/>
                </a:solidFill>
                <a:latin typeface="Arial" panose="020B0604020202020204" pitchFamily="34" charset="0"/>
                <a:cs typeface="Arial" panose="020B0604020202020204" pitchFamily="34" charset="0"/>
              </a:rPr>
              <a:t>á</a:t>
            </a:r>
            <a:r>
              <a:rPr lang="vi-VN" sz="2000" dirty="0">
                <a:solidFill>
                  <a:srgbClr val="002060"/>
                </a:solidFill>
                <a:latin typeface="Arial" panose="020B0604020202020204" pitchFamily="34" charset="0"/>
                <a:cs typeface="Arial" panose="020B0604020202020204" pitchFamily="34" charset="0"/>
              </a:rPr>
              <a:t> trị c</a:t>
            </a:r>
            <a:r>
              <a:rPr lang="en-US" sz="2000" dirty="0" err="1">
                <a:solidFill>
                  <a:srgbClr val="002060"/>
                </a:solidFill>
                <a:latin typeface="Arial" panose="020B0604020202020204" pitchFamily="34" charset="0"/>
                <a:cs typeface="Arial" panose="020B0604020202020204" pitchFamily="34" charset="0"/>
              </a:rPr>
              <a:t>ủ</a:t>
            </a:r>
            <a:r>
              <a:rPr lang="vi-VN" sz="2000" dirty="0">
                <a:solidFill>
                  <a:srgbClr val="002060"/>
                </a:solidFill>
                <a:latin typeface="Arial" panose="020B0604020202020204" pitchFamily="34" charset="0"/>
                <a:cs typeface="Arial" panose="020B0604020202020204" pitchFamily="34" charset="0"/>
              </a:rPr>
              <a:t>a nó là m</a:t>
            </a:r>
            <a:r>
              <a:rPr lang="en-US" sz="2000" dirty="0" err="1">
                <a:solidFill>
                  <a:srgbClr val="002060"/>
                </a:solidFill>
                <a:latin typeface="Arial" panose="020B0604020202020204" pitchFamily="34" charset="0"/>
                <a:cs typeface="Arial" panose="020B0604020202020204" pitchFamily="34" charset="0"/>
              </a:rPr>
              <a:t>ộ</a:t>
            </a:r>
            <a:r>
              <a:rPr lang="vi-VN" sz="2000" dirty="0">
                <a:solidFill>
                  <a:srgbClr val="002060"/>
                </a:solidFill>
                <a:latin typeface="Arial" panose="020B0604020202020204" pitchFamily="34" charset="0"/>
                <a:cs typeface="Arial" panose="020B0604020202020204" pitchFamily="34" charset="0"/>
              </a:rPr>
              <a:t>t t</a:t>
            </a:r>
            <a:r>
              <a:rPr lang="en-US" sz="2000" dirty="0" err="1">
                <a:solidFill>
                  <a:srgbClr val="002060"/>
                </a:solidFill>
                <a:latin typeface="Arial" panose="020B0604020202020204" pitchFamily="34" charset="0"/>
                <a:cs typeface="Arial" panose="020B0604020202020204" pitchFamily="34" charset="0"/>
              </a:rPr>
              <a:t>ậ</a:t>
            </a:r>
            <a:r>
              <a:rPr lang="vi-VN" sz="2000" dirty="0">
                <a:solidFill>
                  <a:srgbClr val="002060"/>
                </a:solidFill>
                <a:latin typeface="Arial" panose="020B0604020202020204" pitchFamily="34" charset="0"/>
                <a:cs typeface="Arial" panose="020B0604020202020204" pitchFamily="34" charset="0"/>
              </a:rPr>
              <a:t>p h</a:t>
            </a:r>
            <a:r>
              <a:rPr lang="en-US" sz="2000" dirty="0" err="1">
                <a:solidFill>
                  <a:srgbClr val="002060"/>
                </a:solidFill>
                <a:latin typeface="Arial" panose="020B0604020202020204" pitchFamily="34" charset="0"/>
                <a:cs typeface="Arial" panose="020B0604020202020204" pitchFamily="34" charset="0"/>
              </a:rPr>
              <a:t>ữ</a:t>
            </a:r>
            <a:r>
              <a:rPr lang="vi-VN" sz="2000" dirty="0">
                <a:solidFill>
                  <a:srgbClr val="002060"/>
                </a:solidFill>
                <a:latin typeface="Arial" panose="020B0604020202020204" pitchFamily="34" charset="0"/>
                <a:cs typeface="Arial" panose="020B0604020202020204" pitchFamily="34" charset="0"/>
              </a:rPr>
              <a:t>u h</a:t>
            </a:r>
            <a:r>
              <a:rPr lang="en-US" sz="2000" dirty="0" err="1">
                <a:solidFill>
                  <a:srgbClr val="002060"/>
                </a:solidFill>
                <a:latin typeface="Arial" panose="020B0604020202020204" pitchFamily="34" charset="0"/>
                <a:cs typeface="Arial" panose="020B0604020202020204" pitchFamily="34" charset="0"/>
              </a:rPr>
              <a:t>ạ</a:t>
            </a:r>
            <a:r>
              <a:rPr lang="vi-VN" sz="2000" dirty="0">
                <a:solidFill>
                  <a:srgbClr val="002060"/>
                </a:solidFill>
                <a:latin typeface="Arial" panose="020B0604020202020204" pitchFamily="34" charset="0"/>
                <a:cs typeface="Arial" panose="020B0604020202020204" pitchFamily="34" charset="0"/>
              </a:rPr>
              <a:t>n</a:t>
            </a:r>
            <a:r>
              <a:rPr lang="en-US" sz="2000" dirty="0">
                <a:solidFill>
                  <a:srgbClr val="002060"/>
                </a:solidFill>
                <a:latin typeface="Arial" panose="020B0604020202020204" pitchFamily="34" charset="0"/>
                <a:cs typeface="Arial" panose="020B0604020202020204" pitchFamily="34" charset="0"/>
              </a:rPr>
              <a:t> </a:t>
            </a:r>
            <a:r>
              <a:rPr lang="vi-VN" sz="2000" dirty="0">
                <a:solidFill>
                  <a:srgbClr val="002060"/>
                </a:solidFill>
                <a:latin typeface="Arial" panose="020B0604020202020204" pitchFamily="34" charset="0"/>
                <a:cs typeface="Arial" panose="020B0604020202020204" pitchFamily="34" charset="0"/>
              </a:rPr>
              <a:t>hoặc vô h</a:t>
            </a:r>
            <a:r>
              <a:rPr lang="en-US" sz="2000" dirty="0" err="1">
                <a:solidFill>
                  <a:srgbClr val="002060"/>
                </a:solidFill>
                <a:latin typeface="Arial" panose="020B0604020202020204" pitchFamily="34" charset="0"/>
                <a:cs typeface="Arial" panose="020B0604020202020204" pitchFamily="34" charset="0"/>
              </a:rPr>
              <a:t>ạ</a:t>
            </a:r>
            <a:r>
              <a:rPr lang="vi-VN" sz="2000" dirty="0">
                <a:solidFill>
                  <a:srgbClr val="002060"/>
                </a:solidFill>
                <a:latin typeface="Arial" panose="020B0604020202020204" pitchFamily="34" charset="0"/>
                <a:cs typeface="Arial" panose="020B0604020202020204" pitchFamily="34" charset="0"/>
              </a:rPr>
              <a:t>n đ</a:t>
            </a:r>
            <a:r>
              <a:rPr lang="en-US" sz="2000" dirty="0" err="1">
                <a:solidFill>
                  <a:srgbClr val="002060"/>
                </a:solidFill>
                <a:latin typeface="Arial" panose="020B0604020202020204" pitchFamily="34" charset="0"/>
                <a:cs typeface="Arial" panose="020B0604020202020204" pitchFamily="34" charset="0"/>
              </a:rPr>
              <a:t>ế</a:t>
            </a:r>
            <a:r>
              <a:rPr lang="vi-VN" sz="2000" dirty="0">
                <a:solidFill>
                  <a:srgbClr val="002060"/>
                </a:solidFill>
                <a:latin typeface="Arial" panose="020B0604020202020204" pitchFamily="34" charset="0"/>
                <a:cs typeface="Arial" panose="020B0604020202020204" pitchFamily="34" charset="0"/>
              </a:rPr>
              <a:t>m đư</a:t>
            </a:r>
            <a:r>
              <a:rPr lang="en-US" sz="2000" dirty="0" err="1">
                <a:solidFill>
                  <a:srgbClr val="002060"/>
                </a:solidFill>
                <a:latin typeface="Arial" panose="020B0604020202020204" pitchFamily="34" charset="0"/>
                <a:cs typeface="Arial" panose="020B0604020202020204" pitchFamily="34" charset="0"/>
              </a:rPr>
              <a:t>ợ</a:t>
            </a:r>
            <a:r>
              <a:rPr lang="vi-VN" sz="2000" dirty="0">
                <a:solidFill>
                  <a:srgbClr val="002060"/>
                </a:solidFill>
                <a:latin typeface="Arial" panose="020B0604020202020204" pitchFamily="34" charset="0"/>
                <a:cs typeface="Arial" panose="020B0604020202020204" pitchFamily="34" charset="0"/>
              </a:rPr>
              <a:t>c c</a:t>
            </a:r>
            <a:r>
              <a:rPr lang="en-US" sz="2000" dirty="0" err="1">
                <a:solidFill>
                  <a:srgbClr val="002060"/>
                </a:solidFill>
                <a:latin typeface="Arial" panose="020B0604020202020204" pitchFamily="34" charset="0"/>
                <a:cs typeface="Arial" panose="020B0604020202020204" pitchFamily="34" charset="0"/>
              </a:rPr>
              <a:t>á</a:t>
            </a:r>
            <a:r>
              <a:rPr lang="vi-VN" sz="2000" dirty="0">
                <a:solidFill>
                  <a:srgbClr val="002060"/>
                </a:solidFill>
                <a:latin typeface="Arial" panose="020B0604020202020204" pitchFamily="34" charset="0"/>
                <a:cs typeface="Arial" panose="020B0604020202020204" pitchFamily="34" charset="0"/>
              </a:rPr>
              <a:t>c ph</a:t>
            </a:r>
            <a:r>
              <a:rPr lang="en-US" sz="2000" dirty="0" err="1">
                <a:solidFill>
                  <a:srgbClr val="002060"/>
                </a:solidFill>
                <a:latin typeface="Arial" panose="020B0604020202020204" pitchFamily="34" charset="0"/>
                <a:cs typeface="Arial" panose="020B0604020202020204" pitchFamily="34" charset="0"/>
              </a:rPr>
              <a:t>ầ</a:t>
            </a:r>
            <a:r>
              <a:rPr lang="vi-VN" sz="2000" dirty="0">
                <a:solidFill>
                  <a:srgbClr val="002060"/>
                </a:solidFill>
                <a:latin typeface="Arial" panose="020B0604020202020204" pitchFamily="34" charset="0"/>
                <a:cs typeface="Arial" panose="020B0604020202020204" pitchFamily="34" charset="0"/>
              </a:rPr>
              <a:t>n t</a:t>
            </a:r>
            <a:r>
              <a:rPr lang="en-US" sz="2000" dirty="0" err="1">
                <a:solidFill>
                  <a:srgbClr val="002060"/>
                </a:solidFill>
                <a:latin typeface="Arial" panose="020B0604020202020204" pitchFamily="34" charset="0"/>
                <a:cs typeface="Arial" panose="020B0604020202020204" pitchFamily="34" charset="0"/>
              </a:rPr>
              <a:t>ử</a:t>
            </a:r>
            <a:endParaRPr sz="2000" dirty="0">
              <a:solidFill>
                <a:srgbClr val="002060"/>
              </a:solidFill>
              <a:latin typeface="Arial" panose="020B0604020202020204" pitchFamily="34" charset="0"/>
              <a:cs typeface="Arial" panose="020B0604020202020204" pitchFamily="34" charset="0"/>
            </a:endParaRPr>
          </a:p>
        </p:txBody>
      </p:sp>
      <p:sp>
        <p:nvSpPr>
          <p:cNvPr id="279" name="Google Shape;279;p20"/>
          <p:cNvSpPr txBox="1">
            <a:spLocks noGrp="1"/>
          </p:cNvSpPr>
          <p:nvPr>
            <p:ph type="body" idx="2"/>
          </p:nvPr>
        </p:nvSpPr>
        <p:spPr>
          <a:xfrm>
            <a:off x="4992702" y="1976997"/>
            <a:ext cx="3477289" cy="1748060"/>
          </a:xfrm>
          <a:prstGeom prst="rect">
            <a:avLst/>
          </a:prstGeom>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t" anchorCtr="0">
            <a:noAutofit/>
          </a:bodyPr>
          <a:lstStyle/>
          <a:p>
            <a:pPr marL="0" lvl="0" indent="0" algn="just" rtl="0">
              <a:spcBef>
                <a:spcPts val="600"/>
              </a:spcBef>
              <a:spcAft>
                <a:spcPts val="0"/>
              </a:spcAft>
              <a:buNone/>
            </a:pPr>
            <a:r>
              <a:rPr lang="en-US" sz="2000" b="1" dirty="0" err="1">
                <a:solidFill>
                  <a:srgbClr val="00B050"/>
                </a:solidFill>
                <a:latin typeface="Arial" panose="020B0604020202020204" pitchFamily="34" charset="0"/>
                <a:cs typeface="Arial" panose="020B0604020202020204" pitchFamily="34" charset="0"/>
              </a:rPr>
              <a:t>Biến</a:t>
            </a:r>
            <a:r>
              <a:rPr lang="en-US" sz="2000" b="1" dirty="0">
                <a:solidFill>
                  <a:srgbClr val="00B050"/>
                </a:solidFill>
                <a:latin typeface="Arial" panose="020B0604020202020204" pitchFamily="34" charset="0"/>
                <a:cs typeface="Arial" panose="020B0604020202020204" pitchFamily="34" charset="0"/>
              </a:rPr>
              <a:t> </a:t>
            </a:r>
            <a:r>
              <a:rPr lang="en-US" sz="2000" b="1" dirty="0" err="1">
                <a:solidFill>
                  <a:srgbClr val="00B050"/>
                </a:solidFill>
                <a:latin typeface="Arial" panose="020B0604020202020204" pitchFamily="34" charset="0"/>
                <a:cs typeface="Arial" panose="020B0604020202020204" pitchFamily="34" charset="0"/>
              </a:rPr>
              <a:t>ngẫu</a:t>
            </a:r>
            <a:r>
              <a:rPr lang="en-US" sz="2000" b="1" dirty="0">
                <a:solidFill>
                  <a:srgbClr val="00B050"/>
                </a:solidFill>
                <a:latin typeface="Arial" panose="020B0604020202020204" pitchFamily="34" charset="0"/>
                <a:cs typeface="Arial" panose="020B0604020202020204" pitchFamily="34" charset="0"/>
              </a:rPr>
              <a:t> </a:t>
            </a:r>
            <a:r>
              <a:rPr lang="en-US" sz="2000" b="1" dirty="0" err="1">
                <a:solidFill>
                  <a:srgbClr val="00B050"/>
                </a:solidFill>
                <a:latin typeface="Arial" panose="020B0604020202020204" pitchFamily="34" charset="0"/>
                <a:cs typeface="Arial" panose="020B0604020202020204" pitchFamily="34" charset="0"/>
              </a:rPr>
              <a:t>nhiên</a:t>
            </a:r>
            <a:r>
              <a:rPr lang="en-US" sz="2000" b="1" dirty="0">
                <a:solidFill>
                  <a:srgbClr val="00B050"/>
                </a:solidFill>
                <a:latin typeface="Arial" panose="020B0604020202020204" pitchFamily="34" charset="0"/>
                <a:cs typeface="Arial" panose="020B0604020202020204" pitchFamily="34" charset="0"/>
              </a:rPr>
              <a:t> </a:t>
            </a:r>
            <a:r>
              <a:rPr lang="en-US" sz="2000" b="1" dirty="0" err="1">
                <a:solidFill>
                  <a:srgbClr val="00B050"/>
                </a:solidFill>
                <a:latin typeface="Arial" panose="020B0604020202020204" pitchFamily="34" charset="0"/>
                <a:cs typeface="Arial" panose="020B0604020202020204" pitchFamily="34" charset="0"/>
              </a:rPr>
              <a:t>liên</a:t>
            </a:r>
            <a:r>
              <a:rPr lang="en-US" sz="2000" b="1" dirty="0">
                <a:solidFill>
                  <a:srgbClr val="00B050"/>
                </a:solidFill>
                <a:latin typeface="Arial" panose="020B0604020202020204" pitchFamily="34" charset="0"/>
                <a:cs typeface="Arial" panose="020B0604020202020204" pitchFamily="34" charset="0"/>
              </a:rPr>
              <a:t> </a:t>
            </a:r>
            <a:r>
              <a:rPr lang="en-US" sz="2000" b="1" dirty="0" err="1">
                <a:solidFill>
                  <a:srgbClr val="00B050"/>
                </a:solidFill>
                <a:latin typeface="Arial" panose="020B0604020202020204" pitchFamily="34" charset="0"/>
                <a:cs typeface="Arial" panose="020B0604020202020204" pitchFamily="34" charset="0"/>
              </a:rPr>
              <a:t>tục</a:t>
            </a:r>
            <a:endParaRPr sz="2000" b="1" dirty="0">
              <a:solidFill>
                <a:srgbClr val="00B050"/>
              </a:solidFill>
              <a:latin typeface="Arial" panose="020B0604020202020204" pitchFamily="34" charset="0"/>
              <a:cs typeface="Arial" panose="020B0604020202020204" pitchFamily="34" charset="0"/>
            </a:endParaRPr>
          </a:p>
          <a:p>
            <a:pPr marL="0" lvl="0" indent="0" algn="just">
              <a:buNone/>
            </a:pPr>
            <a:r>
              <a:rPr lang="en-US" sz="2000" dirty="0" err="1">
                <a:solidFill>
                  <a:srgbClr val="002060"/>
                </a:solidFill>
                <a:latin typeface="Arial" panose="020B0604020202020204" pitchFamily="34" charset="0"/>
                <a:cs typeface="Arial" panose="020B0604020202020204" pitchFamily="34" charset="0"/>
              </a:rPr>
              <a:t>Các</a:t>
            </a:r>
            <a:r>
              <a:rPr lang="en-US" sz="2000" dirty="0">
                <a:solidFill>
                  <a:srgbClr val="002060"/>
                </a:solidFill>
                <a:latin typeface="Arial" panose="020B0604020202020204" pitchFamily="34" charset="0"/>
                <a:cs typeface="Arial" panose="020B0604020202020204" pitchFamily="34" charset="0"/>
              </a:rPr>
              <a:t> </a:t>
            </a:r>
            <a:r>
              <a:rPr lang="vi-VN" sz="2000" dirty="0">
                <a:solidFill>
                  <a:srgbClr val="002060"/>
                </a:solidFill>
                <a:latin typeface="Arial" panose="020B0604020202020204" pitchFamily="34" charset="0"/>
                <a:cs typeface="Arial" panose="020B0604020202020204" pitchFamily="34" charset="0"/>
              </a:rPr>
              <a:t>gi</a:t>
            </a:r>
            <a:r>
              <a:rPr lang="en-US" sz="2000" dirty="0" err="1">
                <a:solidFill>
                  <a:srgbClr val="002060"/>
                </a:solidFill>
                <a:latin typeface="Arial" panose="020B0604020202020204" pitchFamily="34" charset="0"/>
                <a:cs typeface="Arial" panose="020B0604020202020204" pitchFamily="34" charset="0"/>
              </a:rPr>
              <a:t>á</a:t>
            </a:r>
            <a:r>
              <a:rPr lang="vi-VN" sz="2000" dirty="0">
                <a:solidFill>
                  <a:srgbClr val="002060"/>
                </a:solidFill>
                <a:latin typeface="Arial" panose="020B0604020202020204" pitchFamily="34" charset="0"/>
                <a:cs typeface="Arial" panose="020B0604020202020204" pitchFamily="34" charset="0"/>
              </a:rPr>
              <a:t> trị c</a:t>
            </a:r>
            <a:r>
              <a:rPr lang="en-US" sz="2000" dirty="0" err="1">
                <a:solidFill>
                  <a:srgbClr val="002060"/>
                </a:solidFill>
                <a:latin typeface="Arial" panose="020B0604020202020204" pitchFamily="34" charset="0"/>
                <a:cs typeface="Arial" panose="020B0604020202020204" pitchFamily="34" charset="0"/>
              </a:rPr>
              <a:t>ủ</a:t>
            </a:r>
            <a:r>
              <a:rPr lang="vi-VN" sz="2000" dirty="0">
                <a:solidFill>
                  <a:srgbClr val="002060"/>
                </a:solidFill>
                <a:latin typeface="Arial" panose="020B0604020202020204" pitchFamily="34" charset="0"/>
                <a:cs typeface="Arial" panose="020B0604020202020204" pitchFamily="34" charset="0"/>
              </a:rPr>
              <a:t>a nó l</a:t>
            </a:r>
            <a:r>
              <a:rPr lang="en-US" sz="2000" dirty="0" err="1">
                <a:solidFill>
                  <a:srgbClr val="002060"/>
                </a:solidFill>
                <a:latin typeface="Arial" panose="020B0604020202020204" pitchFamily="34" charset="0"/>
                <a:cs typeface="Arial" panose="020B0604020202020204" pitchFamily="34" charset="0"/>
              </a:rPr>
              <a:t>ấ</a:t>
            </a:r>
            <a:r>
              <a:rPr lang="vi-VN" sz="2000" dirty="0">
                <a:solidFill>
                  <a:srgbClr val="002060"/>
                </a:solidFill>
                <a:latin typeface="Arial" panose="020B0604020202020204" pitchFamily="34" charset="0"/>
                <a:cs typeface="Arial" panose="020B0604020202020204" pitchFamily="34" charset="0"/>
              </a:rPr>
              <a:t>p </a:t>
            </a:r>
            <a:r>
              <a:rPr lang="en-US" sz="2000" dirty="0" err="1">
                <a:solidFill>
                  <a:srgbClr val="002060"/>
                </a:solidFill>
                <a:latin typeface="Arial" panose="020B0604020202020204" pitchFamily="34" charset="0"/>
                <a:cs typeface="Arial" panose="020B0604020202020204" pitchFamily="34" charset="0"/>
              </a:rPr>
              <a:t>đầy</a:t>
            </a:r>
            <a:r>
              <a:rPr lang="vi-VN" sz="2000" dirty="0">
                <a:solidFill>
                  <a:srgbClr val="002060"/>
                </a:solidFill>
                <a:latin typeface="Arial" panose="020B0604020202020204" pitchFamily="34" charset="0"/>
                <a:cs typeface="Arial" panose="020B0604020202020204" pitchFamily="34" charset="0"/>
              </a:rPr>
              <a:t> m</a:t>
            </a:r>
            <a:r>
              <a:rPr lang="en-US" sz="2000" dirty="0" err="1">
                <a:solidFill>
                  <a:srgbClr val="002060"/>
                </a:solidFill>
                <a:latin typeface="Arial" panose="020B0604020202020204" pitchFamily="34" charset="0"/>
                <a:cs typeface="Arial" panose="020B0604020202020204" pitchFamily="34" charset="0"/>
              </a:rPr>
              <a:t>ộ</a:t>
            </a:r>
            <a:r>
              <a:rPr lang="vi-VN" sz="2000" dirty="0">
                <a:solidFill>
                  <a:srgbClr val="002060"/>
                </a:solidFill>
                <a:latin typeface="Arial" panose="020B0604020202020204" pitchFamily="34" charset="0"/>
                <a:cs typeface="Arial" panose="020B0604020202020204" pitchFamily="34" charset="0"/>
              </a:rPr>
              <a:t>t</a:t>
            </a:r>
            <a:r>
              <a:rPr lang="en-US" sz="2000" dirty="0">
                <a:solidFill>
                  <a:srgbClr val="002060"/>
                </a:solidFill>
                <a:latin typeface="Arial" panose="020B0604020202020204" pitchFamily="34" charset="0"/>
                <a:cs typeface="Arial" panose="020B0604020202020204" pitchFamily="34" charset="0"/>
              </a:rPr>
              <a:t> </a:t>
            </a:r>
            <a:r>
              <a:rPr lang="vi-VN" sz="2000" dirty="0">
                <a:solidFill>
                  <a:srgbClr val="002060"/>
                </a:solidFill>
                <a:latin typeface="Arial" panose="020B0604020202020204" pitchFamily="34" charset="0"/>
                <a:cs typeface="Arial" panose="020B0604020202020204" pitchFamily="34" charset="0"/>
              </a:rPr>
              <a:t>kho</a:t>
            </a:r>
            <a:r>
              <a:rPr lang="en-US" sz="2000" dirty="0" err="1">
                <a:solidFill>
                  <a:srgbClr val="002060"/>
                </a:solidFill>
                <a:latin typeface="Arial" panose="020B0604020202020204" pitchFamily="34" charset="0"/>
                <a:cs typeface="Arial" panose="020B0604020202020204" pitchFamily="34" charset="0"/>
              </a:rPr>
              <a:t>ả</a:t>
            </a:r>
            <a:r>
              <a:rPr lang="vi-VN" sz="2000" dirty="0">
                <a:solidFill>
                  <a:srgbClr val="002060"/>
                </a:solidFill>
                <a:latin typeface="Arial" panose="020B0604020202020204" pitchFamily="34" charset="0"/>
                <a:cs typeface="Arial" panose="020B0604020202020204" pitchFamily="34" charset="0"/>
              </a:rPr>
              <a:t>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trên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trục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số</a:t>
            </a:r>
            <a:endParaRPr sz="2000" dirty="0">
              <a:solidFill>
                <a:srgbClr val="002060"/>
              </a:solidFill>
              <a:latin typeface="Arial" panose="020B0604020202020204" pitchFamily="34" charset="0"/>
              <a:cs typeface="Arial" panose="020B0604020202020204" pitchFamily="34" charset="0"/>
            </a:endParaRPr>
          </a:p>
        </p:txBody>
      </p:sp>
      <p:sp>
        <p:nvSpPr>
          <p:cNvPr id="281" name="Google Shape;281;p20"/>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6</a:t>
            </a:fld>
            <a:endParaRPr/>
          </a:p>
        </p:txBody>
      </p:sp>
      <p:cxnSp>
        <p:nvCxnSpPr>
          <p:cNvPr id="4" name="Straight Arrow Connector 3"/>
          <p:cNvCxnSpPr/>
          <p:nvPr/>
        </p:nvCxnSpPr>
        <p:spPr>
          <a:xfrm>
            <a:off x="584461" y="4199560"/>
            <a:ext cx="37422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5010506" y="4199560"/>
            <a:ext cx="37422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Oval 4"/>
          <p:cNvSpPr/>
          <p:nvPr/>
        </p:nvSpPr>
        <p:spPr>
          <a:xfrm flipV="1">
            <a:off x="1243106" y="4156325"/>
            <a:ext cx="45719" cy="6506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flipH="1">
            <a:off x="2119272" y="4157070"/>
            <a:ext cx="57568" cy="6432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flipH="1">
            <a:off x="3102206" y="4156326"/>
            <a:ext cx="71778" cy="6506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051195" y="4145999"/>
            <a:ext cx="428978" cy="461665"/>
          </a:xfrm>
          <a:prstGeom prst="rect">
            <a:avLst/>
          </a:prstGeom>
          <a:noFill/>
        </p:spPr>
        <p:txBody>
          <a:bodyPr wrap="square" rtlCol="0">
            <a:spAutoFit/>
          </a:bodyPr>
          <a:lstStyle/>
          <a:p>
            <a:r>
              <a:rPr lang="en-US" sz="2400" i="1">
                <a:solidFill>
                  <a:srgbClr val="637991"/>
                </a:solidFill>
                <a:latin typeface="Times New Roman" panose="02020603050405020304" pitchFamily="18" charset="0"/>
                <a:cs typeface="Times New Roman" panose="02020603050405020304" pitchFamily="18" charset="0"/>
              </a:rPr>
              <a:t>x</a:t>
            </a:r>
            <a:r>
              <a:rPr lang="en-US" sz="1200" i="1">
                <a:solidFill>
                  <a:srgbClr val="637991"/>
                </a:solidFill>
                <a:latin typeface="Times New Roman" panose="02020603050405020304" pitchFamily="18" charset="0"/>
                <a:cs typeface="Times New Roman" panose="02020603050405020304" pitchFamily="18" charset="0"/>
              </a:rPr>
              <a:t>1</a:t>
            </a:r>
          </a:p>
        </p:txBody>
      </p:sp>
      <p:sp>
        <p:nvSpPr>
          <p:cNvPr id="16" name="TextBox 15"/>
          <p:cNvSpPr txBox="1"/>
          <p:nvPr/>
        </p:nvSpPr>
        <p:spPr>
          <a:xfrm>
            <a:off x="1972602" y="4146000"/>
            <a:ext cx="428978" cy="461665"/>
          </a:xfrm>
          <a:prstGeom prst="rect">
            <a:avLst/>
          </a:prstGeom>
          <a:noFill/>
        </p:spPr>
        <p:txBody>
          <a:bodyPr wrap="square" rtlCol="0">
            <a:spAutoFit/>
          </a:bodyPr>
          <a:lstStyle/>
          <a:p>
            <a:r>
              <a:rPr lang="en-US" sz="2400" i="1">
                <a:solidFill>
                  <a:srgbClr val="637991"/>
                </a:solidFill>
                <a:latin typeface="Times New Roman" panose="02020603050405020304" pitchFamily="18" charset="0"/>
                <a:cs typeface="Times New Roman" panose="02020603050405020304" pitchFamily="18" charset="0"/>
              </a:rPr>
              <a:t>x</a:t>
            </a:r>
            <a:r>
              <a:rPr lang="en-US" sz="1200" i="1">
                <a:solidFill>
                  <a:srgbClr val="637991"/>
                </a:solidFill>
                <a:latin typeface="Times New Roman" panose="02020603050405020304" pitchFamily="18" charset="0"/>
                <a:cs typeface="Times New Roman" panose="02020603050405020304" pitchFamily="18" charset="0"/>
              </a:rPr>
              <a:t>2</a:t>
            </a:r>
          </a:p>
        </p:txBody>
      </p:sp>
      <p:sp>
        <p:nvSpPr>
          <p:cNvPr id="17" name="TextBox 16"/>
          <p:cNvSpPr txBox="1"/>
          <p:nvPr/>
        </p:nvSpPr>
        <p:spPr>
          <a:xfrm>
            <a:off x="3017618" y="4158339"/>
            <a:ext cx="414502" cy="461665"/>
          </a:xfrm>
          <a:prstGeom prst="rect">
            <a:avLst/>
          </a:prstGeom>
          <a:noFill/>
        </p:spPr>
        <p:txBody>
          <a:bodyPr wrap="square" rtlCol="0">
            <a:spAutoFit/>
          </a:bodyPr>
          <a:lstStyle/>
          <a:p>
            <a:r>
              <a:rPr lang="en-US" sz="2400" i="1">
                <a:solidFill>
                  <a:srgbClr val="637991"/>
                </a:solidFill>
                <a:latin typeface="Times New Roman" panose="02020603050405020304" pitchFamily="18" charset="0"/>
                <a:cs typeface="Times New Roman" panose="02020603050405020304" pitchFamily="18" charset="0"/>
              </a:rPr>
              <a:t>x</a:t>
            </a:r>
            <a:r>
              <a:rPr lang="en-US" sz="1200" i="1">
                <a:solidFill>
                  <a:srgbClr val="637991"/>
                </a:solidFill>
                <a:latin typeface="Times New Roman" panose="02020603050405020304" pitchFamily="18" charset="0"/>
                <a:cs typeface="Times New Roman" panose="02020603050405020304" pitchFamily="18" charset="0"/>
              </a:rPr>
              <a:t>3</a:t>
            </a:r>
          </a:p>
        </p:txBody>
      </p:sp>
      <p:sp>
        <p:nvSpPr>
          <p:cNvPr id="18" name="TextBox 17"/>
          <p:cNvSpPr txBox="1"/>
          <p:nvPr/>
        </p:nvSpPr>
        <p:spPr>
          <a:xfrm>
            <a:off x="4091396" y="4158340"/>
            <a:ext cx="428978" cy="461665"/>
          </a:xfrm>
          <a:prstGeom prst="rect">
            <a:avLst/>
          </a:prstGeom>
          <a:noFill/>
        </p:spPr>
        <p:txBody>
          <a:bodyPr wrap="square" rtlCol="0">
            <a:spAutoFit/>
          </a:bodyPr>
          <a:lstStyle/>
          <a:p>
            <a:r>
              <a:rPr lang="en-US" sz="2400" i="1">
                <a:solidFill>
                  <a:srgbClr val="637991"/>
                </a:solidFill>
                <a:latin typeface="Times New Roman" panose="02020603050405020304" pitchFamily="18" charset="0"/>
                <a:cs typeface="Times New Roman" panose="02020603050405020304" pitchFamily="18" charset="0"/>
              </a:rPr>
              <a:t>x</a:t>
            </a:r>
            <a:endParaRPr lang="en-US" sz="1200" i="1">
              <a:solidFill>
                <a:srgbClr val="637991"/>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7236075" y="4221390"/>
            <a:ext cx="431275" cy="461665"/>
          </a:xfrm>
          <a:prstGeom prst="rect">
            <a:avLst/>
          </a:prstGeom>
          <a:noFill/>
        </p:spPr>
        <p:txBody>
          <a:bodyPr wrap="square" rtlCol="0">
            <a:spAutoFit/>
          </a:bodyPr>
          <a:lstStyle/>
          <a:p>
            <a:r>
              <a:rPr lang="en-US" sz="2400" i="1">
                <a:solidFill>
                  <a:srgbClr val="637991"/>
                </a:solidFill>
                <a:latin typeface="Times New Roman" panose="02020603050405020304" pitchFamily="18" charset="0"/>
                <a:cs typeface="Times New Roman" panose="02020603050405020304" pitchFamily="18" charset="0"/>
              </a:rPr>
              <a:t>x</a:t>
            </a:r>
            <a:r>
              <a:rPr lang="en-US" sz="1200" i="1">
                <a:solidFill>
                  <a:srgbClr val="637991"/>
                </a:solidFill>
                <a:latin typeface="Times New Roman" panose="02020603050405020304" pitchFamily="18" charset="0"/>
                <a:cs typeface="Times New Roman" panose="02020603050405020304" pitchFamily="18" charset="0"/>
              </a:rPr>
              <a:t>2</a:t>
            </a:r>
          </a:p>
        </p:txBody>
      </p:sp>
      <p:sp>
        <p:nvSpPr>
          <p:cNvPr id="20" name="TextBox 19"/>
          <p:cNvSpPr txBox="1"/>
          <p:nvPr/>
        </p:nvSpPr>
        <p:spPr>
          <a:xfrm>
            <a:off x="5676180" y="4167672"/>
            <a:ext cx="428978" cy="461665"/>
          </a:xfrm>
          <a:prstGeom prst="rect">
            <a:avLst/>
          </a:prstGeom>
          <a:noFill/>
        </p:spPr>
        <p:txBody>
          <a:bodyPr wrap="square" rtlCol="0">
            <a:spAutoFit/>
          </a:bodyPr>
          <a:lstStyle/>
          <a:p>
            <a:r>
              <a:rPr lang="en-US" sz="2400" i="1">
                <a:solidFill>
                  <a:srgbClr val="637991"/>
                </a:solidFill>
                <a:latin typeface="Times New Roman" panose="02020603050405020304" pitchFamily="18" charset="0"/>
                <a:cs typeface="Times New Roman" panose="02020603050405020304" pitchFamily="18" charset="0"/>
              </a:rPr>
              <a:t>x</a:t>
            </a:r>
            <a:r>
              <a:rPr lang="en-US" sz="1200" i="1">
                <a:solidFill>
                  <a:srgbClr val="637991"/>
                </a:solidFill>
                <a:latin typeface="Times New Roman" panose="02020603050405020304" pitchFamily="18" charset="0"/>
                <a:cs typeface="Times New Roman" panose="02020603050405020304" pitchFamily="18" charset="0"/>
              </a:rPr>
              <a:t>1</a:t>
            </a:r>
          </a:p>
        </p:txBody>
      </p:sp>
      <p:sp>
        <p:nvSpPr>
          <p:cNvPr id="21" name="TextBox 20"/>
          <p:cNvSpPr txBox="1"/>
          <p:nvPr/>
        </p:nvSpPr>
        <p:spPr>
          <a:xfrm>
            <a:off x="8298587" y="4199559"/>
            <a:ext cx="428978" cy="461665"/>
          </a:xfrm>
          <a:prstGeom prst="rect">
            <a:avLst/>
          </a:prstGeom>
          <a:noFill/>
        </p:spPr>
        <p:txBody>
          <a:bodyPr wrap="square" rtlCol="0">
            <a:spAutoFit/>
          </a:bodyPr>
          <a:lstStyle/>
          <a:p>
            <a:r>
              <a:rPr lang="en-US" sz="2400" i="1" dirty="0">
                <a:solidFill>
                  <a:srgbClr val="637991"/>
                </a:solidFill>
                <a:latin typeface="Times New Roman" panose="02020603050405020304" pitchFamily="18" charset="0"/>
                <a:cs typeface="Times New Roman" panose="02020603050405020304" pitchFamily="18" charset="0"/>
              </a:rPr>
              <a:t>x</a:t>
            </a:r>
            <a:endParaRPr lang="en-US" sz="1200" i="1" dirty="0">
              <a:solidFill>
                <a:srgbClr val="637991"/>
              </a:solidFill>
              <a:latin typeface="Times New Roman" panose="02020603050405020304" pitchFamily="18" charset="0"/>
              <a:cs typeface="Times New Roman" panose="02020603050405020304" pitchFamily="18" charset="0"/>
            </a:endParaRPr>
          </a:p>
        </p:txBody>
      </p:sp>
      <p:sp>
        <p:nvSpPr>
          <p:cNvPr id="22" name="Oval 21"/>
          <p:cNvSpPr/>
          <p:nvPr/>
        </p:nvSpPr>
        <p:spPr>
          <a:xfrm>
            <a:off x="5796391" y="4145999"/>
            <a:ext cx="45719" cy="7539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361649" y="4145999"/>
            <a:ext cx="45719" cy="7539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flipH="1">
            <a:off x="5842110" y="4195649"/>
            <a:ext cx="1532929" cy="0"/>
          </a:xfrm>
          <a:prstGeom prst="line">
            <a:avLst/>
          </a:prstGeom>
          <a:ln>
            <a:solidFill>
              <a:srgbClr val="FF0000"/>
            </a:solidFill>
          </a:ln>
        </p:spPr>
        <p:style>
          <a:lnRef idx="1">
            <a:schemeClr val="accent6"/>
          </a:lnRef>
          <a:fillRef idx="0">
            <a:schemeClr val="accent6"/>
          </a:fillRef>
          <a:effectRef idx="0">
            <a:schemeClr val="accent6"/>
          </a:effectRef>
          <a:fontRef idx="minor">
            <a:schemeClr val="tx1"/>
          </a:fontRef>
        </p:style>
      </p:cxnSp>
      <p:pic>
        <p:nvPicPr>
          <p:cNvPr id="2" name="Picture 1" descr="Dai Nam [PPT] Template 11.png">
            <a:extLst>
              <a:ext uri="{FF2B5EF4-FFF2-40B4-BE49-F238E27FC236}">
                <a16:creationId xmlns:a16="http://schemas.microsoft.com/office/drawing/2014/main" id="{D15D4E59-278F-1D85-2A09-F3E37BF32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grpSp>
        <p:nvGrpSpPr>
          <p:cNvPr id="36" name="Group 35">
            <a:extLst>
              <a:ext uri="{FF2B5EF4-FFF2-40B4-BE49-F238E27FC236}">
                <a16:creationId xmlns:a16="http://schemas.microsoft.com/office/drawing/2014/main" id="{8DCC009B-9D9C-E6D8-0FFA-18E26403AE24}"/>
              </a:ext>
            </a:extLst>
          </p:cNvPr>
          <p:cNvGrpSpPr/>
          <p:nvPr/>
        </p:nvGrpSpPr>
        <p:grpSpPr>
          <a:xfrm>
            <a:off x="2497894" y="1221217"/>
            <a:ext cx="4148212" cy="751870"/>
            <a:chOff x="2583134" y="740664"/>
            <a:chExt cx="4148212" cy="751870"/>
          </a:xfrm>
        </p:grpSpPr>
        <p:cxnSp>
          <p:nvCxnSpPr>
            <p:cNvPr id="12" name="Straight Connector 11">
              <a:extLst>
                <a:ext uri="{FF2B5EF4-FFF2-40B4-BE49-F238E27FC236}">
                  <a16:creationId xmlns:a16="http://schemas.microsoft.com/office/drawing/2014/main" id="{DF309405-3FB9-7E59-F632-51C3F20D5A62}"/>
                </a:ext>
              </a:extLst>
            </p:cNvPr>
            <p:cNvCxnSpPr>
              <a:cxnSpLocks/>
            </p:cNvCxnSpPr>
            <p:nvPr/>
          </p:nvCxnSpPr>
          <p:spPr>
            <a:xfrm>
              <a:off x="4657240" y="740664"/>
              <a:ext cx="0" cy="40233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989FB18-BBD1-3B3A-CF7C-EB93B67CAC99}"/>
                </a:ext>
              </a:extLst>
            </p:cNvPr>
            <p:cNvCxnSpPr>
              <a:cxnSpLocks/>
            </p:cNvCxnSpPr>
            <p:nvPr/>
          </p:nvCxnSpPr>
          <p:spPr>
            <a:xfrm>
              <a:off x="2583134" y="1143000"/>
              <a:ext cx="414821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D1BA5F3-0BDB-83ED-C330-2AAC2088F20E}"/>
                </a:ext>
              </a:extLst>
            </p:cNvPr>
            <p:cNvCxnSpPr>
              <a:cxnSpLocks/>
            </p:cNvCxnSpPr>
            <p:nvPr/>
          </p:nvCxnSpPr>
          <p:spPr>
            <a:xfrm flipV="1">
              <a:off x="2583134" y="1143000"/>
              <a:ext cx="0" cy="349534"/>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AA46E60-731E-D40E-999B-39EBEB7301E7}"/>
                </a:ext>
              </a:extLst>
            </p:cNvPr>
            <p:cNvCxnSpPr/>
            <p:nvPr/>
          </p:nvCxnSpPr>
          <p:spPr>
            <a:xfrm flipV="1">
              <a:off x="6731346" y="1133186"/>
              <a:ext cx="0" cy="349534"/>
            </a:xfrm>
            <a:prstGeom prst="line">
              <a:avLst/>
            </a:prstGeom>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64B43239-1B67-A1AA-27B8-1FF5D535033C}"/>
              </a:ext>
            </a:extLst>
          </p:cNvPr>
          <p:cNvSpPr txBox="1"/>
          <p:nvPr/>
        </p:nvSpPr>
        <p:spPr>
          <a:xfrm>
            <a:off x="3462878" y="815339"/>
            <a:ext cx="2218244"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spc="-5" dirty="0" err="1">
                <a:solidFill>
                  <a:srgbClr val="00B050"/>
                </a:solidFill>
                <a:latin typeface="Arial" panose="020B0604020202020204" pitchFamily="34" charset="0"/>
                <a:cs typeface="Arial" panose="020B0604020202020204" pitchFamily="34" charset="0"/>
              </a:rPr>
              <a:t>Biến</a:t>
            </a:r>
            <a:r>
              <a:rPr lang="en-US" sz="2000" b="1" spc="-5" dirty="0">
                <a:solidFill>
                  <a:srgbClr val="00B050"/>
                </a:solidFill>
                <a:latin typeface="Arial" panose="020B0604020202020204" pitchFamily="34" charset="0"/>
                <a:cs typeface="Arial" panose="020B0604020202020204" pitchFamily="34" charset="0"/>
              </a:rPr>
              <a:t> </a:t>
            </a:r>
            <a:r>
              <a:rPr lang="en-US" sz="2000" b="1" spc="-5" dirty="0" err="1">
                <a:solidFill>
                  <a:srgbClr val="00B050"/>
                </a:solidFill>
                <a:latin typeface="Arial" panose="020B0604020202020204" pitchFamily="34" charset="0"/>
                <a:cs typeface="Arial" panose="020B0604020202020204" pitchFamily="34" charset="0"/>
              </a:rPr>
              <a:t>ngẫu</a:t>
            </a:r>
            <a:r>
              <a:rPr lang="en-US" sz="2000" b="1" spc="-5" dirty="0">
                <a:solidFill>
                  <a:srgbClr val="00B050"/>
                </a:solidFill>
                <a:latin typeface="Arial" panose="020B0604020202020204" pitchFamily="34" charset="0"/>
                <a:cs typeface="Arial" panose="020B0604020202020204" pitchFamily="34" charset="0"/>
              </a:rPr>
              <a:t> </a:t>
            </a:r>
            <a:r>
              <a:rPr lang="en-US" sz="2000" b="1" spc="-5" dirty="0" err="1">
                <a:solidFill>
                  <a:srgbClr val="00B050"/>
                </a:solidFill>
                <a:latin typeface="Arial" panose="020B0604020202020204" pitchFamily="34" charset="0"/>
                <a:cs typeface="Arial" panose="020B0604020202020204" pitchFamily="34" charset="0"/>
              </a:rPr>
              <a:t>nhiên</a:t>
            </a:r>
            <a:endParaRPr lang="en-VN" sz="2000" b="1" dirty="0">
              <a:solidFill>
                <a:srgbClr val="00B05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211"/>
        <p:cNvGrpSpPr/>
        <p:nvPr/>
      </p:nvGrpSpPr>
      <p:grpSpPr>
        <a:xfrm>
          <a:off x="0" y="0"/>
          <a:ext cx="0" cy="0"/>
          <a:chOff x="0" y="0"/>
          <a:chExt cx="0" cy="0"/>
        </a:xfrm>
      </p:grpSpPr>
      <p:sp>
        <p:nvSpPr>
          <p:cNvPr id="11" name="Google Shape;243;p17"/>
          <p:cNvSpPr txBox="1">
            <a:spLocks noGrp="1"/>
          </p:cNvSpPr>
          <p:nvPr>
            <p:ph type="body" idx="1"/>
          </p:nvPr>
        </p:nvSpPr>
        <p:spPr>
          <a:xfrm>
            <a:off x="1271832" y="402275"/>
            <a:ext cx="7240413" cy="4265419"/>
          </a:xfrm>
          <a:prstGeom prst="rect">
            <a:avLst/>
          </a:prstGeom>
        </p:spPr>
        <p:txBody>
          <a:bodyPr spcFirstLastPara="1" wrap="square" lIns="91425" tIns="91425" rIns="91425" bIns="91425" anchor="t" anchorCtr="0">
            <a:noAutofit/>
          </a:bodyPr>
          <a:lstStyle/>
          <a:p>
            <a:pPr marL="565150" lvl="0" indent="-514350" algn="l" rtl="0">
              <a:spcBef>
                <a:spcPts val="600"/>
              </a:spcBef>
              <a:spcAft>
                <a:spcPts val="0"/>
              </a:spcAft>
              <a:buSzPct val="110000"/>
              <a:buFont typeface="+mj-lt"/>
              <a:buAutoNum type="arabicPeriod"/>
            </a:pPr>
            <a:r>
              <a:rPr lang="en-US" sz="1800" dirty="0" err="1">
                <a:solidFill>
                  <a:srgbClr val="002060"/>
                </a:solidFill>
                <a:latin typeface="Arial" panose="020B0604020202020204" pitchFamily="34" charset="0"/>
                <a:cs typeface="Arial" panose="020B0604020202020204" pitchFamily="34" charset="0"/>
              </a:rPr>
              <a:t>Biến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ngẫu</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nhiên</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Định</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nghĩa</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loại</a:t>
            </a:r>
            <a:r>
              <a:rPr lang="en-US" sz="1800" dirty="0">
                <a:solidFill>
                  <a:srgbClr val="002060"/>
                </a:solidFill>
                <a:latin typeface="Arial" panose="020B0604020202020204" pitchFamily="34" charset="0"/>
                <a:cs typeface="Arial" panose="020B0604020202020204" pitchFamily="34" charset="0"/>
              </a:rPr>
              <a:t> BNN</a:t>
            </a:r>
          </a:p>
          <a:p>
            <a:pPr marL="565150" lvl="0" indent="-514350" algn="l" rtl="0">
              <a:spcBef>
                <a:spcPts val="600"/>
              </a:spcBef>
              <a:spcAft>
                <a:spcPts val="0"/>
              </a:spcAft>
              <a:buSzPct val="110000"/>
              <a:buFont typeface="+mj-lt"/>
              <a:buAutoNum type="arabicPeriod" startAt="2"/>
            </a:pPr>
            <a:r>
              <a:rPr lang="en-US" sz="1800" dirty="0" err="1">
                <a:solidFill>
                  <a:srgbClr val="FF0000"/>
                </a:solidFill>
                <a:latin typeface="Arial" panose="020B0604020202020204" pitchFamily="34" charset="0"/>
                <a:cs typeface="Arial" panose="020B0604020202020204" pitchFamily="34" charset="0"/>
              </a:rPr>
              <a:t>Quy</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luật</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phân</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phối</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xác</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suất</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của</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biến</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ngẫu</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nhiên</a:t>
            </a:r>
            <a:endParaRPr lang="en-US" sz="1800" dirty="0">
              <a:solidFill>
                <a:srgbClr val="FF000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Bảng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phối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Hàm</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phối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Hàm</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bố</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endParaRPr lang="en-US" sz="1800" dirty="0">
              <a:solidFill>
                <a:srgbClr val="002060"/>
              </a:solidFill>
              <a:latin typeface="Arial" panose="020B0604020202020204" pitchFamily="34" charset="0"/>
              <a:cs typeface="Arial" panose="020B0604020202020204" pitchFamily="34" charset="0"/>
            </a:endParaRPr>
          </a:p>
          <a:p>
            <a:pPr marL="508000" lvl="0" indent="-457200" algn="l" rtl="0">
              <a:spcBef>
                <a:spcPts val="600"/>
              </a:spcBef>
              <a:spcAft>
                <a:spcPts val="0"/>
              </a:spcAft>
              <a:buSzPct val="110000"/>
              <a:buFont typeface="+mj-lt"/>
              <a:buAutoNum type="arabicPeriod" startAt="3"/>
            </a:pPr>
            <a:r>
              <a:rPr lang="en-US" sz="1800" dirty="0" err="1">
                <a:solidFill>
                  <a:srgbClr val="002060"/>
                </a:solidFill>
                <a:latin typeface="Arial" panose="020B0604020202020204" pitchFamily="34" charset="0"/>
                <a:cs typeface="Arial" panose="020B0604020202020204" pitchFamily="34" charset="0"/>
              </a:rPr>
              <a:t>Các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tham</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số</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đặc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trưng</a:t>
            </a:r>
            <a:endParaRPr lang="en-US" sz="1800" dirty="0">
              <a:solidFill>
                <a:srgbClr val="002060"/>
              </a:solidFill>
              <a:latin typeface="Arial" panose="020B0604020202020204" pitchFamily="34" charset="0"/>
              <a:cs typeface="Arial" panose="020B0604020202020204" pitchFamily="34" charset="0"/>
            </a:endParaRPr>
          </a:p>
          <a:p>
            <a:pPr marL="965200" lvl="1" indent="-45720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Kỳ</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vọng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toán</a:t>
            </a:r>
            <a:endParaRPr lang="en-US" sz="1800" dirty="0">
              <a:solidFill>
                <a:srgbClr val="002060"/>
              </a:solidFill>
              <a:latin typeface="Arial" panose="020B0604020202020204" pitchFamily="34" charset="0"/>
              <a:cs typeface="Arial" panose="020B0604020202020204" pitchFamily="34" charset="0"/>
            </a:endParaRPr>
          </a:p>
          <a:p>
            <a:pPr marL="965200" lvl="1" indent="-45720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Phương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sai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và</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độ</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lệch</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chuẩn</a:t>
            </a:r>
            <a:endParaRPr lang="en-US" sz="1800" dirty="0">
              <a:solidFill>
                <a:srgbClr val="002060"/>
              </a:solidFill>
              <a:latin typeface="Arial" panose="020B0604020202020204" pitchFamily="34" charset="0"/>
              <a:cs typeface="Arial" panose="020B0604020202020204" pitchFamily="34" charset="0"/>
            </a:endParaRPr>
          </a:p>
          <a:p>
            <a:pPr marL="965200" lvl="1" indent="-457200">
              <a:spcBef>
                <a:spcPts val="600"/>
              </a:spcBef>
              <a:buSzPct val="90000"/>
              <a:buFont typeface="Varela Round" panose="020B0604020202020204" charset="-79"/>
              <a:buChar char="►"/>
            </a:pPr>
            <a:r>
              <a:rPr lang="vi-VN" sz="1800" dirty="0">
                <a:solidFill>
                  <a:srgbClr val="002060"/>
                </a:solidFill>
                <a:latin typeface="Arial" panose="020B0604020202020204" pitchFamily="34" charset="0"/>
                <a:cs typeface="Arial" panose="020B0604020202020204" pitchFamily="34" charset="0"/>
              </a:rPr>
              <a:t>Trung vị</a:t>
            </a:r>
          </a:p>
          <a:p>
            <a:pPr marL="965200" lvl="1" indent="-457200">
              <a:spcBef>
                <a:spcPts val="600"/>
              </a:spcBef>
              <a:buSzPct val="90000"/>
              <a:buFont typeface="Varela Round" panose="020B0604020202020204" charset="-79"/>
              <a:buChar char="►"/>
            </a:pPr>
            <a:r>
              <a:rPr lang="vi-VN" sz="1800" dirty="0">
                <a:solidFill>
                  <a:srgbClr val="002060"/>
                </a:solidFill>
                <a:latin typeface="Arial" panose="020B0604020202020204" pitchFamily="34" charset="0"/>
                <a:cs typeface="Arial" panose="020B0604020202020204" pitchFamily="34" charset="0"/>
              </a:rPr>
              <a:t>Mode</a:t>
            </a:r>
            <a:endParaRPr sz="1800" dirty="0">
              <a:solidFill>
                <a:srgbClr val="002060"/>
              </a:solidFill>
              <a:latin typeface="Arial" panose="020B0604020202020204" pitchFamily="34" charset="0"/>
              <a:cs typeface="Arial" panose="020B0604020202020204" pitchFamily="34" charset="0"/>
            </a:endParaRPr>
          </a:p>
          <a:p>
            <a:pPr marL="0" lvl="0" indent="0" algn="l" rtl="0">
              <a:spcBef>
                <a:spcPts val="600"/>
              </a:spcBef>
              <a:spcAft>
                <a:spcPts val="0"/>
              </a:spcAft>
              <a:buNone/>
            </a:pPr>
            <a:endParaRPr sz="1800" dirty="0">
              <a:solidFill>
                <a:srgbClr val="002060"/>
              </a:solidFill>
              <a:latin typeface="Arial" panose="020B0604020202020204" pitchFamily="34" charset="0"/>
              <a:cs typeface="Arial" panose="020B0604020202020204" pitchFamily="34" charset="0"/>
            </a:endParaRPr>
          </a:p>
        </p:txBody>
      </p:sp>
      <p:sp>
        <p:nvSpPr>
          <p:cNvPr id="3" name="Google Shape;422;p35">
            <a:extLst>
              <a:ext uri="{FF2B5EF4-FFF2-40B4-BE49-F238E27FC236}">
                <a16:creationId xmlns:a16="http://schemas.microsoft.com/office/drawing/2014/main" id="{6A4970AF-0C15-E73A-9277-0A984A6073EF}"/>
              </a:ext>
            </a:extLst>
          </p:cNvPr>
          <p:cNvSpPr txBox="1">
            <a:spLocks/>
          </p:cNvSpPr>
          <p:nvPr/>
        </p:nvSpPr>
        <p:spPr>
          <a:xfrm>
            <a:off x="3349193" y="0"/>
            <a:ext cx="2829661" cy="6738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7BD100"/>
              </a:buClr>
              <a:buSzPts val="3000"/>
              <a:buFont typeface="Varela Round"/>
              <a:buChar char="×"/>
              <a:defRPr sz="3000" b="0" i="0" u="none" strike="noStrike" cap="none">
                <a:solidFill>
                  <a:srgbClr val="546973"/>
                </a:solidFill>
                <a:latin typeface="Varela Round"/>
                <a:ea typeface="Varela Round"/>
                <a:cs typeface="Varela Round"/>
                <a:sym typeface="Varela Round"/>
              </a:defRPr>
            </a:lvl1pPr>
            <a:lvl2pPr marL="914400" marR="0" lvl="1" indent="-381000" algn="l" rtl="0">
              <a:lnSpc>
                <a:spcPct val="100000"/>
              </a:lnSpc>
              <a:spcBef>
                <a:spcPts val="0"/>
              </a:spcBef>
              <a:spcAft>
                <a:spcPts val="0"/>
              </a:spcAft>
              <a:buClr>
                <a:srgbClr val="7BD100"/>
              </a:buClr>
              <a:buSzPts val="2400"/>
              <a:buFont typeface="Varela Round"/>
              <a:buChar char="×"/>
              <a:defRPr sz="2400" b="0" i="0" u="none" strike="noStrike" cap="none">
                <a:solidFill>
                  <a:srgbClr val="546973"/>
                </a:solidFill>
                <a:latin typeface="Varela Round"/>
                <a:ea typeface="Varela Round"/>
                <a:cs typeface="Varela Round"/>
                <a:sym typeface="Varela Round"/>
              </a:defRPr>
            </a:lvl2pPr>
            <a:lvl3pPr marL="1371600" marR="0" lvl="2" indent="-381000" algn="l" rtl="0">
              <a:lnSpc>
                <a:spcPct val="100000"/>
              </a:lnSpc>
              <a:spcBef>
                <a:spcPts val="0"/>
              </a:spcBef>
              <a:spcAft>
                <a:spcPts val="0"/>
              </a:spcAft>
              <a:buClr>
                <a:srgbClr val="7BD100"/>
              </a:buClr>
              <a:buSzPts val="2400"/>
              <a:buFont typeface="Varela Round"/>
              <a:buChar char="×"/>
              <a:defRPr sz="2400" b="0" i="0" u="none" strike="noStrike" cap="none">
                <a:solidFill>
                  <a:srgbClr val="546973"/>
                </a:solidFill>
                <a:latin typeface="Varela Round"/>
                <a:ea typeface="Varela Round"/>
                <a:cs typeface="Varela Round"/>
                <a:sym typeface="Varela Round"/>
              </a:defRPr>
            </a:lvl3pPr>
            <a:lvl4pPr marL="1828800" marR="0" lvl="3" indent="-342900" algn="l" rtl="0">
              <a:lnSpc>
                <a:spcPct val="100000"/>
              </a:lnSpc>
              <a:spcBef>
                <a:spcPts val="0"/>
              </a:spcBef>
              <a:spcAft>
                <a:spcPts val="0"/>
              </a:spcAft>
              <a:buClr>
                <a:srgbClr val="7BD100"/>
              </a:buClr>
              <a:buSzPts val="1800"/>
              <a:buFont typeface="Varela Round"/>
              <a:buChar char="×"/>
              <a:defRPr sz="1800" b="0" i="0" u="none" strike="noStrike" cap="none">
                <a:solidFill>
                  <a:srgbClr val="546973"/>
                </a:solidFill>
                <a:latin typeface="Varela Round"/>
                <a:ea typeface="Varela Round"/>
                <a:cs typeface="Varela Round"/>
                <a:sym typeface="Varela Round"/>
              </a:defRPr>
            </a:lvl4pPr>
            <a:lvl5pPr marL="2286000" marR="0" lvl="4" indent="-342900" algn="l" rtl="0">
              <a:lnSpc>
                <a:spcPct val="100000"/>
              </a:lnSpc>
              <a:spcBef>
                <a:spcPts val="0"/>
              </a:spcBef>
              <a:spcAft>
                <a:spcPts val="0"/>
              </a:spcAft>
              <a:buClr>
                <a:srgbClr val="7BD100"/>
              </a:buClr>
              <a:buSzPts val="1800"/>
              <a:buFont typeface="Varela Round"/>
              <a:buChar char="×"/>
              <a:defRPr sz="1800" b="0" i="0" u="none" strike="noStrike" cap="none">
                <a:solidFill>
                  <a:srgbClr val="546973"/>
                </a:solidFill>
                <a:latin typeface="Varela Round"/>
                <a:ea typeface="Varela Round"/>
                <a:cs typeface="Varela Round"/>
                <a:sym typeface="Varela Round"/>
              </a:defRPr>
            </a:lvl5pPr>
            <a:lvl6pPr marL="2743200" marR="0" lvl="5" indent="-342900" algn="l" rtl="0">
              <a:lnSpc>
                <a:spcPct val="100000"/>
              </a:lnSpc>
              <a:spcBef>
                <a:spcPts val="0"/>
              </a:spcBef>
              <a:spcAft>
                <a:spcPts val="0"/>
              </a:spcAft>
              <a:buClr>
                <a:srgbClr val="7BD100"/>
              </a:buClr>
              <a:buSzPts val="1800"/>
              <a:buFont typeface="Varela Round"/>
              <a:buChar char="×"/>
              <a:defRPr sz="1800" b="0" i="0" u="none" strike="noStrike" cap="none">
                <a:solidFill>
                  <a:srgbClr val="546973"/>
                </a:solidFill>
                <a:latin typeface="Varela Round"/>
                <a:ea typeface="Varela Round"/>
                <a:cs typeface="Varela Round"/>
                <a:sym typeface="Varela Round"/>
              </a:defRPr>
            </a:lvl6pPr>
            <a:lvl7pPr marL="3200400" marR="0" lvl="6" indent="-342900" algn="l" rtl="0">
              <a:lnSpc>
                <a:spcPct val="100000"/>
              </a:lnSpc>
              <a:spcBef>
                <a:spcPts val="0"/>
              </a:spcBef>
              <a:spcAft>
                <a:spcPts val="0"/>
              </a:spcAft>
              <a:buClr>
                <a:srgbClr val="546973"/>
              </a:buClr>
              <a:buSzPts val="1800"/>
              <a:buFont typeface="Varela Round"/>
              <a:buChar char="●"/>
              <a:defRPr sz="1800" b="0" i="0" u="none" strike="noStrike" cap="none">
                <a:solidFill>
                  <a:srgbClr val="546973"/>
                </a:solidFill>
                <a:latin typeface="Varela Round"/>
                <a:ea typeface="Varela Round"/>
                <a:cs typeface="Varela Round"/>
                <a:sym typeface="Varela Round"/>
              </a:defRPr>
            </a:lvl7pPr>
            <a:lvl8pPr marL="3657600" marR="0" lvl="7" indent="-342900" algn="l" rtl="0">
              <a:lnSpc>
                <a:spcPct val="100000"/>
              </a:lnSpc>
              <a:spcBef>
                <a:spcPts val="0"/>
              </a:spcBef>
              <a:spcAft>
                <a:spcPts val="0"/>
              </a:spcAft>
              <a:buClr>
                <a:srgbClr val="546973"/>
              </a:buClr>
              <a:buSzPts val="1800"/>
              <a:buFont typeface="Varela Round"/>
              <a:buChar char="○"/>
              <a:defRPr sz="1800" b="0" i="0" u="none" strike="noStrike" cap="none">
                <a:solidFill>
                  <a:srgbClr val="546973"/>
                </a:solidFill>
                <a:latin typeface="Varela Round"/>
                <a:ea typeface="Varela Round"/>
                <a:cs typeface="Varela Round"/>
                <a:sym typeface="Varela Round"/>
              </a:defRPr>
            </a:lvl8pPr>
            <a:lvl9pPr marL="4114800" marR="0" lvl="8" indent="-342900" algn="l" rtl="0">
              <a:lnSpc>
                <a:spcPct val="100000"/>
              </a:lnSpc>
              <a:spcBef>
                <a:spcPts val="0"/>
              </a:spcBef>
              <a:spcAft>
                <a:spcPts val="0"/>
              </a:spcAft>
              <a:buClr>
                <a:srgbClr val="546973"/>
              </a:buClr>
              <a:buSzPts val="1800"/>
              <a:buFont typeface="Varela Round"/>
              <a:buChar char="■"/>
              <a:defRPr sz="1800" b="0" i="0" u="none" strike="noStrike" cap="none">
                <a:solidFill>
                  <a:srgbClr val="546973"/>
                </a:solidFill>
                <a:latin typeface="Varela Round"/>
                <a:ea typeface="Varela Round"/>
                <a:cs typeface="Varela Round"/>
                <a:sym typeface="Varela Round"/>
              </a:defRPr>
            </a:lvl9pPr>
          </a:lstStyle>
          <a:p>
            <a:pPr marL="50800" indent="0" algn="ctr">
              <a:buClr>
                <a:srgbClr val="637991"/>
              </a:buClr>
              <a:buSzPct val="100000"/>
              <a:buNone/>
            </a:pPr>
            <a:r>
              <a:rPr lang="en-US" sz="2800" b="1" dirty="0">
                <a:solidFill>
                  <a:srgbClr val="002060"/>
                </a:solidFill>
                <a:latin typeface="Arial" panose="020B0604020202020204" pitchFamily="34" charset="0"/>
                <a:cs typeface="Arial" panose="020B0604020202020204" pitchFamily="34" charset="0"/>
              </a:rPr>
              <a:t>NỘI DUNG</a:t>
            </a:r>
          </a:p>
        </p:txBody>
      </p:sp>
      <p:pic>
        <p:nvPicPr>
          <p:cNvPr id="6" name="Picture 5" descr="Dai Nam [PPT] Template 11.png">
            <a:extLst>
              <a:ext uri="{FF2B5EF4-FFF2-40B4-BE49-F238E27FC236}">
                <a16:creationId xmlns:a16="http://schemas.microsoft.com/office/drawing/2014/main" id="{A7EEDB5B-0CC2-9D2C-C759-24F6336734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599707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fade">
                                      <p:cBhvr>
                                        <p:cTn id="10" dur="500"/>
                                        <p:tgtEl>
                                          <p:spTgt spid="1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fade">
                                      <p:cBhvr>
                                        <p:cTn id="13" dur="500"/>
                                        <p:tgtEl>
                                          <p:spTgt spid="1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3" end="3"/>
                                            </p:txEl>
                                          </p:spTgt>
                                        </p:tgtEl>
                                        <p:attrNameLst>
                                          <p:attrName>style.visibility</p:attrName>
                                        </p:attrNameLst>
                                      </p:cBhvr>
                                      <p:to>
                                        <p:strVal val="visible"/>
                                      </p:to>
                                    </p:set>
                                    <p:animEffect transition="in" filter="fade">
                                      <p:cBhvr>
                                        <p:cTn id="18" dur="500"/>
                                        <p:tgtEl>
                                          <p:spTgt spid="11">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fade">
                                      <p:cBhvr>
                                        <p:cTn id="21" dur="500"/>
                                        <p:tgtEl>
                                          <p:spTgt spid="11">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xEl>
                                              <p:pRg st="5" end="5"/>
                                            </p:txEl>
                                          </p:spTgt>
                                        </p:tgtEl>
                                        <p:attrNameLst>
                                          <p:attrName>style.visibility</p:attrName>
                                        </p:attrNameLst>
                                      </p:cBhvr>
                                      <p:to>
                                        <p:strVal val="visible"/>
                                      </p:to>
                                    </p:set>
                                    <p:animEffect transition="in" filter="fade">
                                      <p:cBhvr>
                                        <p:cTn id="24" dur="500"/>
                                        <p:tgtEl>
                                          <p:spTgt spid="11">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animEffect transition="in" filter="fade">
                                      <p:cBhvr>
                                        <p:cTn id="27" dur="500"/>
                                        <p:tgtEl>
                                          <p:spTgt spid="11">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xEl>
                                              <p:pRg st="7" end="7"/>
                                            </p:txEl>
                                          </p:spTgt>
                                        </p:tgtEl>
                                        <p:attrNameLst>
                                          <p:attrName>style.visibility</p:attrName>
                                        </p:attrNameLst>
                                      </p:cBhvr>
                                      <p:to>
                                        <p:strVal val="visible"/>
                                      </p:to>
                                    </p:set>
                                    <p:animEffect transition="in" filter="fade">
                                      <p:cBhvr>
                                        <p:cTn id="32" dur="500"/>
                                        <p:tgtEl>
                                          <p:spTgt spid="11">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xEl>
                                              <p:pRg st="8" end="8"/>
                                            </p:txEl>
                                          </p:spTgt>
                                        </p:tgtEl>
                                        <p:attrNameLst>
                                          <p:attrName>style.visibility</p:attrName>
                                        </p:attrNameLst>
                                      </p:cBhvr>
                                      <p:to>
                                        <p:strVal val="visible"/>
                                      </p:to>
                                    </p:set>
                                    <p:animEffect transition="in" filter="fade">
                                      <p:cBhvr>
                                        <p:cTn id="35" dur="500"/>
                                        <p:tgtEl>
                                          <p:spTgt spid="11">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xEl>
                                              <p:pRg st="9" end="9"/>
                                            </p:txEl>
                                          </p:spTgt>
                                        </p:tgtEl>
                                        <p:attrNameLst>
                                          <p:attrName>style.visibility</p:attrName>
                                        </p:attrNameLst>
                                      </p:cBhvr>
                                      <p:to>
                                        <p:strVal val="visible"/>
                                      </p:to>
                                    </p:set>
                                    <p:animEffect transition="in" filter="fade">
                                      <p:cBhvr>
                                        <p:cTn id="38" dur="500"/>
                                        <p:tgtEl>
                                          <p:spTgt spid="11">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xEl>
                                              <p:pRg st="10" end="10"/>
                                            </p:txEl>
                                          </p:spTgt>
                                        </p:tgtEl>
                                        <p:attrNameLst>
                                          <p:attrName>style.visibility</p:attrName>
                                        </p:attrNameLst>
                                      </p:cBhvr>
                                      <p:to>
                                        <p:strVal val="visible"/>
                                      </p:to>
                                    </p:set>
                                    <p:animEffect transition="in" filter="fade">
                                      <p:cBhvr>
                                        <p:cTn id="41" dur="500"/>
                                        <p:tgtEl>
                                          <p:spTgt spid="11">
                                            <p:txEl>
                                              <p:pRg st="10" end="1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xEl>
                                              <p:pRg st="11" end="11"/>
                                            </p:txEl>
                                          </p:spTgt>
                                        </p:tgtEl>
                                        <p:attrNameLst>
                                          <p:attrName>style.visibility</p:attrName>
                                        </p:attrNameLst>
                                      </p:cBhvr>
                                      <p:to>
                                        <p:strVal val="visible"/>
                                      </p:to>
                                    </p:set>
                                    <p:animEffect transition="in" filter="fade">
                                      <p:cBhvr>
                                        <p:cTn id="44" dur="500"/>
                                        <p:tgtEl>
                                          <p:spTgt spid="1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241"/>
        <p:cNvGrpSpPr/>
        <p:nvPr/>
      </p:nvGrpSpPr>
      <p:grpSpPr>
        <a:xfrm>
          <a:off x="0" y="0"/>
          <a:ext cx="0" cy="0"/>
          <a:chOff x="0" y="0"/>
          <a:chExt cx="0" cy="0"/>
        </a:xfrm>
      </p:grpSpPr>
      <p:sp>
        <p:nvSpPr>
          <p:cNvPr id="242" name="Google Shape;242;p17"/>
          <p:cNvSpPr txBox="1">
            <a:spLocks noGrp="1"/>
          </p:cNvSpPr>
          <p:nvPr>
            <p:ph type="title"/>
          </p:nvPr>
        </p:nvSpPr>
        <p:spPr>
          <a:xfrm>
            <a:off x="1519552" y="138556"/>
            <a:ext cx="6104895" cy="650835"/>
          </a:xfrm>
          <a:prstGeom prst="rect">
            <a:avLst/>
          </a:prstGeom>
        </p:spPr>
        <p:txBody>
          <a:bodyPr spcFirstLastPara="1" wrap="square" lIns="91425" tIns="91425" rIns="91425" bIns="91425" anchor="ctr" anchorCtr="0">
            <a:noAutofit/>
          </a:bodyPr>
          <a:lstStyle/>
          <a:p>
            <a:pPr lvl="0"/>
            <a:r>
              <a:rPr lang="en-US" sz="3200" spc="-5" dirty="0" err="1">
                <a:solidFill>
                  <a:srgbClr val="002060"/>
                </a:solidFill>
                <a:latin typeface="Arial" panose="020B0604020202020204" pitchFamily="34" charset="0"/>
                <a:cs typeface="Arial" panose="020B0604020202020204" pitchFamily="34" charset="0"/>
              </a:rPr>
              <a:t>Bảng</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phân</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phối</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sz="3200" dirty="0">
              <a:solidFill>
                <a:srgbClr val="002060"/>
              </a:solidFill>
              <a:latin typeface="Arial" panose="020B0604020202020204" pitchFamily="34" charset="0"/>
              <a:cs typeface="Arial" panose="020B0604020202020204" pitchFamily="34" charset="0"/>
            </a:endParaRPr>
          </a:p>
        </p:txBody>
      </p:sp>
      <p:sp>
        <p:nvSpPr>
          <p:cNvPr id="244" name="Google Shape;244;p17"/>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8</a:t>
            </a:fld>
            <a:endParaRPr/>
          </a:p>
        </p:txBody>
      </p:sp>
      <p:sp>
        <p:nvSpPr>
          <p:cNvPr id="2" name="Text Placeholder 1"/>
          <p:cNvSpPr>
            <a:spLocks noGrp="1"/>
          </p:cNvSpPr>
          <p:nvPr>
            <p:ph type="body" idx="1"/>
          </p:nvPr>
        </p:nvSpPr>
        <p:spPr>
          <a:xfrm>
            <a:off x="306321" y="831230"/>
            <a:ext cx="8293610" cy="1058559"/>
          </a:xfrm>
        </p:spPr>
        <p:txBody>
          <a:bodyPr/>
          <a:lstStyle/>
          <a:p>
            <a:pPr algn="just">
              <a:lnSpc>
                <a:spcPct val="150000"/>
              </a:lnSpc>
            </a:pPr>
            <a:r>
              <a:rPr lang="vi-VN" sz="2000" dirty="0">
                <a:solidFill>
                  <a:srgbClr val="002060"/>
                </a:solidFill>
                <a:latin typeface="Arial" panose="020B0604020202020204" pitchFamily="34" charset="0"/>
                <a:cs typeface="Arial" panose="020B0604020202020204" pitchFamily="34" charset="0"/>
              </a:rPr>
              <a:t>Đối với BNN rời rạc, mỗi giá trị của nó được gắn với một xác suất đặc trưng cho khả năng BNN nhận giá trị đó </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p</a:t>
            </a:r>
            <a:r>
              <a:rPr lang="en-US" sz="2000" i="1" baseline="-25000" dirty="0">
                <a:solidFill>
                  <a:srgbClr val="002060"/>
                </a:solidFill>
                <a:latin typeface="Arial" panose="020B0604020202020204" pitchFamily="34" charset="0"/>
                <a:ea typeface="Calibri" panose="020F0502020204030204" pitchFamily="34" charset="0"/>
                <a:cs typeface="Arial" panose="020B0604020202020204" pitchFamily="34" charset="0"/>
              </a:rPr>
              <a:t>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 P( X = x</a:t>
            </a:r>
            <a:r>
              <a:rPr lang="en-US" sz="2000" i="1" baseline="-25000" dirty="0">
                <a:solidFill>
                  <a:srgbClr val="002060"/>
                </a:solidFill>
                <a:latin typeface="Arial" panose="020B0604020202020204" pitchFamily="34" charset="0"/>
                <a:ea typeface="Calibri" panose="020F0502020204030204" pitchFamily="34" charset="0"/>
                <a:cs typeface="Arial" panose="020B0604020202020204" pitchFamily="34" charset="0"/>
              </a:rPr>
              <a:t>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a:t>
            </a:r>
            <a:r>
              <a:rPr lang="vi-VN" sz="2000" dirty="0">
                <a:solidFill>
                  <a:srgbClr val="002060"/>
                </a:solidFill>
                <a:latin typeface="Arial" panose="020B0604020202020204" pitchFamily="34" charset="0"/>
                <a:cs typeface="Arial" panose="020B0604020202020204" pitchFamily="34" charset="0"/>
              </a:rPr>
              <a:t>.</a:t>
            </a:r>
          </a:p>
          <a:p>
            <a:pPr algn="just">
              <a:lnSpc>
                <a:spcPct val="150000"/>
              </a:lnSpc>
              <a:spcAft>
                <a:spcPts val="800"/>
              </a:spcAft>
            </a:pPr>
            <a:endParaRPr lang="en-US" sz="2000" dirty="0">
              <a:solidFill>
                <a:srgbClr val="002060"/>
              </a:solidFill>
              <a:latin typeface="Arial" panose="020B0604020202020204" pitchFamily="34" charset="0"/>
              <a:ea typeface="Calibri" panose="020F0502020204030204" pitchFamily="34" charset="0"/>
              <a:cs typeface="Arial" panose="020B0604020202020204" pitchFamily="34" charset="0"/>
            </a:endParaRPr>
          </a:p>
        </p:txBody>
      </p:sp>
      <p:pic>
        <p:nvPicPr>
          <p:cNvPr id="3" name="Picture 2"/>
          <p:cNvPicPr>
            <a:picLocks noChangeAspect="1"/>
          </p:cNvPicPr>
          <p:nvPr/>
        </p:nvPicPr>
        <p:blipFill>
          <a:blip r:embed="rId3"/>
          <a:stretch>
            <a:fillRect/>
          </a:stretch>
        </p:blipFill>
        <p:spPr>
          <a:xfrm>
            <a:off x="2051681" y="1982814"/>
            <a:ext cx="4802891" cy="1085760"/>
          </a:xfrm>
          <a:prstGeom prst="rect">
            <a:avLst/>
          </a:prstGeom>
          <a:ln>
            <a:solidFill>
              <a:schemeClr val="bg1"/>
            </a:solidFill>
          </a:ln>
        </p:spPr>
      </p:pic>
      <mc:AlternateContent xmlns:mc="http://schemas.openxmlformats.org/markup-compatibility/2006" xmlns:a14="http://schemas.microsoft.com/office/drawing/2010/main">
        <mc:Choice Requires="a14">
          <p:sp>
            <p:nvSpPr>
              <p:cNvPr id="4" name="Rectangle 3"/>
              <p:cNvSpPr/>
              <p:nvPr/>
            </p:nvSpPr>
            <p:spPr>
              <a:xfrm>
                <a:off x="1657506" y="3146091"/>
                <a:ext cx="3746597" cy="147976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002060"/>
                              </a:solidFill>
                              <a:latin typeface="Cambria Math" panose="02040503050406030204" pitchFamily="18" charset="0"/>
                              <a:cs typeface="Times New Roman" panose="02020603050405020304" pitchFamily="18" charset="0"/>
                              <a:sym typeface="Varela Round"/>
                            </a:rPr>
                          </m:ctrlPr>
                        </m:dPr>
                        <m:e>
                          <m:eqArr>
                            <m:eqArrPr>
                              <m:ctrlPr>
                                <a:rPr lang="en-US" sz="2000" i="1">
                                  <a:solidFill>
                                    <a:srgbClr val="002060"/>
                                  </a:solidFill>
                                  <a:latin typeface="Cambria Math" panose="02040503050406030204" pitchFamily="18" charset="0"/>
                                  <a:cs typeface="Times New Roman" panose="02020603050405020304" pitchFamily="18" charset="0"/>
                                  <a:sym typeface="Varela Round"/>
                                </a:rPr>
                              </m:ctrlPr>
                            </m:eqArrPr>
                            <m:e>
                              <m:sSub>
                                <m:sSubPr>
                                  <m:ctrlPr>
                                    <a:rPr lang="en-US" sz="2000" i="1">
                                      <a:solidFill>
                                        <a:srgbClr val="002060"/>
                                      </a:solidFill>
                                      <a:latin typeface="Cambria Math" panose="02040503050406030204" pitchFamily="18" charset="0"/>
                                      <a:sym typeface="Varela Round"/>
                                    </a:rPr>
                                  </m:ctrlPr>
                                </m:sSubPr>
                                <m:e>
                                  <m:r>
                                    <m:rPr>
                                      <m:sty m:val="p"/>
                                    </m:rPr>
                                    <a:rPr lang="en-US" sz="2000" i="1" smtClean="0">
                                      <a:solidFill>
                                        <a:srgbClr val="002060"/>
                                      </a:solidFill>
                                      <a:latin typeface="Cambria Math" panose="02040503050406030204" pitchFamily="18" charset="0"/>
                                      <a:sym typeface="Varela Round"/>
                                    </a:rPr>
                                    <m:t>x</m:t>
                                  </m:r>
                                </m:e>
                                <m:sub>
                                  <m:r>
                                    <a:rPr lang="vi-VN" sz="2000" b="0" i="1" smtClean="0">
                                      <a:solidFill>
                                        <a:srgbClr val="002060"/>
                                      </a:solidFill>
                                      <a:latin typeface="Cambria Math" panose="02040503050406030204" pitchFamily="18" charset="0"/>
                                      <a:sym typeface="Varela Round"/>
                                    </a:rPr>
                                    <m:t>1</m:t>
                                  </m:r>
                                </m:sub>
                              </m:sSub>
                              <m:r>
                                <a:rPr lang="vi-VN" sz="2000" b="0" i="1" smtClean="0">
                                  <a:solidFill>
                                    <a:srgbClr val="002060"/>
                                  </a:solidFill>
                                  <a:latin typeface="Cambria Math" panose="02040503050406030204" pitchFamily="18" charset="0"/>
                                  <a:sym typeface="Varela Round"/>
                                </a:rPr>
                                <m:t>,</m:t>
                              </m:r>
                              <m:sSub>
                                <m:sSubPr>
                                  <m:ctrlPr>
                                    <a:rPr lang="en-US" sz="2000" i="1">
                                      <a:solidFill>
                                        <a:srgbClr val="002060"/>
                                      </a:solidFill>
                                      <a:latin typeface="Cambria Math" panose="02040503050406030204" pitchFamily="18" charset="0"/>
                                      <a:sym typeface="Varela Round"/>
                                    </a:rPr>
                                  </m:ctrlPr>
                                </m:sSubPr>
                                <m:e>
                                  <m:r>
                                    <m:rPr>
                                      <m:sty m:val="p"/>
                                    </m:rPr>
                                    <a:rPr lang="en-US" sz="2000" i="1" smtClean="0">
                                      <a:solidFill>
                                        <a:srgbClr val="002060"/>
                                      </a:solidFill>
                                      <a:latin typeface="Cambria Math" panose="02040503050406030204" pitchFamily="18" charset="0"/>
                                      <a:sym typeface="Varela Round"/>
                                    </a:rPr>
                                    <m:t>x</m:t>
                                  </m:r>
                                </m:e>
                                <m:sub>
                                  <m:r>
                                    <a:rPr lang="vi-VN" sz="2000" b="0" i="1" smtClean="0">
                                      <a:solidFill>
                                        <a:srgbClr val="002060"/>
                                      </a:solidFill>
                                      <a:latin typeface="Cambria Math" panose="02040503050406030204" pitchFamily="18" charset="0"/>
                                      <a:sym typeface="Varela Round"/>
                                    </a:rPr>
                                    <m:t>2</m:t>
                                  </m:r>
                                </m:sub>
                              </m:sSub>
                              <m:r>
                                <a:rPr lang="vi-VN" sz="2000" b="0" i="1" smtClean="0">
                                  <a:solidFill>
                                    <a:srgbClr val="002060"/>
                                  </a:solidFill>
                                  <a:latin typeface="Cambria Math" panose="02040503050406030204" pitchFamily="18" charset="0"/>
                                  <a:sym typeface="Varela Round"/>
                                </a:rPr>
                                <m:t>,…,</m:t>
                              </m:r>
                              <m:sSub>
                                <m:sSubPr>
                                  <m:ctrlPr>
                                    <a:rPr lang="en-US" sz="2000" i="1">
                                      <a:solidFill>
                                        <a:srgbClr val="002060"/>
                                      </a:solidFill>
                                      <a:latin typeface="Cambria Math" panose="02040503050406030204" pitchFamily="18" charset="0"/>
                                      <a:sym typeface="Varela Round"/>
                                    </a:rPr>
                                  </m:ctrlPr>
                                </m:sSubPr>
                                <m:e>
                                  <m:r>
                                    <m:rPr>
                                      <m:sty m:val="p"/>
                                    </m:rPr>
                                    <a:rPr lang="en-US" sz="2000" i="1" smtClean="0">
                                      <a:solidFill>
                                        <a:srgbClr val="002060"/>
                                      </a:solidFill>
                                      <a:latin typeface="Cambria Math" panose="02040503050406030204" pitchFamily="18" charset="0"/>
                                      <a:sym typeface="Varela Round"/>
                                    </a:rPr>
                                    <m:t>x</m:t>
                                  </m:r>
                                </m:e>
                                <m:sub>
                                  <m:r>
                                    <m:rPr>
                                      <m:sty m:val="p"/>
                                    </m:rPr>
                                    <a:rPr lang="en-US" sz="2000" i="1">
                                      <a:solidFill>
                                        <a:srgbClr val="002060"/>
                                      </a:solidFill>
                                      <a:latin typeface="Cambria Math" panose="02040503050406030204" pitchFamily="18" charset="0"/>
                                      <a:sym typeface="Varela Round"/>
                                    </a:rPr>
                                    <m:t>n</m:t>
                                  </m:r>
                                </m:sub>
                              </m:sSub>
                              <m:r>
                                <a:rPr lang="vi-VN" sz="2000" b="0" i="1" smtClean="0">
                                  <a:solidFill>
                                    <a:srgbClr val="002060"/>
                                  </a:solidFill>
                                  <a:latin typeface="Cambria Math" panose="02040503050406030204" pitchFamily="18" charset="0"/>
                                  <a:sym typeface="Varela Round"/>
                                </a:rPr>
                                <m:t> </m:t>
                              </m:r>
                              <m:r>
                                <a:rPr lang="vi-VN" sz="2000" b="0" i="1" smtClean="0">
                                  <a:solidFill>
                                    <a:srgbClr val="002060"/>
                                  </a:solidFill>
                                  <a:latin typeface="Cambria Math" panose="02040503050406030204" pitchFamily="18" charset="0"/>
                                  <a:sym typeface="Varela Round"/>
                                </a:rPr>
                                <m:t>𝑙</m:t>
                              </m:r>
                              <m:r>
                                <a:rPr lang="vi-VN" sz="2000" i="1">
                                  <a:solidFill>
                                    <a:srgbClr val="002060"/>
                                  </a:solidFill>
                                  <a:latin typeface="Cambria Math" panose="02040503050406030204" pitchFamily="18" charset="0"/>
                                  <a:sym typeface="Varela Round"/>
                                </a:rPr>
                                <m:t>à</m:t>
                              </m:r>
                              <m:r>
                                <a:rPr lang="vi-VN" sz="2000" b="0" i="1" smtClean="0">
                                  <a:solidFill>
                                    <a:srgbClr val="002060"/>
                                  </a:solidFill>
                                  <a:latin typeface="Cambria Math" panose="02040503050406030204" pitchFamily="18" charset="0"/>
                                  <a:sym typeface="Varela Round"/>
                                </a:rPr>
                                <m:t> </m:t>
                              </m:r>
                              <m:r>
                                <m:rPr>
                                  <m:sty m:val="p"/>
                                </m:rPr>
                                <a:rPr lang="vi-VN" sz="2000" i="1">
                                  <a:solidFill>
                                    <a:srgbClr val="002060"/>
                                  </a:solidFill>
                                  <a:latin typeface="Cambria Math" panose="02040503050406030204" pitchFamily="18" charset="0"/>
                                  <a:sym typeface="Varela Round"/>
                                </a:rPr>
                                <m:t>c</m:t>
                              </m:r>
                              <m:r>
                                <a:rPr lang="vi-VN" sz="2000" i="1">
                                  <a:solidFill>
                                    <a:srgbClr val="002060"/>
                                  </a:solidFill>
                                  <a:latin typeface="Cambria Math" panose="02040503050406030204" pitchFamily="18" charset="0"/>
                                  <a:sym typeface="Varela Round"/>
                                </a:rPr>
                                <m:t>á</m:t>
                              </m:r>
                              <m:r>
                                <m:rPr>
                                  <m:sty m:val="p"/>
                                </m:rPr>
                                <a:rPr lang="vi-VN" sz="2000" i="1">
                                  <a:solidFill>
                                    <a:srgbClr val="002060"/>
                                  </a:solidFill>
                                  <a:latin typeface="Cambria Math" panose="02040503050406030204" pitchFamily="18" charset="0"/>
                                  <a:sym typeface="Varela Round"/>
                                </a:rPr>
                                <m:t>c</m:t>
                              </m:r>
                              <m:r>
                                <a:rPr lang="vi-VN" sz="2000" b="0" i="1" smtClean="0">
                                  <a:solidFill>
                                    <a:srgbClr val="002060"/>
                                  </a:solidFill>
                                  <a:latin typeface="Cambria Math" panose="02040503050406030204" pitchFamily="18" charset="0"/>
                                  <a:sym typeface="Varela Round"/>
                                </a:rPr>
                                <m:t> </m:t>
                              </m:r>
                              <m:r>
                                <m:rPr>
                                  <m:sty m:val="p"/>
                                </m:rPr>
                                <a:rPr lang="vi-VN" sz="2000" i="1">
                                  <a:solidFill>
                                    <a:srgbClr val="002060"/>
                                  </a:solidFill>
                                  <a:latin typeface="Cambria Math" panose="02040503050406030204" pitchFamily="18" charset="0"/>
                                  <a:sym typeface="Varela Round"/>
                                </a:rPr>
                                <m:t>gi</m:t>
                              </m:r>
                              <m:r>
                                <a:rPr lang="vi-VN" sz="2000" i="1">
                                  <a:solidFill>
                                    <a:srgbClr val="002060"/>
                                  </a:solidFill>
                                  <a:latin typeface="Cambria Math" panose="02040503050406030204" pitchFamily="18" charset="0"/>
                                  <a:sym typeface="Varela Round"/>
                                </a:rPr>
                                <m:t>á </m:t>
                              </m:r>
                              <m:r>
                                <m:rPr>
                                  <m:sty m:val="p"/>
                                </m:rPr>
                                <a:rPr lang="vi-VN" sz="2000" i="1">
                                  <a:solidFill>
                                    <a:srgbClr val="002060"/>
                                  </a:solidFill>
                                  <a:latin typeface="Cambria Math" panose="02040503050406030204" pitchFamily="18" charset="0"/>
                                  <a:sym typeface="Varela Round"/>
                                </a:rPr>
                                <m:t>tr</m:t>
                              </m:r>
                              <m:r>
                                <a:rPr lang="vi-VN" sz="2000" i="1">
                                  <a:solidFill>
                                    <a:srgbClr val="002060"/>
                                  </a:solidFill>
                                  <a:latin typeface="Cambria Math" panose="02040503050406030204" pitchFamily="18" charset="0"/>
                                  <a:sym typeface="Varela Round"/>
                                </a:rPr>
                                <m:t>ị </m:t>
                              </m:r>
                              <m:r>
                                <m:rPr>
                                  <m:sty m:val="p"/>
                                </m:rPr>
                                <a:rPr lang="vi-VN" sz="2000" i="1">
                                  <a:solidFill>
                                    <a:srgbClr val="002060"/>
                                  </a:solidFill>
                                  <a:latin typeface="Cambria Math" panose="02040503050406030204" pitchFamily="18" charset="0"/>
                                  <a:sym typeface="Varela Round"/>
                                </a:rPr>
                                <m:t>c</m:t>
                              </m:r>
                              <m:r>
                                <a:rPr lang="vi-VN" sz="2000" i="1">
                                  <a:solidFill>
                                    <a:srgbClr val="002060"/>
                                  </a:solidFill>
                                  <a:latin typeface="Cambria Math" panose="02040503050406030204" pitchFamily="18" charset="0"/>
                                  <a:sym typeface="Varela Round"/>
                                </a:rPr>
                                <m:t>ủ</m:t>
                              </m:r>
                              <m:r>
                                <m:rPr>
                                  <m:sty m:val="p"/>
                                </m:rPr>
                                <a:rPr lang="vi-VN" sz="2000" i="1">
                                  <a:solidFill>
                                    <a:srgbClr val="002060"/>
                                  </a:solidFill>
                                  <a:latin typeface="Cambria Math" panose="02040503050406030204" pitchFamily="18" charset="0"/>
                                  <a:sym typeface="Varela Round"/>
                                </a:rPr>
                                <m:t>a</m:t>
                              </m:r>
                              <m:r>
                                <a:rPr lang="vi-VN" sz="2000" b="0" i="1" smtClean="0">
                                  <a:solidFill>
                                    <a:srgbClr val="002060"/>
                                  </a:solidFill>
                                  <a:latin typeface="Cambria Math" panose="02040503050406030204" pitchFamily="18" charset="0"/>
                                  <a:sym typeface="Varela Round"/>
                                </a:rPr>
                                <m:t> </m:t>
                              </m:r>
                              <m:r>
                                <m:rPr>
                                  <m:sty m:val="p"/>
                                </m:rPr>
                                <a:rPr lang="vi-VN" sz="2000" i="1">
                                  <a:solidFill>
                                    <a:srgbClr val="002060"/>
                                  </a:solidFill>
                                  <a:latin typeface="Cambria Math" panose="02040503050406030204" pitchFamily="18" charset="0"/>
                                  <a:sym typeface="Varela Round"/>
                                </a:rPr>
                                <m:t>X</m:t>
                              </m:r>
                            </m:e>
                            <m:e>
                              <m:nary>
                                <m:naryPr>
                                  <m:chr m:val="∑"/>
                                  <m:ctrlPr>
                                    <a:rPr lang="en-US" sz="2000" i="1">
                                      <a:solidFill>
                                        <a:srgbClr val="002060"/>
                                      </a:solidFill>
                                      <a:latin typeface="Cambria Math" panose="02040503050406030204" pitchFamily="18" charset="0"/>
                                      <a:sym typeface="Varela Round"/>
                                    </a:rPr>
                                  </m:ctrlPr>
                                </m:naryPr>
                                <m:sub>
                                  <m:r>
                                    <m:rPr>
                                      <m:brk m:alnAt="23"/>
                                    </m:rPr>
                                    <a:rPr lang="en-US" sz="2000" i="1">
                                      <a:solidFill>
                                        <a:srgbClr val="002060"/>
                                      </a:solidFill>
                                      <a:latin typeface="Cambria Math" panose="02040503050406030204" pitchFamily="18" charset="0"/>
                                      <a:sym typeface="Varela Round"/>
                                    </a:rPr>
                                    <m:t>𝑖</m:t>
                                  </m:r>
                                  <m:r>
                                    <a:rPr lang="en-US" sz="2000" i="1">
                                      <a:solidFill>
                                        <a:srgbClr val="002060"/>
                                      </a:solidFill>
                                      <a:latin typeface="Cambria Math" panose="02040503050406030204" pitchFamily="18" charset="0"/>
                                      <a:sym typeface="Varela Round"/>
                                    </a:rPr>
                                    <m:t>=1</m:t>
                                  </m:r>
                                </m:sub>
                                <m:sup>
                                  <m:r>
                                    <a:rPr lang="en-US" sz="2000" i="1">
                                      <a:solidFill>
                                        <a:srgbClr val="002060"/>
                                      </a:solidFill>
                                      <a:latin typeface="Cambria Math" panose="02040503050406030204" pitchFamily="18" charset="0"/>
                                      <a:sym typeface="Varela Round"/>
                                    </a:rPr>
                                    <m:t>𝑛</m:t>
                                  </m:r>
                                </m:sup>
                                <m:e>
                                  <m:sSub>
                                    <m:sSubPr>
                                      <m:ctrlPr>
                                        <a:rPr lang="en-US" sz="2000" i="1">
                                          <a:solidFill>
                                            <a:srgbClr val="002060"/>
                                          </a:solidFill>
                                          <a:latin typeface="Cambria Math" panose="02040503050406030204" pitchFamily="18" charset="0"/>
                                          <a:sym typeface="Varela Round"/>
                                        </a:rPr>
                                      </m:ctrlPr>
                                    </m:sSubPr>
                                    <m:e>
                                      <m:r>
                                        <a:rPr lang="en-US" sz="2000" i="1">
                                          <a:solidFill>
                                            <a:srgbClr val="002060"/>
                                          </a:solidFill>
                                          <a:latin typeface="Cambria Math" panose="02040503050406030204" pitchFamily="18" charset="0"/>
                                          <a:sym typeface="Varela Round"/>
                                        </a:rPr>
                                        <m:t>𝑝</m:t>
                                      </m:r>
                                    </m:e>
                                    <m:sub>
                                      <m:r>
                                        <a:rPr lang="en-US" sz="2000" i="1">
                                          <a:solidFill>
                                            <a:srgbClr val="002060"/>
                                          </a:solidFill>
                                          <a:latin typeface="Cambria Math" panose="02040503050406030204" pitchFamily="18" charset="0"/>
                                          <a:sym typeface="Varela Round"/>
                                        </a:rPr>
                                        <m:t>𝑖</m:t>
                                      </m:r>
                                    </m:sub>
                                  </m:sSub>
                                  <m:r>
                                    <a:rPr lang="en-US" sz="2000" i="1">
                                      <a:solidFill>
                                        <a:srgbClr val="002060"/>
                                      </a:solidFill>
                                      <a:latin typeface="Cambria Math" panose="02040503050406030204" pitchFamily="18" charset="0"/>
                                      <a:sym typeface="Varela Round"/>
                                    </a:rPr>
                                    <m:t>=1</m:t>
                                  </m:r>
                                </m:e>
                              </m:nary>
                            </m:e>
                          </m:eqArr>
                        </m:e>
                      </m:d>
                    </m:oMath>
                  </m:oMathPara>
                </a14:m>
                <a:endParaRPr lang="en-US" sz="2000" dirty="0">
                  <a:solidFill>
                    <a:srgbClr val="002060"/>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1657506" y="3146091"/>
                <a:ext cx="3746597" cy="1479764"/>
              </a:xfrm>
              <a:prstGeom prst="rect">
                <a:avLst/>
              </a:prstGeom>
              <a:blipFill>
                <a:blip r:embed="rId4"/>
                <a:stretch>
                  <a:fillRect t="-36441" b="-89831"/>
                </a:stretch>
              </a:blipFill>
            </p:spPr>
            <p:txBody>
              <a:bodyPr/>
              <a:lstStyle/>
              <a:p>
                <a:r>
                  <a:rPr lang="en-VN">
                    <a:noFill/>
                  </a:rPr>
                  <a:t> </a:t>
                </a:r>
              </a:p>
            </p:txBody>
          </p:sp>
        </mc:Fallback>
      </mc:AlternateContent>
      <p:sp>
        <p:nvSpPr>
          <p:cNvPr id="6" name="Rectangle 5"/>
          <p:cNvSpPr/>
          <p:nvPr/>
        </p:nvSpPr>
        <p:spPr>
          <a:xfrm>
            <a:off x="438910" y="3669298"/>
            <a:ext cx="1332416" cy="397673"/>
          </a:xfrm>
          <a:prstGeom prst="rect">
            <a:avLst/>
          </a:prstGeom>
        </p:spPr>
        <p:txBody>
          <a:bodyPr wrap="none">
            <a:spAutoFit/>
          </a:bodyPr>
          <a:lstStyle/>
          <a:p>
            <a:pPr marL="50800" lvl="0">
              <a:lnSpc>
                <a:spcPct val="107000"/>
              </a:lnSpc>
              <a:spcBef>
                <a:spcPts val="600"/>
              </a:spcBef>
              <a:spcAft>
                <a:spcPts val="800"/>
              </a:spcAft>
              <a:buClr>
                <a:srgbClr val="7BD100"/>
              </a:buClr>
              <a:buSzPts val="2800"/>
            </a:pP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sym typeface="Varela Round"/>
              </a:rPr>
              <a:t>Trong</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sym typeface="Varela Round"/>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sym typeface="Varela Round"/>
              </a:rPr>
              <a:t>đó</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sym typeface="Varela Round"/>
              </a:rPr>
              <a:t>:</a:t>
            </a:r>
          </a:p>
        </p:txBody>
      </p:sp>
      <p:pic>
        <p:nvPicPr>
          <p:cNvPr id="7" name="Picture 6" descr="Dai Nam [PPT] Template 11.png">
            <a:extLst>
              <a:ext uri="{FF2B5EF4-FFF2-40B4-BE49-F238E27FC236}">
                <a16:creationId xmlns:a16="http://schemas.microsoft.com/office/drawing/2014/main" id="{4D30DA86-7CB2-B08C-2FFA-C87B6F6FC2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30825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barn(inVertical)">
                                      <p:cBhvr>
                                        <p:cTn id="2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847023" y="219456"/>
            <a:ext cx="5449954" cy="813816"/>
          </a:xfrm>
        </p:spPr>
        <p:txBody>
          <a:bodyPr/>
          <a:lstStyle/>
          <a:p>
            <a:r>
              <a:rPr lang="en-US" sz="3200" spc="-5" dirty="0" err="1">
                <a:solidFill>
                  <a:srgbClr val="002060"/>
                </a:solidFill>
                <a:latin typeface="Arial" panose="020B0604020202020204" pitchFamily="34" charset="0"/>
                <a:cs typeface="Arial" panose="020B0604020202020204" pitchFamily="34" charset="0"/>
              </a:rPr>
              <a:t>Bảng</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phân</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phối</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p:sp>
        <p:nvSpPr>
          <p:cNvPr id="3" name="Text Placeholder 2"/>
          <p:cNvSpPr>
            <a:spLocks noGrp="1"/>
          </p:cNvSpPr>
          <p:nvPr>
            <p:ph type="body" idx="1"/>
          </p:nvPr>
        </p:nvSpPr>
        <p:spPr>
          <a:xfrm>
            <a:off x="690372" y="1197622"/>
            <a:ext cx="7763256" cy="1956977"/>
          </a:xfrm>
        </p:spPr>
        <p:txBody>
          <a:bodyPr/>
          <a:lstStyle/>
          <a:p>
            <a:pPr marL="50800" indent="0" algn="just">
              <a:lnSpc>
                <a:spcPct val="150000"/>
              </a:lnSpc>
              <a:spcBef>
                <a:spcPts val="0"/>
              </a:spcBef>
              <a:buNone/>
            </a:pPr>
            <a:r>
              <a:rPr lang="vi-VN" sz="2000" b="1" dirty="0">
                <a:solidFill>
                  <a:srgbClr val="002060"/>
                </a:solidFill>
                <a:latin typeface="Arial" panose="020B0604020202020204" pitchFamily="34" charset="0"/>
                <a:cs typeface="Arial" panose="020B0604020202020204" pitchFamily="34" charset="0"/>
              </a:rPr>
              <a:t>Ví dụ:</a:t>
            </a:r>
            <a:r>
              <a:rPr lang="vi-VN" sz="2000" dirty="0">
                <a:solidFill>
                  <a:srgbClr val="002060"/>
                </a:solidFill>
                <a:latin typeface="Arial" panose="020B0604020202020204" pitchFamily="34" charset="0"/>
                <a:cs typeface="Arial" panose="020B0604020202020204" pitchFamily="34" charset="0"/>
              </a:rPr>
              <a:t> Một bít được truyền qua đường truyền kỹ thuật số có thể bị lỗi. Xác suất để một bít được truyền đi bị lỗi là 0,1. Giả sử rằng các lần truyền là độc lập nhau. Gọi X là số bít bị lỗi trong bốn bít được truyền đi. Lập bảng phân phối xác suất của X.</a:t>
            </a:r>
            <a:endParaRPr lang="en-US" sz="2000" dirty="0">
              <a:solidFill>
                <a:srgbClr val="002060"/>
              </a:solidFill>
              <a:latin typeface="Arial" panose="020B0604020202020204" pitchFamily="34" charset="0"/>
              <a:cs typeface="Arial" panose="020B0604020202020204" pitchFamily="34" charset="0"/>
            </a:endParaRPr>
          </a:p>
        </p:txBody>
      </p:sp>
      <p:pic>
        <p:nvPicPr>
          <p:cNvPr id="8" name="Picture 7" descr="Dai Nam [PPT] Template 11.png">
            <a:extLst>
              <a:ext uri="{FF2B5EF4-FFF2-40B4-BE49-F238E27FC236}">
                <a16:creationId xmlns:a16="http://schemas.microsoft.com/office/drawing/2014/main" id="{627444C3-5326-2B36-6911-3AA1AA1CAE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2470733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847023" y="219456"/>
            <a:ext cx="5449954" cy="813816"/>
          </a:xfrm>
        </p:spPr>
        <p:txBody>
          <a:bodyPr/>
          <a:lstStyle/>
          <a:p>
            <a:r>
              <a:rPr lang="en-US" sz="3200" spc="-5" dirty="0" err="1">
                <a:solidFill>
                  <a:srgbClr val="002060"/>
                </a:solidFill>
                <a:latin typeface="Arial" panose="020B0604020202020204" pitchFamily="34" charset="0"/>
                <a:cs typeface="Arial" panose="020B0604020202020204" pitchFamily="34" charset="0"/>
              </a:rPr>
              <a:t>Bảng</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phân</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phối</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p:sp>
        <p:nvSpPr>
          <p:cNvPr id="3" name="Text Placeholder 2"/>
          <p:cNvSpPr>
            <a:spLocks noGrp="1"/>
          </p:cNvSpPr>
          <p:nvPr>
            <p:ph type="body" idx="1"/>
          </p:nvPr>
        </p:nvSpPr>
        <p:spPr>
          <a:xfrm>
            <a:off x="690372" y="1362295"/>
            <a:ext cx="7763256" cy="1911257"/>
          </a:xfrm>
        </p:spPr>
        <p:txBody>
          <a:bodyPr/>
          <a:lstStyle/>
          <a:p>
            <a:pPr marL="50800" indent="0" algn="just">
              <a:lnSpc>
                <a:spcPct val="150000"/>
              </a:lnSpc>
              <a:spcBef>
                <a:spcPts val="0"/>
              </a:spcBef>
              <a:buNone/>
            </a:pPr>
            <a:r>
              <a:rPr lang="vi-VN" sz="2000" b="1" dirty="0">
                <a:solidFill>
                  <a:srgbClr val="002060"/>
                </a:solidFill>
                <a:latin typeface="Arial" panose="020B0604020202020204" pitchFamily="34" charset="0"/>
                <a:cs typeface="Arial" panose="020B0604020202020204" pitchFamily="34" charset="0"/>
              </a:rPr>
              <a:t>Ví dụ:</a:t>
            </a:r>
            <a:r>
              <a:rPr lang="vi-VN" sz="2000" dirty="0">
                <a:solidFill>
                  <a:srgbClr val="002060"/>
                </a:solidFill>
                <a:latin typeface="Arial" panose="020B0604020202020204" pitchFamily="34" charset="0"/>
                <a:cs typeface="Arial" panose="020B0604020202020204" pitchFamily="34" charset="0"/>
              </a:rPr>
              <a:t> Một xạ thủ chỉ có 3 viên đạn. Anh ta được yêu cầu bắn từng phát cho đến khi trúng mục tiêu thì dừng bắn, biết rằng xác suất trúng của mỗi lần bắn là 0,6. Hãy lập bảng phân phối xác suất của số đạn cần bắn.</a:t>
            </a:r>
            <a:endParaRPr lang="en-US" sz="2000" dirty="0">
              <a:solidFill>
                <a:srgbClr val="002060"/>
              </a:solidFill>
              <a:latin typeface="Arial" panose="020B0604020202020204" pitchFamily="34" charset="0"/>
              <a:cs typeface="Arial" panose="020B0604020202020204" pitchFamily="34" charset="0"/>
            </a:endParaRPr>
          </a:p>
        </p:txBody>
      </p:sp>
      <p:pic>
        <p:nvPicPr>
          <p:cNvPr id="8" name="Picture 7" descr="Dai Nam [PPT] Template 11.png">
            <a:extLst>
              <a:ext uri="{FF2B5EF4-FFF2-40B4-BE49-F238E27FC236}">
                <a16:creationId xmlns:a16="http://schemas.microsoft.com/office/drawing/2014/main" id="{627444C3-5326-2B36-6911-3AA1AA1CAE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3315824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4906" y="2436089"/>
            <a:ext cx="4324146" cy="2109572"/>
          </a:xfrm>
          <a:prstGeom prst="rect">
            <a:avLst/>
          </a:prstGeom>
        </p:spPr>
      </p:pic>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11</a:t>
            </a:fld>
            <a:endParaRPr lang="en"/>
          </a:p>
        </p:txBody>
      </p:sp>
      <p:sp>
        <p:nvSpPr>
          <p:cNvPr id="5" name="Title 1"/>
          <p:cNvSpPr>
            <a:spLocks noGrp="1"/>
          </p:cNvSpPr>
          <p:nvPr>
            <p:ph type="title"/>
          </p:nvPr>
        </p:nvSpPr>
        <p:spPr>
          <a:xfrm>
            <a:off x="2125915" y="217600"/>
            <a:ext cx="4892170" cy="722376"/>
          </a:xfrm>
        </p:spPr>
        <p:txBody>
          <a:bodyPr/>
          <a:lstStyle/>
          <a:p>
            <a:r>
              <a:rPr lang="en-US" sz="3200" spc="-5" dirty="0" err="1">
                <a:solidFill>
                  <a:srgbClr val="002060"/>
                </a:solidFill>
                <a:latin typeface="Arial" panose="020B0604020202020204" pitchFamily="34" charset="0"/>
                <a:cs typeface="Arial" panose="020B0604020202020204" pitchFamily="34" charset="0"/>
              </a:rPr>
              <a:t>Hàm</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phân</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phối</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Rectangle 2"/>
              <p:cNvSpPr/>
              <p:nvPr/>
            </p:nvSpPr>
            <p:spPr>
              <a:xfrm>
                <a:off x="261173" y="2640279"/>
                <a:ext cx="4572000" cy="1420261"/>
              </a:xfrm>
              <a:prstGeom prst="rect">
                <a:avLst/>
              </a:prstGeom>
            </p:spPr>
            <p:txBody>
              <a:bodyPr>
                <a:spAutoFit/>
              </a:bodyPr>
              <a:lstStyle/>
              <a:p>
                <a:pPr>
                  <a:lnSpc>
                    <a:spcPct val="150000"/>
                  </a:lnSpc>
                </a:pPr>
                <a:r>
                  <a:rPr lang="en-US" sz="2000" b="1" dirty="0" err="1">
                    <a:solidFill>
                      <a:srgbClr val="002060"/>
                    </a:solidFill>
                    <a:latin typeface="Arial" panose="020B0604020202020204" pitchFamily="34" charset="0"/>
                    <a:cs typeface="Arial" panose="020B0604020202020204" pitchFamily="34" charset="0"/>
                  </a:rPr>
                  <a:t>Ý</a:t>
                </a:r>
                <a:r>
                  <a:rPr lang="en-US" sz="2000" b="1" dirty="0">
                    <a:solidFill>
                      <a:srgbClr val="002060"/>
                    </a:solidFill>
                    <a:latin typeface="Arial" panose="020B0604020202020204" pitchFamily="34" charset="0"/>
                    <a:cs typeface="Arial" panose="020B0604020202020204" pitchFamily="34" charset="0"/>
                  </a:rPr>
                  <a:t> </a:t>
                </a:r>
                <a:r>
                  <a:rPr lang="en-US" sz="2000" b="1" dirty="0" err="1">
                    <a:solidFill>
                      <a:srgbClr val="002060"/>
                    </a:solidFill>
                    <a:latin typeface="Arial" panose="020B0604020202020204" pitchFamily="34" charset="0"/>
                    <a:cs typeface="Arial" panose="020B0604020202020204" pitchFamily="34" charset="0"/>
                  </a:rPr>
                  <a:t>nghĩa</a:t>
                </a:r>
                <a:r>
                  <a:rPr lang="en-US" sz="2000" b="1" dirty="0">
                    <a:solidFill>
                      <a:srgbClr val="002060"/>
                    </a:solidFill>
                    <a:latin typeface="Arial" panose="020B0604020202020204" pitchFamily="34" charset="0"/>
                    <a:cs typeface="Arial" panose="020B0604020202020204" pitchFamily="34" charset="0"/>
                  </a:rPr>
                  <a:t> </a:t>
                </a:r>
              </a:p>
              <a:p>
                <a:pPr>
                  <a:lnSpc>
                    <a:spcPct val="150000"/>
                  </a:lnSpc>
                </a:pPr>
                <a:r>
                  <a:rPr lang="en-US" sz="2000" dirty="0" err="1">
                    <a:solidFill>
                      <a:srgbClr val="002060"/>
                    </a:solidFill>
                    <a:latin typeface="Arial" panose="020B0604020202020204" pitchFamily="34" charset="0"/>
                    <a:cs typeface="Arial" panose="020B0604020202020204" pitchFamily="34" charset="0"/>
                  </a:rPr>
                  <a:t>Hàm</a:t>
                </a:r>
                <a:r>
                  <a:rPr lang="en-US" sz="2000" dirty="0">
                    <a:solidFill>
                      <a:srgbClr val="002060"/>
                    </a:solidFill>
                    <a:latin typeface="Arial" panose="020B0604020202020204" pitchFamily="34" charset="0"/>
                    <a:cs typeface="Arial" panose="020B0604020202020204" pitchFamily="34" charset="0"/>
                  </a:rPr>
                  <a:t> </a:t>
                </a:r>
                <a14:m>
                  <m:oMath xmlns:m="http://schemas.openxmlformats.org/officeDocument/2006/math">
                    <m:r>
                      <a:rPr lang="en-US" sz="2000" i="1" dirty="0" smtClean="0">
                        <a:solidFill>
                          <a:srgbClr val="002060"/>
                        </a:solidFill>
                        <a:latin typeface="Cambria Math" panose="02040503050406030204" pitchFamily="18" charset="0"/>
                        <a:cs typeface="Times New Roman" panose="02020603050405020304" pitchFamily="18" charset="0"/>
                      </a:rPr>
                      <m:t>𝐹</m:t>
                    </m:r>
                    <m:r>
                      <a:rPr lang="en-US" sz="2000" i="1" dirty="0" smtClean="0">
                        <a:solidFill>
                          <a:srgbClr val="002060"/>
                        </a:solidFill>
                        <a:latin typeface="Cambria Math" panose="02040503050406030204" pitchFamily="18" charset="0"/>
                        <a:cs typeface="Times New Roman" panose="02020603050405020304" pitchFamily="18" charset="0"/>
                      </a:rPr>
                      <m:t>(</m:t>
                    </m:r>
                    <m:r>
                      <a:rPr lang="en-US" sz="2000" i="1" dirty="0" smtClean="0">
                        <a:solidFill>
                          <a:srgbClr val="002060"/>
                        </a:solidFill>
                        <a:latin typeface="Cambria Math" panose="02040503050406030204" pitchFamily="18" charset="0"/>
                        <a:cs typeface="Times New Roman" panose="02020603050405020304" pitchFamily="18" charset="0"/>
                      </a:rPr>
                      <m:t>𝑥</m:t>
                    </m:r>
                    <m:r>
                      <a:rPr lang="en-US" sz="2000" i="1" dirty="0" smtClean="0">
                        <a:solidFill>
                          <a:srgbClr val="002060"/>
                        </a:solidFill>
                        <a:latin typeface="Cambria Math" panose="02040503050406030204" pitchFamily="18" charset="0"/>
                        <a:cs typeface="Times New Roman" panose="02020603050405020304" pitchFamily="18" charset="0"/>
                      </a:rPr>
                      <m:t>)</m:t>
                    </m:r>
                  </m:oMath>
                </a14:m>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phản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ánh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độ</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tập</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trung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xác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suất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ở</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bên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trái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của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số</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thực</a:t>
                </a:r>
                <a:r>
                  <a:rPr lang="en-US" sz="2000" dirty="0">
                    <a:solidFill>
                      <a:srgbClr val="002060"/>
                    </a:solidFill>
                    <a:latin typeface="Arial" panose="020B0604020202020204" pitchFamily="34" charset="0"/>
                    <a:cs typeface="Arial" panose="020B0604020202020204" pitchFamily="34" charset="0"/>
                  </a:rPr>
                  <a:t> </a:t>
                </a:r>
                <a14:m>
                  <m:oMath xmlns:m="http://schemas.openxmlformats.org/officeDocument/2006/math">
                    <m:r>
                      <a:rPr lang="en-US" sz="2000" i="1" dirty="0" smtClean="0">
                        <a:solidFill>
                          <a:srgbClr val="002060"/>
                        </a:solidFill>
                        <a:latin typeface="Cambria Math" panose="02040503050406030204" pitchFamily="18" charset="0"/>
                        <a:cs typeface="Times New Roman" panose="02020603050405020304" pitchFamily="18" charset="0"/>
                      </a:rPr>
                      <m:t>𝑥</m:t>
                    </m:r>
                  </m:oMath>
                </a14:m>
                <a:endParaRPr lang="en-US" sz="2000" dirty="0">
                  <a:solidFill>
                    <a:srgbClr val="002060"/>
                  </a:solidFill>
                  <a:latin typeface="Arial" panose="020B0604020202020204" pitchFamily="34" charset="0"/>
                  <a:cs typeface="Arial" panose="020B0604020202020204" pitchFamily="34"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261173" y="2640279"/>
                <a:ext cx="4572000" cy="1420261"/>
              </a:xfrm>
              <a:prstGeom prst="rect">
                <a:avLst/>
              </a:prstGeom>
              <a:blipFill>
                <a:blip r:embed="rId4"/>
                <a:stretch>
                  <a:fillRect l="-1385" b="-708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 name="Google Shape;278;p20">
                <a:extLst>
                  <a:ext uri="{FF2B5EF4-FFF2-40B4-BE49-F238E27FC236}">
                    <a16:creationId xmlns:a16="http://schemas.microsoft.com/office/drawing/2014/main" id="{31D82BDD-3399-89B6-3383-E2A929E251D9}"/>
                  </a:ext>
                </a:extLst>
              </p:cNvPr>
              <p:cNvSpPr txBox="1">
                <a:spLocks noGrp="1"/>
              </p:cNvSpPr>
              <p:nvPr>
                <p:ph type="body" idx="1"/>
              </p:nvPr>
            </p:nvSpPr>
            <p:spPr>
              <a:xfrm>
                <a:off x="261173" y="735786"/>
                <a:ext cx="8201378" cy="1700303"/>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lang="en-US" sz="2000" b="1" dirty="0">
                    <a:solidFill>
                      <a:srgbClr val="002060"/>
                    </a:solidFill>
                    <a:latin typeface="Arial" panose="020B0604020202020204" pitchFamily="34" charset="0"/>
                    <a:cs typeface="Arial" panose="020B0604020202020204" pitchFamily="34" charset="0"/>
                  </a:rPr>
                  <a:t>Định </a:t>
                </a:r>
                <a:r>
                  <a:rPr lang="en-US" sz="2000" b="1" dirty="0" err="1">
                    <a:solidFill>
                      <a:srgbClr val="002060"/>
                    </a:solidFill>
                    <a:latin typeface="Arial" panose="020B0604020202020204" pitchFamily="34" charset="0"/>
                    <a:cs typeface="Arial" panose="020B0604020202020204" pitchFamily="34" charset="0"/>
                  </a:rPr>
                  <a:t>nghĩa</a:t>
                </a:r>
                <a:endParaRPr lang="en-US" sz="2000" b="1" dirty="0">
                  <a:solidFill>
                    <a:srgbClr val="002060"/>
                  </a:solidFill>
                  <a:latin typeface="Arial" panose="020B0604020202020204" pitchFamily="34" charset="0"/>
                  <a:cs typeface="Arial" panose="020B0604020202020204" pitchFamily="34" charset="0"/>
                </a:endParaRPr>
              </a:p>
              <a:p>
                <a:pPr marL="457200" lvl="1" indent="0">
                  <a:lnSpc>
                    <a:spcPct val="150000"/>
                  </a:lnSpc>
                  <a:buNone/>
                </a:pPr>
                <a:r>
                  <a:rPr lang="en-US" sz="2000" dirty="0" err="1">
                    <a:solidFill>
                      <a:srgbClr val="002060"/>
                    </a:solidFill>
                    <a:latin typeface="Arial" panose="020B0604020202020204" pitchFamily="34" charset="0"/>
                    <a:cs typeface="Arial" panose="020B0604020202020204" pitchFamily="34" charset="0"/>
                  </a:rPr>
                  <a:t>Hàm</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phân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bố</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của</a:t>
                </a:r>
                <a:r>
                  <a:rPr lang="en-US" sz="2000" dirty="0">
                    <a:solidFill>
                      <a:srgbClr val="002060"/>
                    </a:solidFill>
                    <a:latin typeface="Arial" panose="020B0604020202020204" pitchFamily="34" charset="0"/>
                    <a:cs typeface="Arial" panose="020B0604020202020204" pitchFamily="34" charset="0"/>
                  </a:rPr>
                  <a:t> BNN </a:t>
                </a:r>
                <a:r>
                  <a:rPr lang="en-US" sz="2000" i="1" dirty="0">
                    <a:solidFill>
                      <a:srgbClr val="002060"/>
                    </a:solidFill>
                    <a:latin typeface="Arial" panose="020B0604020202020204" pitchFamily="34" charset="0"/>
                    <a:cs typeface="Arial" panose="020B0604020202020204" pitchFamily="34" charset="0"/>
                  </a:rPr>
                  <a:t>X</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kí</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hiệu</a:t>
                </a:r>
                <a:r>
                  <a:rPr lang="en-US" sz="2000" dirty="0">
                    <a:solidFill>
                      <a:srgbClr val="002060"/>
                    </a:solidFill>
                    <a:latin typeface="Arial" panose="020B0604020202020204" pitchFamily="34" charset="0"/>
                    <a:cs typeface="Arial" panose="020B0604020202020204" pitchFamily="34" charset="0"/>
                  </a:rPr>
                  <a:t> </a:t>
                </a:r>
                <a14:m>
                  <m:oMath xmlns:m="http://schemas.openxmlformats.org/officeDocument/2006/math">
                    <m:r>
                      <a:rPr lang="en-US" sz="2000" i="1" dirty="0" smtClean="0">
                        <a:solidFill>
                          <a:srgbClr val="002060"/>
                        </a:solidFill>
                        <a:latin typeface="Cambria Math" panose="02040503050406030204" pitchFamily="18" charset="0"/>
                        <a:cs typeface="Times New Roman" panose="02020603050405020304" pitchFamily="18" charset="0"/>
                      </a:rPr>
                      <m:t>𝐹</m:t>
                    </m:r>
                    <m:r>
                      <a:rPr lang="en-US" sz="2000" i="1" dirty="0" smtClean="0">
                        <a:solidFill>
                          <a:srgbClr val="002060"/>
                        </a:solidFill>
                        <a:latin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cs typeface="Times New Roman" panose="02020603050405020304" pitchFamily="18" charset="0"/>
                      </a:rPr>
                      <m:t>𝑥</m:t>
                    </m:r>
                    <m:r>
                      <a:rPr lang="en-US" sz="2000" i="1" dirty="0" smtClean="0">
                        <a:solidFill>
                          <a:srgbClr val="002060"/>
                        </a:solidFill>
                        <a:latin typeface="Cambria Math" panose="02040503050406030204" pitchFamily="18" charset="0"/>
                        <a:cs typeface="Times New Roman" panose="02020603050405020304" pitchFamily="18" charset="0"/>
                      </a:rPr>
                      <m:t>)</m:t>
                    </m:r>
                  </m:oMath>
                </a14:m>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xác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định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bởi</a:t>
                </a:r>
                <a:endParaRPr lang="en-US" sz="2000" dirty="0">
                  <a:solidFill>
                    <a:srgbClr val="002060"/>
                  </a:solidFill>
                  <a:latin typeface="Arial" panose="020B0604020202020204" pitchFamily="34" charset="0"/>
                  <a:cs typeface="Arial" panose="020B0604020202020204" pitchFamily="34" charset="0"/>
                </a:endParaRPr>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sz="2000" i="1" dirty="0" smtClean="0">
                          <a:solidFill>
                            <a:srgbClr val="FF0000"/>
                          </a:solidFill>
                          <a:latin typeface="Cambria Math" panose="02040503050406030204" pitchFamily="18" charset="0"/>
                          <a:cs typeface="Times New Roman" panose="02020603050405020304" pitchFamily="18" charset="0"/>
                        </a:rPr>
                        <m:t>𝐹</m:t>
                      </m:r>
                      <m:d>
                        <m:dPr>
                          <m:ctrlPr>
                            <a:rPr lang="en-US" sz="2000" i="1" dirty="0">
                              <a:solidFill>
                                <a:srgbClr val="FF0000"/>
                              </a:solidFill>
                              <a:latin typeface="Cambria Math" panose="02040503050406030204" pitchFamily="18" charset="0"/>
                              <a:cs typeface="Times New Roman" panose="02020603050405020304" pitchFamily="18" charset="0"/>
                            </a:rPr>
                          </m:ctrlPr>
                        </m:dPr>
                        <m:e>
                          <m:r>
                            <a:rPr lang="en-US" sz="2000" i="1" dirty="0">
                              <a:solidFill>
                                <a:srgbClr val="FF0000"/>
                              </a:solidFill>
                              <a:latin typeface="Cambria Math" panose="02040503050406030204" pitchFamily="18" charset="0"/>
                              <a:cs typeface="Times New Roman" panose="02020603050405020304" pitchFamily="18" charset="0"/>
                            </a:rPr>
                            <m:t>𝑥</m:t>
                          </m:r>
                        </m:e>
                      </m:d>
                      <m:r>
                        <a:rPr lang="en-US" sz="2000" i="1" dirty="0">
                          <a:solidFill>
                            <a:srgbClr val="FF0000"/>
                          </a:solidFill>
                          <a:latin typeface="Cambria Math" panose="02040503050406030204" pitchFamily="18" charset="0"/>
                          <a:cs typeface="Times New Roman" panose="02020603050405020304" pitchFamily="18" charset="0"/>
                        </a:rPr>
                        <m:t>=</m:t>
                      </m:r>
                      <m:r>
                        <a:rPr lang="en-US" sz="2000" i="1" dirty="0">
                          <a:solidFill>
                            <a:srgbClr val="FF0000"/>
                          </a:solidFill>
                          <a:latin typeface="Cambria Math" panose="02040503050406030204" pitchFamily="18" charset="0"/>
                          <a:cs typeface="Times New Roman" panose="02020603050405020304" pitchFamily="18" charset="0"/>
                        </a:rPr>
                        <m:t>𝑃</m:t>
                      </m:r>
                      <m:d>
                        <m:dPr>
                          <m:ctrlPr>
                            <a:rPr lang="en-US" sz="2000" i="1" dirty="0">
                              <a:solidFill>
                                <a:srgbClr val="FF0000"/>
                              </a:solidFill>
                              <a:latin typeface="Cambria Math" panose="02040503050406030204" pitchFamily="18" charset="0"/>
                              <a:cs typeface="Times New Roman" panose="02020603050405020304" pitchFamily="18" charset="0"/>
                            </a:rPr>
                          </m:ctrlPr>
                        </m:dPr>
                        <m:e>
                          <m:r>
                            <a:rPr lang="en-US" sz="2000" i="1" dirty="0">
                              <a:solidFill>
                                <a:srgbClr val="FF0000"/>
                              </a:solidFill>
                              <a:latin typeface="Cambria Math" panose="02040503050406030204" pitchFamily="18" charset="0"/>
                              <a:cs typeface="Times New Roman" panose="02020603050405020304" pitchFamily="18" charset="0"/>
                            </a:rPr>
                            <m:t>𝑋</m:t>
                          </m:r>
                          <m:r>
                            <a:rPr lang="en-US" sz="2000" i="1" dirty="0">
                              <a:solidFill>
                                <a:srgbClr val="FF0000"/>
                              </a:solidFill>
                              <a:latin typeface="Cambria Math" panose="02040503050406030204" pitchFamily="18" charset="0"/>
                              <a:cs typeface="Times New Roman" panose="02020603050405020304" pitchFamily="18" charset="0"/>
                            </a:rPr>
                            <m:t>&lt;</m:t>
                          </m:r>
                          <m:r>
                            <a:rPr lang="en-US" sz="2000" i="1" dirty="0">
                              <a:solidFill>
                                <a:srgbClr val="FF0000"/>
                              </a:solidFill>
                              <a:latin typeface="Cambria Math" panose="02040503050406030204" pitchFamily="18" charset="0"/>
                              <a:cs typeface="Times New Roman" panose="02020603050405020304" pitchFamily="18" charset="0"/>
                            </a:rPr>
                            <m:t>𝑥</m:t>
                          </m:r>
                        </m:e>
                      </m:d>
                      <m:r>
                        <a:rPr lang="en-US" sz="2000" i="1" dirty="0">
                          <a:solidFill>
                            <a:srgbClr val="FF0000"/>
                          </a:solidFill>
                          <a:latin typeface="Cambria Math" panose="02040503050406030204" pitchFamily="18" charset="0"/>
                          <a:cs typeface="Times New Roman" panose="02020603050405020304" pitchFamily="18" charset="0"/>
                        </a:rPr>
                        <m:t>,</m:t>
                      </m:r>
                      <m:r>
                        <a:rPr lang="en-US" sz="2000" i="1" dirty="0">
                          <a:solidFill>
                            <a:srgbClr val="FF0000"/>
                          </a:solidFill>
                          <a:latin typeface="Cambria Math" panose="02040503050406030204" pitchFamily="18" charset="0"/>
                          <a:cs typeface="Times New Roman" panose="02020603050405020304" pitchFamily="18" charset="0"/>
                        </a:rPr>
                        <m:t>𝑥</m:t>
                      </m:r>
                      <m:r>
                        <a:rPr lang="en-US" sz="2000"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ℝ</m:t>
                      </m:r>
                    </m:oMath>
                  </m:oMathPara>
                </a14:m>
                <a:endParaRPr lang="en-US" sz="2000" i="1" dirty="0">
                  <a:solidFill>
                    <a:srgbClr val="FF0000"/>
                  </a:solidFill>
                  <a:latin typeface="Arial" panose="020B0604020202020204" pitchFamily="34" charset="0"/>
                  <a:cs typeface="Arial" panose="020B0604020202020204" pitchFamily="34" charset="0"/>
                </a:endParaRPr>
              </a:p>
            </p:txBody>
          </p:sp>
        </mc:Choice>
        <mc:Fallback xmlns="">
          <p:sp>
            <p:nvSpPr>
              <p:cNvPr id="2" name="Google Shape;278;p20">
                <a:extLst>
                  <a:ext uri="{FF2B5EF4-FFF2-40B4-BE49-F238E27FC236}">
                    <a16:creationId xmlns:a16="http://schemas.microsoft.com/office/drawing/2014/main" id="{31D82BDD-3399-89B6-3383-E2A929E251D9}"/>
                  </a:ext>
                </a:extLst>
              </p:cNvPr>
              <p:cNvSpPr txBox="1">
                <a:spLocks noGrp="1" noRot="1" noChangeAspect="1" noMove="1" noResize="1" noEditPoints="1" noAdjustHandles="1" noChangeArrowheads="1" noChangeShapeType="1" noTextEdit="1"/>
              </p:cNvSpPr>
              <p:nvPr>
                <p:ph type="body" idx="1"/>
              </p:nvPr>
            </p:nvSpPr>
            <p:spPr>
              <a:xfrm>
                <a:off x="261173" y="735786"/>
                <a:ext cx="8201378" cy="1700303"/>
              </a:xfrm>
              <a:prstGeom prst="rect">
                <a:avLst/>
              </a:prstGeom>
              <a:blipFill>
                <a:blip r:embed="rId5"/>
                <a:stretch>
                  <a:fillRect l="-773"/>
                </a:stretch>
              </a:blipFill>
            </p:spPr>
            <p:txBody>
              <a:bodyPr/>
              <a:lstStyle/>
              <a:p>
                <a:r>
                  <a:rPr lang="en-VN">
                    <a:noFill/>
                  </a:rPr>
                  <a:t> </a:t>
                </a:r>
              </a:p>
            </p:txBody>
          </p:sp>
        </mc:Fallback>
      </mc:AlternateContent>
      <p:pic>
        <p:nvPicPr>
          <p:cNvPr id="6" name="Picture 5" descr="Dai Nam [PPT] Template 11.png">
            <a:extLst>
              <a:ext uri="{FF2B5EF4-FFF2-40B4-BE49-F238E27FC236}">
                <a16:creationId xmlns:a16="http://schemas.microsoft.com/office/drawing/2014/main" id="{548BA708-E8D2-82F3-B3C6-76AB6470F0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324124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Effect transition="in" filter="fade">
                                      <p:cBhvr>
                                        <p:cTn id="18" dur="500"/>
                                        <p:tgtEl>
                                          <p:spTgt spid="2">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12</a:t>
            </a:fld>
            <a:endParaRPr lang="en"/>
          </a:p>
        </p:txBody>
      </p:sp>
      <p:sp>
        <p:nvSpPr>
          <p:cNvPr id="5" name="Title 1"/>
          <p:cNvSpPr>
            <a:spLocks noGrp="1"/>
          </p:cNvSpPr>
          <p:nvPr>
            <p:ph type="title"/>
          </p:nvPr>
        </p:nvSpPr>
        <p:spPr>
          <a:xfrm>
            <a:off x="2436888" y="201513"/>
            <a:ext cx="4818923" cy="567273"/>
          </a:xfrm>
        </p:spPr>
        <p:txBody>
          <a:bodyPr/>
          <a:lstStyle/>
          <a:p>
            <a:r>
              <a:rPr lang="en-US" sz="3200" spc="-5" dirty="0" err="1">
                <a:solidFill>
                  <a:srgbClr val="002060"/>
                </a:solidFill>
                <a:latin typeface="Arial" panose="020B0604020202020204" pitchFamily="34" charset="0"/>
                <a:cs typeface="Arial" panose="020B0604020202020204" pitchFamily="34" charset="0"/>
              </a:rPr>
              <a:t>Hàm</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phân</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bố</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p:sp>
        <p:nvSpPr>
          <p:cNvPr id="6" name="Google Shape;278;p20"/>
          <p:cNvSpPr txBox="1">
            <a:spLocks/>
          </p:cNvSpPr>
          <p:nvPr/>
        </p:nvSpPr>
        <p:spPr>
          <a:xfrm>
            <a:off x="402367" y="856957"/>
            <a:ext cx="3602706" cy="1013403"/>
          </a:xfrm>
          <a:prstGeom prst="rect">
            <a:avLst/>
          </a:prstGeom>
          <a:noFill/>
          <a:ln>
            <a:noFill/>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60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1pPr>
            <a:lvl2pPr marL="914400" marR="0" lvl="1"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2pPr>
            <a:lvl3pPr marL="1371600" marR="0" lvl="2"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3pPr>
            <a:lvl4pPr marL="1828800" marR="0" lvl="3"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4pPr>
            <a:lvl5pPr marL="2286000" marR="0" lvl="4"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5pPr>
            <a:lvl6pPr marL="2743200" marR="0" lvl="5"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6pPr>
            <a:lvl7pPr marL="3200400" marR="0" lvl="6"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7pPr>
            <a:lvl8pPr marL="3657600" marR="0" lvl="7"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8pPr>
            <a:lvl9pPr marL="4114800" marR="0" lvl="8"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9pPr>
          </a:lstStyle>
          <a:p>
            <a:pPr marL="0" indent="0">
              <a:buFont typeface="Varela Round"/>
              <a:buNone/>
            </a:pPr>
            <a:r>
              <a:rPr lang="en-US" sz="2000" b="1" dirty="0">
                <a:solidFill>
                  <a:srgbClr val="002060"/>
                </a:solidFill>
                <a:latin typeface="Arial" panose="020B0604020202020204" pitchFamily="34" charset="0"/>
                <a:cs typeface="Arial" panose="020B0604020202020204" pitchFamily="34" charset="0"/>
              </a:rPr>
              <a:t>Công </a:t>
            </a:r>
            <a:r>
              <a:rPr lang="en-US" sz="2000" b="1" dirty="0" err="1">
                <a:solidFill>
                  <a:srgbClr val="002060"/>
                </a:solidFill>
                <a:latin typeface="Arial" panose="020B0604020202020204" pitchFamily="34" charset="0"/>
                <a:cs typeface="Arial" panose="020B0604020202020204" pitchFamily="34" charset="0"/>
              </a:rPr>
              <a:t>thức</a:t>
            </a:r>
            <a:r>
              <a:rPr lang="en-US" sz="2000" b="1" dirty="0">
                <a:solidFill>
                  <a:srgbClr val="002060"/>
                </a:solidFill>
                <a:latin typeface="Arial" panose="020B0604020202020204" pitchFamily="34" charset="0"/>
                <a:cs typeface="Arial" panose="020B0604020202020204" pitchFamily="34" charset="0"/>
              </a:rPr>
              <a:t> </a:t>
            </a:r>
            <a:r>
              <a:rPr lang="en-US" sz="2000" b="1" dirty="0" err="1">
                <a:solidFill>
                  <a:srgbClr val="002060"/>
                </a:solidFill>
                <a:latin typeface="Arial" panose="020B0604020202020204" pitchFamily="34" charset="0"/>
                <a:cs typeface="Arial" panose="020B0604020202020204" pitchFamily="34" charset="0"/>
              </a:rPr>
              <a:t>tính</a:t>
            </a:r>
            <a:endParaRPr lang="en-US" sz="2000" b="1" dirty="0">
              <a:solidFill>
                <a:srgbClr val="002060"/>
              </a:solidFill>
              <a:latin typeface="Arial" panose="020B0604020202020204" pitchFamily="34" charset="0"/>
              <a:cs typeface="Arial" panose="020B0604020202020204" pitchFamily="34" charset="0"/>
            </a:endParaRPr>
          </a:p>
          <a:p>
            <a:pPr marL="800100" lvl="2" indent="-342900">
              <a:spcBef>
                <a:spcPts val="600"/>
              </a:spcBef>
            </a:pPr>
            <a:r>
              <a:rPr lang="en-US" sz="2000" b="0" dirty="0" err="1">
                <a:solidFill>
                  <a:srgbClr val="002060"/>
                </a:solidFill>
                <a:latin typeface="Arial" panose="020B0604020202020204" pitchFamily="34" charset="0"/>
                <a:cs typeface="Arial" panose="020B0604020202020204" pitchFamily="34" charset="0"/>
              </a:rPr>
              <a:t>Nếu</a:t>
            </a:r>
            <a:r>
              <a:rPr lang="en-US" sz="2000" b="0" dirty="0">
                <a:solidFill>
                  <a:srgbClr val="002060"/>
                </a:solidFill>
                <a:latin typeface="Arial" panose="020B0604020202020204" pitchFamily="34" charset="0"/>
                <a:cs typeface="Arial" panose="020B0604020202020204" pitchFamily="34" charset="0"/>
              </a:rPr>
              <a:t> X </a:t>
            </a:r>
            <a:r>
              <a:rPr lang="en-US" sz="2000" b="0" dirty="0" err="1">
                <a:solidFill>
                  <a:srgbClr val="002060"/>
                </a:solidFill>
                <a:latin typeface="Arial" panose="020B0604020202020204" pitchFamily="34" charset="0"/>
                <a:cs typeface="Arial" panose="020B0604020202020204" pitchFamily="34" charset="0"/>
              </a:rPr>
              <a:t>là</a:t>
            </a:r>
            <a:r>
              <a:rPr lang="en-US" sz="2000" b="0" dirty="0">
                <a:solidFill>
                  <a:srgbClr val="002060"/>
                </a:solidFill>
                <a:latin typeface="Arial" panose="020B0604020202020204" pitchFamily="34" charset="0"/>
                <a:cs typeface="Arial" panose="020B0604020202020204" pitchFamily="34" charset="0"/>
              </a:rPr>
              <a:t> </a:t>
            </a:r>
            <a:r>
              <a:rPr lang="en-US" sz="2000" b="0" dirty="0">
                <a:solidFill>
                  <a:srgbClr val="FF0000"/>
                </a:solidFill>
                <a:latin typeface="Arial" panose="020B0604020202020204" pitchFamily="34" charset="0"/>
                <a:cs typeface="Arial" panose="020B0604020202020204" pitchFamily="34" charset="0"/>
              </a:rPr>
              <a:t>BNN </a:t>
            </a:r>
            <a:r>
              <a:rPr lang="en-US" sz="2000" dirty="0" err="1">
                <a:solidFill>
                  <a:srgbClr val="FF0000"/>
                </a:solidFill>
                <a:latin typeface="Arial" panose="020B0604020202020204" pitchFamily="34" charset="0"/>
                <a:cs typeface="Arial" panose="020B0604020202020204" pitchFamily="34" charset="0"/>
              </a:rPr>
              <a:t>rời</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rạc</a:t>
            </a:r>
            <a:r>
              <a:rPr lang="en-US" sz="2000" dirty="0">
                <a:solidFill>
                  <a:srgbClr val="FF0000"/>
                </a:solidFill>
                <a:latin typeface="Arial" panose="020B0604020202020204" pitchFamily="34" charset="0"/>
                <a:cs typeface="Arial" panose="020B0604020202020204" pitchFamily="34" charset="0"/>
              </a:rPr>
              <a:t> </a:t>
            </a:r>
          </a:p>
        </p:txBody>
      </p:sp>
      <p:pic>
        <p:nvPicPr>
          <p:cNvPr id="2" name="Picture 1" descr="Dai Nam [PPT] Template 11.png">
            <a:extLst>
              <a:ext uri="{FF2B5EF4-FFF2-40B4-BE49-F238E27FC236}">
                <a16:creationId xmlns:a16="http://schemas.microsoft.com/office/drawing/2014/main" id="{1C629091-8DB3-0875-7051-07F60C7F36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graphicFrame>
        <p:nvGraphicFramePr>
          <p:cNvPr id="11" name="Table 10">
            <a:extLst>
              <a:ext uri="{FF2B5EF4-FFF2-40B4-BE49-F238E27FC236}">
                <a16:creationId xmlns:a16="http://schemas.microsoft.com/office/drawing/2014/main" id="{B710009B-02E6-E3D8-EB08-16AF5599247B}"/>
              </a:ext>
            </a:extLst>
          </p:cNvPr>
          <p:cNvGraphicFramePr>
            <a:graphicFrameLocks noGrp="1"/>
          </p:cNvGraphicFramePr>
          <p:nvPr>
            <p:extLst>
              <p:ext uri="{D42A27DB-BD31-4B8C-83A1-F6EECF244321}">
                <p14:modId xmlns:p14="http://schemas.microsoft.com/office/powerpoint/2010/main" val="1310777399"/>
              </p:ext>
            </p:extLst>
          </p:nvPr>
        </p:nvGraphicFramePr>
        <p:xfrm>
          <a:off x="2971828" y="3010858"/>
          <a:ext cx="3026634" cy="792480"/>
        </p:xfrm>
        <a:graphic>
          <a:graphicData uri="http://schemas.openxmlformats.org/drawingml/2006/table">
            <a:tbl>
              <a:tblPr/>
              <a:tblGrid>
                <a:gridCol w="834380">
                  <a:extLst>
                    <a:ext uri="{9D8B030D-6E8A-4147-A177-3AD203B41FA5}">
                      <a16:colId xmlns:a16="http://schemas.microsoft.com/office/drawing/2014/main" val="3298681902"/>
                    </a:ext>
                  </a:extLst>
                </a:gridCol>
                <a:gridCol w="596640">
                  <a:extLst>
                    <a:ext uri="{9D8B030D-6E8A-4147-A177-3AD203B41FA5}">
                      <a16:colId xmlns:a16="http://schemas.microsoft.com/office/drawing/2014/main" val="4227610758"/>
                    </a:ext>
                  </a:extLst>
                </a:gridCol>
                <a:gridCol w="797807">
                  <a:extLst>
                    <a:ext uri="{9D8B030D-6E8A-4147-A177-3AD203B41FA5}">
                      <a16:colId xmlns:a16="http://schemas.microsoft.com/office/drawing/2014/main" val="3637833083"/>
                    </a:ext>
                  </a:extLst>
                </a:gridCol>
                <a:gridCol w="797807">
                  <a:extLst>
                    <a:ext uri="{9D8B030D-6E8A-4147-A177-3AD203B41FA5}">
                      <a16:colId xmlns:a16="http://schemas.microsoft.com/office/drawing/2014/main" val="2087183628"/>
                    </a:ext>
                  </a:extLst>
                </a:gridCol>
              </a:tblGrid>
              <a:tr h="190500">
                <a:tc>
                  <a:txBody>
                    <a:bodyPr/>
                    <a:lstStyle/>
                    <a:p>
                      <a:pPr algn="ctr"/>
                      <a:r>
                        <a:rPr lang="en-US" sz="2000" dirty="0">
                          <a:solidFill>
                            <a:srgbClr val="002060"/>
                          </a:solidFill>
                          <a:effectLst/>
                          <a:latin typeface="Arial" panose="020B0604020202020204" pitchFamily="34" charset="0"/>
                          <a:cs typeface="Arial" panose="020B0604020202020204" pitchFamily="34"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VN" sz="2000">
                          <a:solidFill>
                            <a:srgbClr val="002060"/>
                          </a:solidFill>
                          <a:effectLst/>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VN" sz="2000">
                          <a:solidFill>
                            <a:srgbClr val="002060"/>
                          </a:solidFill>
                          <a:effectLst/>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VN" sz="2000">
                          <a:solidFill>
                            <a:srgbClr val="002060"/>
                          </a:solidFill>
                          <a:effectLst/>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3149804"/>
                  </a:ext>
                </a:extLst>
              </a:tr>
              <a:tr h="190500">
                <a:tc>
                  <a:txBody>
                    <a:bodyPr/>
                    <a:lstStyle/>
                    <a:p>
                      <a:pPr algn="ctr"/>
                      <a:r>
                        <a:rPr lang="en-US" sz="2000">
                          <a:solidFill>
                            <a:srgbClr val="002060"/>
                          </a:solidFill>
                          <a:effectLst/>
                          <a:latin typeface="Arial" panose="020B0604020202020204" pitchFamily="34" charset="0"/>
                          <a:cs typeface="Arial" panose="020B0604020202020204" pitchFamily="34" charset="0"/>
                        </a:rPr>
                        <a:t>p(x)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VN" sz="2000">
                          <a:solidFill>
                            <a:srgbClr val="002060"/>
                          </a:solidFill>
                          <a:effectLst/>
                          <a:latin typeface="Arial" panose="020B0604020202020204" pitchFamily="34" charset="0"/>
                          <a:cs typeface="Arial" panose="020B0604020202020204" pitchFamily="34" charset="0"/>
                        </a:rPr>
                        <a:t>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VN" sz="2000">
                          <a:solidFill>
                            <a:srgbClr val="002060"/>
                          </a:solidFill>
                          <a:effectLst/>
                          <a:latin typeface="Arial" panose="020B0604020202020204" pitchFamily="34" charset="0"/>
                          <a:cs typeface="Arial" panose="020B0604020202020204" pitchFamily="34" charset="0"/>
                        </a:rPr>
                        <a:t>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VN" sz="2000" dirty="0">
                          <a:solidFill>
                            <a:srgbClr val="002060"/>
                          </a:solidFill>
                          <a:effectLst/>
                          <a:latin typeface="Arial" panose="020B0604020202020204" pitchFamily="34" charset="0"/>
                          <a:cs typeface="Arial" panose="020B0604020202020204" pitchFamily="34" charset="0"/>
                        </a:rPr>
                        <a:t>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2533295"/>
                  </a:ext>
                </a:extLst>
              </a:tr>
            </a:tbl>
          </a:graphicData>
        </a:graphic>
      </p:graphicFrame>
      <p:sp>
        <p:nvSpPr>
          <p:cNvPr id="12" name="Rectangle 1">
            <a:extLst>
              <a:ext uri="{FF2B5EF4-FFF2-40B4-BE49-F238E27FC236}">
                <a16:creationId xmlns:a16="http://schemas.microsoft.com/office/drawing/2014/main" id="{EFD3948D-7C8E-1360-8153-930DD7DA4ABD}"/>
              </a:ext>
            </a:extLst>
          </p:cNvPr>
          <p:cNvSpPr>
            <a:spLocks noChangeArrowheads="1"/>
          </p:cNvSpPr>
          <p:nvPr/>
        </p:nvSpPr>
        <p:spPr bwMode="auto">
          <a:xfrm>
            <a:off x="303214" y="2555650"/>
            <a:ext cx="798887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127000" algn="just" defTabSz="914400" rtl="0" eaLnBrk="0" fontAlgn="base" latinLnBrk="0" hangingPunct="0">
              <a:lnSpc>
                <a:spcPct val="100000"/>
              </a:lnSpc>
              <a:spcBef>
                <a:spcPct val="0"/>
              </a:spcBef>
              <a:spcAft>
                <a:spcPct val="0"/>
              </a:spcAft>
              <a:buClrTx/>
              <a:buSzTx/>
              <a:buFontTx/>
              <a:buNone/>
              <a:tabLst/>
            </a:pPr>
            <a:r>
              <a:rPr kumimoji="0" lang="en-VN" altLang="en-VN" sz="2000" b="1" i="0" u="none" strike="noStrike" cap="none" normalizeH="0" baseline="0" dirty="0">
                <a:ln>
                  <a:noFill/>
                </a:ln>
                <a:solidFill>
                  <a:srgbClr val="002060"/>
                </a:solidFill>
                <a:effectLst/>
                <a:cs typeface="Arial" panose="020B0604020202020204" pitchFamily="34" charset="0"/>
              </a:rPr>
              <a:t>Ví dụ:</a:t>
            </a:r>
            <a:r>
              <a:rPr kumimoji="0" lang="en-VN" altLang="en-VN" sz="2000" b="0" i="0" u="none" strike="noStrike" cap="none" normalizeH="0" baseline="0" dirty="0">
                <a:ln>
                  <a:noFill/>
                </a:ln>
                <a:solidFill>
                  <a:srgbClr val="002060"/>
                </a:solidFill>
                <a:effectLst/>
                <a:cs typeface="Arial" panose="020B0604020202020204" pitchFamily="34" charset="0"/>
              </a:rPr>
              <a:t> Giả sử BNN X có bảng phân phối xác suất như sau:</a:t>
            </a:r>
          </a:p>
          <a:p>
            <a:pPr marL="0" marR="0" lvl="0" indent="127000" algn="just" defTabSz="914400" rtl="0" eaLnBrk="0" fontAlgn="base" latinLnBrk="0" hangingPunct="0">
              <a:lnSpc>
                <a:spcPct val="100000"/>
              </a:lnSpc>
              <a:spcBef>
                <a:spcPct val="0"/>
              </a:spcBef>
              <a:spcAft>
                <a:spcPct val="0"/>
              </a:spcAft>
              <a:buClrTx/>
              <a:buSzTx/>
              <a:buFontTx/>
              <a:buNone/>
              <a:tabLst/>
            </a:pPr>
            <a:endParaRPr kumimoji="0" lang="en-VN" altLang="en-VN" sz="2000" b="0" i="0" u="none" strike="noStrike" cap="none" normalizeH="0" baseline="0" dirty="0">
              <a:ln>
                <a:noFill/>
              </a:ln>
              <a:solidFill>
                <a:srgbClr val="002060"/>
              </a:solidFill>
              <a:effectLst/>
              <a:cs typeface="Arial" panose="020B0604020202020204" pitchFamily="34" charset="0"/>
            </a:endParaRPr>
          </a:p>
          <a:p>
            <a:pPr marL="0" marR="0" lvl="0" indent="127000" algn="just" defTabSz="914400" rtl="0" eaLnBrk="0" fontAlgn="base" latinLnBrk="0" hangingPunct="0">
              <a:lnSpc>
                <a:spcPct val="100000"/>
              </a:lnSpc>
              <a:spcBef>
                <a:spcPct val="0"/>
              </a:spcBef>
              <a:spcAft>
                <a:spcPct val="0"/>
              </a:spcAft>
              <a:buClrTx/>
              <a:buSzTx/>
              <a:buFontTx/>
              <a:buNone/>
              <a:tabLst/>
            </a:pPr>
            <a:endParaRPr lang="en-VN" altLang="en-VN" sz="2000" dirty="0">
              <a:solidFill>
                <a:srgbClr val="002060"/>
              </a:solidFill>
              <a:cs typeface="Arial" panose="020B0604020202020204" pitchFamily="34" charset="0"/>
            </a:endParaRPr>
          </a:p>
          <a:p>
            <a:pPr marL="0" marR="0" lvl="0" indent="127000" algn="just" defTabSz="914400" rtl="0" eaLnBrk="0" fontAlgn="base" latinLnBrk="0" hangingPunct="0">
              <a:lnSpc>
                <a:spcPct val="100000"/>
              </a:lnSpc>
              <a:spcBef>
                <a:spcPct val="0"/>
              </a:spcBef>
              <a:spcAft>
                <a:spcPct val="0"/>
              </a:spcAft>
              <a:buClrTx/>
              <a:buSzTx/>
              <a:buFontTx/>
              <a:buNone/>
              <a:tabLst/>
            </a:pPr>
            <a:endParaRPr kumimoji="0" lang="en-VN" altLang="en-VN" sz="2000" b="0" i="0" u="none" strike="noStrike" cap="none" normalizeH="0" baseline="0" dirty="0">
              <a:ln>
                <a:noFill/>
              </a:ln>
              <a:solidFill>
                <a:srgbClr val="002060"/>
              </a:solidFill>
              <a:effectLst/>
              <a:cs typeface="Arial" panose="020B0604020202020204" pitchFamily="34" charset="0"/>
            </a:endParaRPr>
          </a:p>
          <a:p>
            <a:pPr marL="0" marR="0" lvl="0" indent="127000" algn="just" defTabSz="914400" rtl="0" eaLnBrk="0" fontAlgn="base" latinLnBrk="0" hangingPunct="0">
              <a:lnSpc>
                <a:spcPct val="100000"/>
              </a:lnSpc>
              <a:spcBef>
                <a:spcPct val="0"/>
              </a:spcBef>
              <a:spcAft>
                <a:spcPct val="0"/>
              </a:spcAft>
              <a:buClrTx/>
              <a:buSzTx/>
              <a:buFontTx/>
              <a:buNone/>
              <a:tabLst/>
            </a:pPr>
            <a:endParaRPr lang="en-VN" altLang="en-VN" sz="2000" dirty="0">
              <a:solidFill>
                <a:srgbClr val="002060"/>
              </a:solidFill>
              <a:cs typeface="Arial" panose="020B0604020202020204" pitchFamily="34" charset="0"/>
            </a:endParaRPr>
          </a:p>
          <a:p>
            <a:pPr marL="0" marR="0" lvl="0" indent="127000" algn="just" defTabSz="914400" rtl="0" eaLnBrk="0" fontAlgn="base" latinLnBrk="0" hangingPunct="0">
              <a:lnSpc>
                <a:spcPct val="100000"/>
              </a:lnSpc>
              <a:spcBef>
                <a:spcPct val="0"/>
              </a:spcBef>
              <a:spcAft>
                <a:spcPct val="0"/>
              </a:spcAft>
              <a:buClrTx/>
              <a:buSzTx/>
              <a:buFontTx/>
              <a:buNone/>
              <a:tabLst/>
            </a:pPr>
            <a:r>
              <a:rPr lang="en-VN" altLang="en-VN" sz="2000" dirty="0">
                <a:solidFill>
                  <a:srgbClr val="002060"/>
                </a:solidFill>
                <a:cs typeface="Arial" panose="020B0604020202020204" pitchFamily="34" charset="0"/>
              </a:rPr>
              <a:t>Tìm </a:t>
            </a:r>
            <a:r>
              <a:rPr kumimoji="0" lang="en-VN" altLang="en-VN" sz="2000" b="0" i="0" u="none" strike="noStrike" cap="none" normalizeH="0" baseline="0" dirty="0">
                <a:ln>
                  <a:noFill/>
                </a:ln>
                <a:solidFill>
                  <a:srgbClr val="002060"/>
                </a:solidFill>
                <a:effectLst/>
                <a:cs typeface="Arial" panose="020B0604020202020204" pitchFamily="34" charset="0"/>
              </a:rPr>
              <a:t>hàm phân phối xác suất của X.</a:t>
            </a:r>
          </a:p>
        </p:txBody>
      </p:sp>
      <p:pic>
        <p:nvPicPr>
          <p:cNvPr id="13" name="Picture 12">
            <a:extLst>
              <a:ext uri="{FF2B5EF4-FFF2-40B4-BE49-F238E27FC236}">
                <a16:creationId xmlns:a16="http://schemas.microsoft.com/office/drawing/2014/main" id="{F6BD1CC2-A596-7CE5-40F0-57E9B56DE08E}"/>
              </a:ext>
            </a:extLst>
          </p:cNvPr>
          <p:cNvPicPr>
            <a:picLocks noChangeAspect="1"/>
          </p:cNvPicPr>
          <p:nvPr/>
        </p:nvPicPr>
        <p:blipFill>
          <a:blip r:embed="rId3"/>
          <a:stretch>
            <a:fillRect/>
          </a:stretch>
        </p:blipFill>
        <p:spPr>
          <a:xfrm>
            <a:off x="4005073" y="819736"/>
            <a:ext cx="3728855" cy="1684964"/>
          </a:xfrm>
          <a:prstGeom prst="rect">
            <a:avLst/>
          </a:prstGeom>
        </p:spPr>
      </p:pic>
    </p:spTree>
    <p:extLst>
      <p:ext uri="{BB962C8B-B14F-4D97-AF65-F5344CB8AC3E}">
        <p14:creationId xmlns:p14="http://schemas.microsoft.com/office/powerpoint/2010/main" val="236030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13</a:t>
            </a:fld>
            <a:endParaRPr lang="en"/>
          </a:p>
        </p:txBody>
      </p:sp>
      <p:sp>
        <p:nvSpPr>
          <p:cNvPr id="5" name="Title 1"/>
          <p:cNvSpPr>
            <a:spLocks noGrp="1"/>
          </p:cNvSpPr>
          <p:nvPr>
            <p:ph type="title"/>
          </p:nvPr>
        </p:nvSpPr>
        <p:spPr>
          <a:xfrm>
            <a:off x="2436888" y="201513"/>
            <a:ext cx="4818923" cy="567273"/>
          </a:xfrm>
        </p:spPr>
        <p:txBody>
          <a:bodyPr/>
          <a:lstStyle/>
          <a:p>
            <a:r>
              <a:rPr lang="en-US" sz="3200" spc="-5" dirty="0" err="1">
                <a:solidFill>
                  <a:srgbClr val="002060"/>
                </a:solidFill>
                <a:latin typeface="Arial" panose="020B0604020202020204" pitchFamily="34" charset="0"/>
                <a:cs typeface="Arial" panose="020B0604020202020204" pitchFamily="34" charset="0"/>
              </a:rPr>
              <a:t>Hàm</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phân</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bố</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p:pic>
        <p:nvPicPr>
          <p:cNvPr id="2" name="Picture 1" descr="Dai Nam [PPT] Template 11.png">
            <a:extLst>
              <a:ext uri="{FF2B5EF4-FFF2-40B4-BE49-F238E27FC236}">
                <a16:creationId xmlns:a16="http://schemas.microsoft.com/office/drawing/2014/main" id="{1C629091-8DB3-0875-7051-07F60C7F36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
        <p:nvSpPr>
          <p:cNvPr id="7" name="TextBox 6">
            <a:extLst>
              <a:ext uri="{FF2B5EF4-FFF2-40B4-BE49-F238E27FC236}">
                <a16:creationId xmlns:a16="http://schemas.microsoft.com/office/drawing/2014/main" id="{65D9E683-3B18-B354-35E9-DE5FE7C08ABE}"/>
              </a:ext>
            </a:extLst>
          </p:cNvPr>
          <p:cNvSpPr txBox="1"/>
          <p:nvPr/>
        </p:nvSpPr>
        <p:spPr>
          <a:xfrm>
            <a:off x="576072" y="959962"/>
            <a:ext cx="7991856" cy="707886"/>
          </a:xfrm>
          <a:prstGeom prst="rect">
            <a:avLst/>
          </a:prstGeom>
          <a:noFill/>
        </p:spPr>
        <p:txBody>
          <a:bodyPr wrap="square">
            <a:spAutoFit/>
          </a:bodyPr>
          <a:lstStyle/>
          <a:p>
            <a:pPr algn="just"/>
            <a:r>
              <a:rPr lang="en-VN" sz="2000" dirty="0">
                <a:solidFill>
                  <a:srgbClr val="002060"/>
                </a:solidFill>
              </a:rPr>
              <a:t>Đồ thị của hàm phân phối xác suất của biến ngẫu nhiên rời rạc có dạng bậc thang</a:t>
            </a:r>
          </a:p>
        </p:txBody>
      </p:sp>
      <p:pic>
        <p:nvPicPr>
          <p:cNvPr id="9" name="Picture 8" descr="A graph with blue arrows&#10;&#10;Description automatically generated">
            <a:extLst>
              <a:ext uri="{FF2B5EF4-FFF2-40B4-BE49-F238E27FC236}">
                <a16:creationId xmlns:a16="http://schemas.microsoft.com/office/drawing/2014/main" id="{284D4DB7-4DA1-6642-CD9A-902115867CA5}"/>
              </a:ext>
            </a:extLst>
          </p:cNvPr>
          <p:cNvPicPr>
            <a:picLocks noChangeAspect="1"/>
          </p:cNvPicPr>
          <p:nvPr/>
        </p:nvPicPr>
        <p:blipFill>
          <a:blip r:embed="rId3"/>
          <a:stretch>
            <a:fillRect/>
          </a:stretch>
        </p:blipFill>
        <p:spPr>
          <a:xfrm>
            <a:off x="1611630" y="1859024"/>
            <a:ext cx="5556779" cy="2727706"/>
          </a:xfrm>
          <a:prstGeom prst="rect">
            <a:avLst/>
          </a:prstGeom>
        </p:spPr>
      </p:pic>
    </p:spTree>
    <p:extLst>
      <p:ext uri="{BB962C8B-B14F-4D97-AF65-F5344CB8AC3E}">
        <p14:creationId xmlns:p14="http://schemas.microsoft.com/office/powerpoint/2010/main" val="2112111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14</a:t>
            </a:fld>
            <a:endParaRPr lang="en"/>
          </a:p>
        </p:txBody>
      </p:sp>
      <p:sp>
        <p:nvSpPr>
          <p:cNvPr id="5" name="Title 1"/>
          <p:cNvSpPr>
            <a:spLocks noGrp="1"/>
          </p:cNvSpPr>
          <p:nvPr>
            <p:ph type="title"/>
          </p:nvPr>
        </p:nvSpPr>
        <p:spPr>
          <a:xfrm>
            <a:off x="2146037" y="114504"/>
            <a:ext cx="4851925" cy="640080"/>
          </a:xfrm>
        </p:spPr>
        <p:txBody>
          <a:bodyPr/>
          <a:lstStyle/>
          <a:p>
            <a:r>
              <a:rPr lang="en-US" sz="3200" spc="-5" dirty="0" err="1">
                <a:solidFill>
                  <a:srgbClr val="002060"/>
                </a:solidFill>
                <a:latin typeface="Arial" panose="020B0604020202020204" pitchFamily="34" charset="0"/>
                <a:cs typeface="Arial" panose="020B0604020202020204" pitchFamily="34" charset="0"/>
              </a:rPr>
              <a:t>Hàm</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phân</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phối</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Google Shape;278;p20"/>
              <p:cNvSpPr txBox="1">
                <a:spLocks/>
              </p:cNvSpPr>
              <p:nvPr/>
            </p:nvSpPr>
            <p:spPr>
              <a:xfrm>
                <a:off x="561134" y="754585"/>
                <a:ext cx="8021730" cy="20434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60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1pPr>
                <a:lvl2pPr marL="914400" marR="0" lvl="1"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2pPr>
                <a:lvl3pPr marL="1371600" marR="0" lvl="2"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3pPr>
                <a:lvl4pPr marL="1828800" marR="0" lvl="3"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4pPr>
                <a:lvl5pPr marL="2286000" marR="0" lvl="4"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5pPr>
                <a:lvl6pPr marL="2743200" marR="0" lvl="5"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6pPr>
                <a:lvl7pPr marL="3200400" marR="0" lvl="6"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7pPr>
                <a:lvl8pPr marL="3657600" marR="0" lvl="7"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8pPr>
                <a:lvl9pPr marL="4114800" marR="0" lvl="8"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9pPr>
              </a:lstStyle>
              <a:p>
                <a:pPr marL="0" indent="0">
                  <a:buFont typeface="Varela Round"/>
                  <a:buNone/>
                </a:pPr>
                <a:r>
                  <a:rPr lang="en-US" sz="2000" b="1" dirty="0">
                    <a:solidFill>
                      <a:srgbClr val="002060"/>
                    </a:solidFill>
                    <a:latin typeface="Arial" panose="020B0604020202020204" pitchFamily="34" charset="0"/>
                    <a:cs typeface="Arial" panose="020B0604020202020204" pitchFamily="34" charset="0"/>
                  </a:rPr>
                  <a:t>Tính </a:t>
                </a:r>
                <a:r>
                  <a:rPr lang="en-US" sz="2000" b="1" dirty="0" err="1">
                    <a:solidFill>
                      <a:srgbClr val="002060"/>
                    </a:solidFill>
                    <a:latin typeface="Arial" panose="020B0604020202020204" pitchFamily="34" charset="0"/>
                    <a:cs typeface="Arial" panose="020B0604020202020204" pitchFamily="34" charset="0"/>
                  </a:rPr>
                  <a:t>chất</a:t>
                </a:r>
                <a:endParaRPr lang="en-US" sz="2000" b="1" dirty="0">
                  <a:solidFill>
                    <a:srgbClr val="002060"/>
                  </a:solidFill>
                  <a:latin typeface="Arial" panose="020B0604020202020204" pitchFamily="34" charset="0"/>
                  <a:cs typeface="Arial" panose="020B0604020202020204" pitchFamily="34" charset="0"/>
                </a:endParaRPr>
              </a:p>
              <a:p>
                <a:pPr marL="800100" lvl="2" indent="-342900">
                  <a:spcBef>
                    <a:spcPts val="600"/>
                  </a:spcBef>
                </a:pPr>
                <a14:m>
                  <m:oMath xmlns:m="http://schemas.openxmlformats.org/officeDocument/2006/math">
                    <m:r>
                      <a:rPr lang="en-US" sz="2000" b="0" i="1" dirty="0" smtClean="0">
                        <a:solidFill>
                          <a:srgbClr val="002060"/>
                        </a:solidFill>
                        <a:latin typeface="Cambria Math" panose="02040503050406030204" pitchFamily="18" charset="0"/>
                        <a:cs typeface="Times New Roman" panose="02020603050405020304" pitchFamily="18" charset="0"/>
                      </a:rPr>
                      <m:t>0</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cs typeface="Times New Roman" panose="02020603050405020304" pitchFamily="18" charset="0"/>
                      </a:rPr>
                      <m:t>𝐹</m:t>
                    </m:r>
                    <m:d>
                      <m:dPr>
                        <m:ctrlPr>
                          <a:rPr lang="en-US" sz="2000" i="1" dirty="0">
                            <a:solidFill>
                              <a:srgbClr val="002060"/>
                            </a:solidFill>
                            <a:latin typeface="Cambria Math" panose="02040503050406030204" pitchFamily="18" charset="0"/>
                            <a:cs typeface="Times New Roman" panose="02020603050405020304" pitchFamily="18" charset="0"/>
                          </a:rPr>
                        </m:ctrlPr>
                      </m:dPr>
                      <m:e>
                        <m:r>
                          <a:rPr lang="en-US" sz="2000" b="0" i="1" dirty="0" smtClean="0">
                            <a:solidFill>
                              <a:srgbClr val="002060"/>
                            </a:solidFill>
                            <a:latin typeface="Cambria Math" panose="02040503050406030204" pitchFamily="18" charset="0"/>
                            <a:cs typeface="Times New Roman" panose="02020603050405020304" pitchFamily="18" charset="0"/>
                          </a:rPr>
                          <m:t>𝑥</m:t>
                        </m:r>
                      </m:e>
                    </m:d>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m:t>
                    </m:r>
                  </m:oMath>
                </a14:m>
                <a:endParaRPr lang="en-US" sz="2000" b="1" dirty="0">
                  <a:solidFill>
                    <a:srgbClr val="002060"/>
                  </a:solidFill>
                  <a:latin typeface="Arial" panose="020B0604020202020204" pitchFamily="34" charset="0"/>
                  <a:cs typeface="Arial" panose="020B0604020202020204" pitchFamily="34" charset="0"/>
                </a:endParaRPr>
              </a:p>
              <a:p>
                <a:pPr marL="800100" lvl="2" indent="-342900">
                  <a:spcBef>
                    <a:spcPts val="600"/>
                  </a:spcBef>
                </a:pPr>
                <a14:m>
                  <m:oMath xmlns:m="http://schemas.openxmlformats.org/officeDocument/2006/math">
                    <m:r>
                      <a:rPr lang="en-US" sz="2000" i="1" dirty="0">
                        <a:solidFill>
                          <a:srgbClr val="002060"/>
                        </a:solidFill>
                        <a:latin typeface="Cambria Math" panose="02040503050406030204" pitchFamily="18" charset="0"/>
                        <a:cs typeface="Times New Roman" panose="02020603050405020304" pitchFamily="18" charset="0"/>
                      </a:rPr>
                      <m:t>𝐹</m:t>
                    </m:r>
                    <m:d>
                      <m:dPr>
                        <m:ctrlPr>
                          <a:rPr lang="en-US" sz="2000" i="1" dirty="0">
                            <a:solidFill>
                              <a:srgbClr val="002060"/>
                            </a:solidFill>
                            <a:latin typeface="Cambria Math" panose="02040503050406030204" pitchFamily="18" charset="0"/>
                            <a:cs typeface="Times New Roman" panose="02020603050405020304" pitchFamily="18" charset="0"/>
                          </a:rPr>
                        </m:ctrlPr>
                      </m:dPr>
                      <m:e>
                        <m:r>
                          <a:rPr lang="en-US" sz="2000" b="0" i="1" dirty="0" smtClean="0">
                            <a:solidFill>
                              <a:srgbClr val="002060"/>
                            </a:solidFill>
                            <a:latin typeface="Cambria Math" panose="02040503050406030204" pitchFamily="18" charset="0"/>
                            <a:cs typeface="Times New Roman" panose="02020603050405020304" pitchFamily="18" charset="0"/>
                          </a:rPr>
                          <m:t>+</m:t>
                        </m:r>
                        <m:r>
                          <a:rPr lang="en-US" sz="200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e>
                    </m:d>
                    <m:r>
                      <a:rPr lang="en-US" sz="2000" i="1" dirty="0">
                        <a:solidFill>
                          <a:srgbClr val="002060"/>
                        </a:solidFill>
                        <a:latin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cs typeface="Times New Roman" panose="02020603050405020304" pitchFamily="18" charset="0"/>
                      </a:rPr>
                      <m:t>1</m:t>
                    </m:r>
                  </m:oMath>
                </a14:m>
                <a:endParaRPr lang="en-US" sz="2000" b="0" i="1" dirty="0">
                  <a:solidFill>
                    <a:srgbClr val="002060"/>
                  </a:solidFill>
                  <a:latin typeface="Arial" panose="020B0604020202020204" pitchFamily="34" charset="0"/>
                  <a:cs typeface="Arial" panose="020B0604020202020204" pitchFamily="34" charset="0"/>
                </a:endParaRPr>
              </a:p>
              <a:p>
                <a:pPr marL="800100" lvl="2" indent="-342900">
                  <a:spcBef>
                    <a:spcPts val="600"/>
                  </a:spcBef>
                </a:pPr>
                <a14:m>
                  <m:oMath xmlns:m="http://schemas.openxmlformats.org/officeDocument/2006/math">
                    <m:r>
                      <a:rPr lang="en-US" sz="2000" i="1" dirty="0">
                        <a:solidFill>
                          <a:srgbClr val="002060"/>
                        </a:solidFill>
                        <a:latin typeface="Cambria Math" panose="02040503050406030204" pitchFamily="18" charset="0"/>
                        <a:cs typeface="Times New Roman" panose="02020603050405020304" pitchFamily="18" charset="0"/>
                      </a:rPr>
                      <m:t>𝐹</m:t>
                    </m:r>
                    <m:r>
                      <a:rPr lang="en-US" sz="2000" i="1" dirty="0">
                        <a:solidFill>
                          <a:srgbClr val="002060"/>
                        </a:solidFill>
                        <a:latin typeface="Cambria Math" panose="02040503050406030204" pitchFamily="18" charset="0"/>
                        <a:cs typeface="Times New Roman" panose="02020603050405020304" pitchFamily="18" charset="0"/>
                      </a:rPr>
                      <m:t>(−∞)=0</m:t>
                    </m:r>
                  </m:oMath>
                </a14:m>
                <a:endParaRPr lang="en-US" sz="2000" b="1" dirty="0">
                  <a:solidFill>
                    <a:srgbClr val="002060"/>
                  </a:solidFill>
                  <a:latin typeface="Arial" panose="020B0604020202020204" pitchFamily="34" charset="0"/>
                  <a:cs typeface="Arial" panose="020B0604020202020204" pitchFamily="34" charset="0"/>
                </a:endParaRPr>
              </a:p>
              <a:p>
                <a:pPr marL="800100" lvl="2" indent="-342900">
                  <a:spcBef>
                    <a:spcPts val="600"/>
                  </a:spcBef>
                </a:pPr>
                <a14:m>
                  <m:oMath xmlns:m="http://schemas.openxmlformats.org/officeDocument/2006/math">
                    <m:r>
                      <a:rPr lang="en-US" sz="2000" i="1" dirty="0">
                        <a:solidFill>
                          <a:srgbClr val="002060"/>
                        </a:solidFill>
                        <a:latin typeface="Cambria Math" panose="02040503050406030204" pitchFamily="18" charset="0"/>
                        <a:cs typeface="Times New Roman" panose="02020603050405020304" pitchFamily="18" charset="0"/>
                      </a:rPr>
                      <m:t>𝐹</m:t>
                    </m:r>
                    <m:d>
                      <m:dPr>
                        <m:ctrlPr>
                          <a:rPr lang="en-US" sz="2000" i="1" dirty="0">
                            <a:solidFill>
                              <a:srgbClr val="002060"/>
                            </a:solidFill>
                            <a:latin typeface="Cambria Math" panose="02040503050406030204" pitchFamily="18" charset="0"/>
                            <a:cs typeface="Times New Roman" panose="02020603050405020304" pitchFamily="18" charset="0"/>
                          </a:rPr>
                        </m:ctrlPr>
                      </m:dPr>
                      <m:e>
                        <m:r>
                          <a:rPr lang="en-US" sz="2000" b="0" i="1" dirty="0" smtClean="0">
                            <a:solidFill>
                              <a:srgbClr val="002060"/>
                            </a:solidFill>
                            <a:latin typeface="Cambria Math" panose="02040503050406030204" pitchFamily="18" charset="0"/>
                            <a:cs typeface="Times New Roman" panose="02020603050405020304" pitchFamily="18" charset="0"/>
                          </a:rPr>
                          <m:t>𝑥</m:t>
                        </m:r>
                      </m:e>
                    </m:d>
                  </m:oMath>
                </a14:m>
                <a:r>
                  <a:rPr lang="en-US" sz="2000" b="1"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là</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hàm</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không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giảm</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tức</a:t>
                </a:r>
                <a:r>
                  <a:rPr lang="en-US" sz="2000" dirty="0">
                    <a:solidFill>
                      <a:srgbClr val="002060"/>
                    </a:solidFill>
                    <a:latin typeface="Arial" panose="020B0604020202020204" pitchFamily="34" charset="0"/>
                    <a:cs typeface="Arial" panose="020B0604020202020204" pitchFamily="34" charset="0"/>
                  </a:rPr>
                  <a:t> </a:t>
                </a:r>
                <a14:m>
                  <m:oMath xmlns:m="http://schemas.openxmlformats.org/officeDocument/2006/math">
                    <m:sSub>
                      <m:sSubPr>
                        <m:ctrlPr>
                          <a:rPr lang="en-US" sz="2000" i="1" smtClean="0">
                            <a:solidFill>
                              <a:srgbClr val="002060"/>
                            </a:solidFill>
                            <a:latin typeface="Cambria Math" panose="02040503050406030204" pitchFamily="18" charset="0"/>
                            <a:cs typeface="Times New Roman" panose="02020603050405020304" pitchFamily="18" charset="0"/>
                          </a:rPr>
                        </m:ctrlPr>
                      </m:sSubPr>
                      <m:e>
                        <m:r>
                          <a:rPr lang="en-US" sz="2000" b="0" i="1" smtClean="0">
                            <a:solidFill>
                              <a:srgbClr val="002060"/>
                            </a:solidFill>
                            <a:latin typeface="Cambria Math" panose="02040503050406030204" pitchFamily="18" charset="0"/>
                            <a:cs typeface="Times New Roman" panose="02020603050405020304" pitchFamily="18" charset="0"/>
                          </a:rPr>
                          <m:t>𝑥</m:t>
                        </m:r>
                      </m:e>
                      <m:sub>
                        <m:r>
                          <a:rPr lang="en-US" sz="2000" b="0" i="1" smtClean="0">
                            <a:solidFill>
                              <a:srgbClr val="002060"/>
                            </a:solidFill>
                            <a:latin typeface="Cambria Math" panose="02040503050406030204" pitchFamily="18" charset="0"/>
                            <a:cs typeface="Times New Roman" panose="02020603050405020304" pitchFamily="18" charset="0"/>
                          </a:rPr>
                          <m:t>1</m:t>
                        </m:r>
                      </m:sub>
                    </m:sSub>
                    <m:r>
                      <a:rPr lang="en-US" sz="20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sz="2000" i="1">
                            <a:solidFill>
                              <a:srgbClr val="002060"/>
                            </a:solidFill>
                            <a:latin typeface="Cambria Math" panose="02040503050406030204" pitchFamily="18" charset="0"/>
                            <a:cs typeface="Times New Roman" panose="02020603050405020304" pitchFamily="18" charset="0"/>
                          </a:rPr>
                        </m:ctrlPr>
                      </m:sSubPr>
                      <m:e>
                        <m:r>
                          <a:rPr lang="en-US" sz="2000" b="0" i="1">
                            <a:solidFill>
                              <a:srgbClr val="002060"/>
                            </a:solidFill>
                            <a:latin typeface="Cambria Math" panose="02040503050406030204" pitchFamily="18" charset="0"/>
                            <a:cs typeface="Times New Roman" panose="02020603050405020304" pitchFamily="18" charset="0"/>
                          </a:rPr>
                          <m:t>𝑥</m:t>
                        </m:r>
                      </m:e>
                      <m:sub>
                        <m:r>
                          <a:rPr lang="en-US" sz="2000" b="0" i="1" smtClean="0">
                            <a:solidFill>
                              <a:srgbClr val="002060"/>
                            </a:solidFill>
                            <a:latin typeface="Cambria Math" panose="02040503050406030204" pitchFamily="18" charset="0"/>
                            <a:cs typeface="Times New Roman" panose="02020603050405020304" pitchFamily="18" charset="0"/>
                          </a:rPr>
                          <m:t>2</m:t>
                        </m:r>
                      </m:sub>
                    </m:sSub>
                    <m:groupChr>
                      <m:groupChrPr>
                        <m:chr m:val="⇒"/>
                        <m:pos m:val="top"/>
                        <m:ctrlPr>
                          <a:rPr lang="en-US" sz="2000" i="1" smtClean="0">
                            <a:solidFill>
                              <a:srgbClr val="002060"/>
                            </a:solidFill>
                            <a:latin typeface="Cambria Math" panose="02040503050406030204" pitchFamily="18" charset="0"/>
                            <a:cs typeface="Times New Roman" panose="02020603050405020304" pitchFamily="18" charset="0"/>
                          </a:rPr>
                        </m:ctrlPr>
                      </m:groupChrPr>
                      <m:e/>
                    </m:groupChr>
                    <m:r>
                      <a:rPr lang="en-US" sz="2000" b="0" i="1" smtClean="0">
                        <a:solidFill>
                          <a:srgbClr val="002060"/>
                        </a:solidFill>
                        <a:latin typeface="Cambria Math" panose="02040503050406030204" pitchFamily="18" charset="0"/>
                        <a:cs typeface="Times New Roman" panose="02020603050405020304" pitchFamily="18" charset="0"/>
                      </a:rPr>
                      <m:t>𝐹</m:t>
                    </m:r>
                    <m:d>
                      <m:dPr>
                        <m:ctrlPr>
                          <a:rPr lang="en-US" sz="2000" i="1" smtClean="0">
                            <a:solidFill>
                              <a:srgbClr val="002060"/>
                            </a:solidFill>
                            <a:latin typeface="Cambria Math" panose="02040503050406030204" pitchFamily="18" charset="0"/>
                            <a:cs typeface="Times New Roman" panose="02020603050405020304" pitchFamily="18" charset="0"/>
                          </a:rPr>
                        </m:ctrlPr>
                      </m:dPr>
                      <m:e>
                        <m:sSub>
                          <m:sSubPr>
                            <m:ctrlPr>
                              <a:rPr lang="en-US" sz="2000" i="1">
                                <a:solidFill>
                                  <a:srgbClr val="002060"/>
                                </a:solidFill>
                                <a:latin typeface="Cambria Math" panose="02040503050406030204" pitchFamily="18" charset="0"/>
                                <a:cs typeface="Times New Roman" panose="02020603050405020304" pitchFamily="18" charset="0"/>
                              </a:rPr>
                            </m:ctrlPr>
                          </m:sSubPr>
                          <m:e>
                            <m:r>
                              <a:rPr lang="en-US" sz="2000" b="0" i="1">
                                <a:solidFill>
                                  <a:srgbClr val="002060"/>
                                </a:solidFill>
                                <a:latin typeface="Cambria Math" panose="02040503050406030204" pitchFamily="18" charset="0"/>
                                <a:cs typeface="Times New Roman" panose="02020603050405020304" pitchFamily="18" charset="0"/>
                              </a:rPr>
                              <m:t>𝑥</m:t>
                            </m:r>
                          </m:e>
                          <m:sub>
                            <m:r>
                              <a:rPr lang="en-US" sz="2000" b="0" i="1">
                                <a:solidFill>
                                  <a:srgbClr val="002060"/>
                                </a:solidFill>
                                <a:latin typeface="Cambria Math" panose="02040503050406030204" pitchFamily="18" charset="0"/>
                                <a:cs typeface="Times New Roman" panose="02020603050405020304" pitchFamily="18" charset="0"/>
                              </a:rPr>
                              <m:t>1</m:t>
                            </m:r>
                          </m:sub>
                        </m:sSub>
                      </m:e>
                    </m:d>
                    <m:r>
                      <a:rPr lang="en-US" sz="2000" b="0" i="1" smtClean="0">
                        <a:solidFill>
                          <a:srgbClr val="002060"/>
                        </a:solidFill>
                        <a:latin typeface="Cambria Math" panose="02040503050406030204" pitchFamily="18" charset="0"/>
                        <a:cs typeface="Times New Roman" panose="02020603050405020304" pitchFamily="18" charset="0"/>
                      </a:rPr>
                      <m:t>&lt;</m:t>
                    </m:r>
                    <m:r>
                      <a:rPr lang="en-US" sz="2000" b="0" i="1" smtClean="0">
                        <a:solidFill>
                          <a:srgbClr val="002060"/>
                        </a:solidFill>
                        <a:latin typeface="Cambria Math" panose="02040503050406030204" pitchFamily="18" charset="0"/>
                        <a:cs typeface="Times New Roman" panose="02020603050405020304" pitchFamily="18" charset="0"/>
                      </a:rPr>
                      <m:t>𝐹</m:t>
                    </m:r>
                    <m:r>
                      <a:rPr lang="en-US" sz="2000" b="0" i="1" smtClean="0">
                        <a:solidFill>
                          <a:srgbClr val="002060"/>
                        </a:solidFill>
                        <a:latin typeface="Cambria Math" panose="02040503050406030204" pitchFamily="18" charset="0"/>
                        <a:cs typeface="Times New Roman" panose="02020603050405020304" pitchFamily="18" charset="0"/>
                      </a:rPr>
                      <m:t>(</m:t>
                    </m:r>
                    <m:sSub>
                      <m:sSubPr>
                        <m:ctrlPr>
                          <a:rPr lang="en-US" sz="2000" i="1">
                            <a:solidFill>
                              <a:srgbClr val="002060"/>
                            </a:solidFill>
                            <a:latin typeface="Cambria Math" panose="02040503050406030204" pitchFamily="18" charset="0"/>
                            <a:cs typeface="Times New Roman" panose="02020603050405020304" pitchFamily="18" charset="0"/>
                          </a:rPr>
                        </m:ctrlPr>
                      </m:sSubPr>
                      <m:e>
                        <m:r>
                          <a:rPr lang="en-US" sz="2000" b="0" i="1">
                            <a:solidFill>
                              <a:srgbClr val="002060"/>
                            </a:solidFill>
                            <a:latin typeface="Cambria Math" panose="02040503050406030204" pitchFamily="18" charset="0"/>
                            <a:cs typeface="Times New Roman" panose="02020603050405020304" pitchFamily="18" charset="0"/>
                          </a:rPr>
                          <m:t>𝑥</m:t>
                        </m:r>
                      </m:e>
                      <m:sub>
                        <m:r>
                          <a:rPr lang="en-US" sz="2000" b="0" i="1" smtClean="0">
                            <a:solidFill>
                              <a:srgbClr val="002060"/>
                            </a:solidFill>
                            <a:latin typeface="Cambria Math" panose="02040503050406030204" pitchFamily="18" charset="0"/>
                            <a:cs typeface="Times New Roman" panose="02020603050405020304" pitchFamily="18" charset="0"/>
                          </a:rPr>
                          <m:t>2</m:t>
                        </m:r>
                      </m:sub>
                    </m:sSub>
                    <m:r>
                      <a:rPr lang="en-US" sz="2000" b="0" i="1" smtClean="0">
                        <a:solidFill>
                          <a:srgbClr val="002060"/>
                        </a:solidFill>
                        <a:latin typeface="Cambria Math" panose="02040503050406030204" pitchFamily="18" charset="0"/>
                        <a:cs typeface="Times New Roman" panose="02020603050405020304" pitchFamily="18" charset="0"/>
                      </a:rPr>
                      <m:t>)</m:t>
                    </m:r>
                  </m:oMath>
                </a14:m>
                <a:endParaRPr lang="en-US" sz="2000" dirty="0">
                  <a:solidFill>
                    <a:srgbClr val="002060"/>
                  </a:solidFill>
                  <a:latin typeface="Arial" panose="020B0604020202020204" pitchFamily="34" charset="0"/>
                  <a:cs typeface="Arial" panose="020B0604020202020204" pitchFamily="34" charset="0"/>
                </a:endParaRPr>
              </a:p>
            </p:txBody>
          </p:sp>
        </mc:Choice>
        <mc:Fallback xmlns="">
          <p:sp>
            <p:nvSpPr>
              <p:cNvPr id="7" name="Google Shape;278;p20"/>
              <p:cNvSpPr txBox="1">
                <a:spLocks noRot="1" noChangeAspect="1" noMove="1" noResize="1" noEditPoints="1" noAdjustHandles="1" noChangeArrowheads="1" noChangeShapeType="1" noTextEdit="1"/>
              </p:cNvSpPr>
              <p:nvPr/>
            </p:nvSpPr>
            <p:spPr>
              <a:xfrm>
                <a:off x="561134" y="754585"/>
                <a:ext cx="8021730" cy="2043480"/>
              </a:xfrm>
              <a:prstGeom prst="rect">
                <a:avLst/>
              </a:prstGeom>
              <a:blipFill>
                <a:blip r:embed="rId3"/>
                <a:stretch>
                  <a:fillRect l="-791" b="-15432"/>
                </a:stretch>
              </a:blipFill>
              <a:ln>
                <a:no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 name="Google Shape;278;p20">
                <a:extLst>
                  <a:ext uri="{FF2B5EF4-FFF2-40B4-BE49-F238E27FC236}">
                    <a16:creationId xmlns:a16="http://schemas.microsoft.com/office/drawing/2014/main" id="{0C27F2DC-A1DE-BE1E-1DB3-FAF4572B0ECE}"/>
                  </a:ext>
                </a:extLst>
              </p:cNvPr>
              <p:cNvSpPr txBox="1">
                <a:spLocks/>
              </p:cNvSpPr>
              <p:nvPr/>
            </p:nvSpPr>
            <p:spPr>
              <a:xfrm>
                <a:off x="561134" y="2571750"/>
                <a:ext cx="8220426" cy="23226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60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1pPr>
                <a:lvl2pPr marL="914400" marR="0" lvl="1"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2pPr>
                <a:lvl3pPr marL="1371600" marR="0" lvl="2"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3pPr>
                <a:lvl4pPr marL="1828800" marR="0" lvl="3"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4pPr>
                <a:lvl5pPr marL="2286000" marR="0" lvl="4"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5pPr>
                <a:lvl6pPr marL="2743200" marR="0" lvl="5"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6pPr>
                <a:lvl7pPr marL="3200400" marR="0" lvl="6"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7pPr>
                <a:lvl8pPr marL="3657600" marR="0" lvl="7"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8pPr>
                <a:lvl9pPr marL="4114800" marR="0" lvl="8"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9pPr>
              </a:lstStyle>
              <a:p>
                <a:pPr marL="0" indent="0">
                  <a:lnSpc>
                    <a:spcPct val="150000"/>
                  </a:lnSpc>
                  <a:buFont typeface="Varela Round"/>
                  <a:buNone/>
                </a:pPr>
                <a:r>
                  <a:rPr lang="en-US" sz="2000" b="1" dirty="0">
                    <a:solidFill>
                      <a:srgbClr val="002060"/>
                    </a:solidFill>
                    <a:latin typeface="Arial" panose="020B0604020202020204" pitchFamily="34" charset="0"/>
                    <a:cs typeface="Arial" panose="020B0604020202020204" pitchFamily="34" charset="0"/>
                  </a:rPr>
                  <a:t>Hệ </a:t>
                </a:r>
                <a:r>
                  <a:rPr lang="en-US" sz="2000" b="1" dirty="0" err="1">
                    <a:solidFill>
                      <a:srgbClr val="002060"/>
                    </a:solidFill>
                    <a:latin typeface="Arial" panose="020B0604020202020204" pitchFamily="34" charset="0"/>
                    <a:cs typeface="Arial" panose="020B0604020202020204" pitchFamily="34" charset="0"/>
                  </a:rPr>
                  <a:t>quả</a:t>
                </a:r>
                <a:endParaRPr lang="en-US" sz="2000" b="1" dirty="0">
                  <a:solidFill>
                    <a:srgbClr val="002060"/>
                  </a:solidFill>
                  <a:latin typeface="Arial" panose="020B0604020202020204" pitchFamily="34" charset="0"/>
                  <a:cs typeface="Arial" panose="020B0604020202020204" pitchFamily="34" charset="0"/>
                </a:endParaRPr>
              </a:p>
              <a:p>
                <a:pPr marL="800100" lvl="2" indent="-342900">
                  <a:lnSpc>
                    <a:spcPct val="150000"/>
                  </a:lnSpc>
                  <a:spcBef>
                    <a:spcPts val="600"/>
                  </a:spcBef>
                  <a:buClr>
                    <a:srgbClr val="92D050"/>
                  </a:buClr>
                  <a:buSzPct val="100000"/>
                  <a:buFont typeface="Wingdings" panose="05000000000000000000" pitchFamily="2" charset="2"/>
                  <a:buChar char="Ø"/>
                </a:pPr>
                <a14:m>
                  <m:oMath xmlns:m="http://schemas.openxmlformats.org/officeDocument/2006/math">
                    <m:r>
                      <a:rPr lang="en-US" sz="2000" b="0" i="1" dirty="0" smtClean="0">
                        <a:solidFill>
                          <a:srgbClr val="002060"/>
                        </a:solidFill>
                        <a:latin typeface="Cambria Math" panose="02040503050406030204" pitchFamily="18" charset="0"/>
                        <a:cs typeface="Times New Roman" panose="02020603050405020304" pitchFamily="18" charset="0"/>
                      </a:rPr>
                      <m:t>𝑃</m:t>
                    </m:r>
                    <m:d>
                      <m:dPr>
                        <m:ctrlPr>
                          <a:rPr lang="en-US" sz="2000" b="0" i="1" dirty="0" smtClean="0">
                            <a:solidFill>
                              <a:srgbClr val="002060"/>
                            </a:solidFill>
                            <a:latin typeface="Cambria Math" panose="02040503050406030204" pitchFamily="18" charset="0"/>
                            <a:cs typeface="Times New Roman" panose="02020603050405020304" pitchFamily="18" charset="0"/>
                          </a:rPr>
                        </m:ctrlPr>
                      </m:dPr>
                      <m:e>
                        <m:r>
                          <a:rPr lang="en-US" sz="2000" b="0" i="1" dirty="0" smtClean="0">
                            <a:solidFill>
                              <a:srgbClr val="002060"/>
                            </a:solidFill>
                            <a:latin typeface="Cambria Math" panose="02040503050406030204" pitchFamily="18" charset="0"/>
                            <a:cs typeface="Times New Roman" panose="02020603050405020304" pitchFamily="18" charset="0"/>
                          </a:rPr>
                          <m:t>𝑎</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𝑋</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&lt;</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𝑏</m:t>
                        </m:r>
                      </m:e>
                    </m:d>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𝐹</m:t>
                    </m:r>
                    <m:d>
                      <m:dPr>
                        <m:ctrlP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𝑏</m:t>
                        </m:r>
                      </m:e>
                    </m:d>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𝐹</m:t>
                    </m:r>
                    <m:d>
                      <m:dPr>
                        <m:ctrlP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𝑎</m:t>
                        </m:r>
                      </m:e>
                    </m:d>
                  </m:oMath>
                </a14:m>
                <a:endParaRPr lang="vi-VN" sz="2000" b="0" dirty="0">
                  <a:solidFill>
                    <a:srgbClr val="002060"/>
                  </a:solidFill>
                  <a:latin typeface="Arial" panose="020B0604020202020204" pitchFamily="34" charset="0"/>
                  <a:ea typeface="Cambria Math" panose="02040503050406030204" pitchFamily="18" charset="0"/>
                  <a:cs typeface="Arial" panose="020B0604020202020204" pitchFamily="34" charset="0"/>
                </a:endParaRPr>
              </a:p>
              <a:p>
                <a:pPr marL="800100" lvl="2" indent="-342900">
                  <a:lnSpc>
                    <a:spcPct val="150000"/>
                  </a:lnSpc>
                  <a:spcBef>
                    <a:spcPts val="600"/>
                  </a:spcBef>
                  <a:buClr>
                    <a:srgbClr val="92D050"/>
                  </a:buClr>
                  <a:buSzPct val="100000"/>
                  <a:buFont typeface="Wingdings" panose="05000000000000000000" pitchFamily="2" charset="2"/>
                  <a:buChar char="Ø"/>
                </a:pPr>
                <a:r>
                  <a:rPr lang="en-US" sz="2000" i="1" dirty="0">
                    <a:solidFill>
                      <a:srgbClr val="002060"/>
                    </a:solidFill>
                    <a:latin typeface="Arial" panose="020B0604020202020204" pitchFamily="34" charset="0"/>
                    <a:cs typeface="Arial" panose="020B0604020202020204" pitchFamily="34" charset="0"/>
                  </a:rPr>
                  <a:t>X</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là</a:t>
                </a:r>
                <a:r>
                  <a:rPr lang="en-US" sz="2000" dirty="0">
                    <a:solidFill>
                      <a:srgbClr val="002060"/>
                    </a:solidFill>
                    <a:latin typeface="Arial" panose="020B0604020202020204" pitchFamily="34" charset="0"/>
                    <a:cs typeface="Arial" panose="020B0604020202020204" pitchFamily="34" charset="0"/>
                  </a:rPr>
                  <a:t> BNN </a:t>
                </a:r>
                <a:r>
                  <a:rPr lang="en-US" sz="2000" dirty="0" err="1">
                    <a:solidFill>
                      <a:srgbClr val="002060"/>
                    </a:solidFill>
                    <a:latin typeface="Arial" panose="020B0604020202020204" pitchFamily="34" charset="0"/>
                    <a:cs typeface="Arial" panose="020B0604020202020204" pitchFamily="34" charset="0"/>
                  </a:rPr>
                  <a:t>liên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tục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thì</a:t>
                </a:r>
                <a:r>
                  <a:rPr lang="en-US" sz="2000" dirty="0">
                    <a:solidFill>
                      <a:srgbClr val="002060"/>
                    </a:solidFill>
                    <a:latin typeface="Arial" panose="020B0604020202020204" pitchFamily="34" charset="0"/>
                    <a:cs typeface="Arial" panose="020B0604020202020204" pitchFamily="34" charset="0"/>
                  </a:rPr>
                  <a:t> </a:t>
                </a:r>
                <a14:m>
                  <m:oMath xmlns:m="http://schemas.openxmlformats.org/officeDocument/2006/math">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𝑃</m:t>
                    </m:r>
                    <m:d>
                      <m:dPr>
                        <m:ctrlP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𝑋</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𝑎</m:t>
                        </m:r>
                      </m:e>
                    </m:d>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=0</m:t>
                    </m:r>
                  </m:oMath>
                </a14:m>
                <a:endParaRPr lang="vi-VN" sz="2000" dirty="0">
                  <a:solidFill>
                    <a:srgbClr val="002060"/>
                  </a:solidFill>
                  <a:latin typeface="Arial" panose="020B0604020202020204" pitchFamily="34" charset="0"/>
                  <a:ea typeface="Cambria Math" panose="02040503050406030204" pitchFamily="18" charset="0"/>
                  <a:cs typeface="Arial" panose="020B0604020202020204" pitchFamily="34" charset="0"/>
                </a:endParaRPr>
              </a:p>
              <a:p>
                <a:pPr marL="457200" lvl="2" indent="0">
                  <a:lnSpc>
                    <a:spcPct val="150000"/>
                  </a:lnSpc>
                  <a:spcBef>
                    <a:spcPts val="600"/>
                  </a:spcBef>
                  <a:buClr>
                    <a:srgbClr val="92D050"/>
                  </a:buClr>
                  <a:buSzPct val="100000"/>
                  <a:buNone/>
                </a:pPr>
                <a14:m>
                  <m:oMathPara xmlns:m="http://schemas.openxmlformats.org/officeDocument/2006/math">
                    <m:oMathParaPr>
                      <m:jc m:val="centerGroup"/>
                    </m:oMathParaPr>
                    <m:oMath xmlns:m="http://schemas.openxmlformats.org/officeDocument/2006/math">
                      <m:r>
                        <m:rPr>
                          <m:nor/>
                        </m:rPr>
                        <a:rPr lang="en-US" sz="2000" dirty="0">
                          <a:solidFill>
                            <a:srgbClr val="002060"/>
                          </a:solidFill>
                          <a:latin typeface="Arial" panose="020B0604020202020204" pitchFamily="34" charset="0"/>
                          <a:ea typeface="Cambria Math" panose="02040503050406030204" pitchFamily="18" charset="0"/>
                          <a:cs typeface="Arial" panose="020B0604020202020204" pitchFamily="34" charset="0"/>
                        </a:rPr>
                        <m:t>⇒</m:t>
                      </m:r>
                      <m:r>
                        <a:rPr lang="en-US" sz="2000" i="1" dirty="0">
                          <a:solidFill>
                            <a:srgbClr val="002060"/>
                          </a:solidFill>
                          <a:latin typeface="Cambria Math" panose="02040503050406030204" pitchFamily="18" charset="0"/>
                          <a:cs typeface="Times New Roman" panose="02020603050405020304" pitchFamily="18" charset="0"/>
                        </a:rPr>
                        <m:t>𝑃</m:t>
                      </m:r>
                      <m:d>
                        <m:dPr>
                          <m:ctrlPr>
                            <a:rPr lang="en-US" sz="2000" i="1" dirty="0">
                              <a:solidFill>
                                <a:srgbClr val="002060"/>
                              </a:solidFill>
                              <a:latin typeface="Cambria Math" panose="02040503050406030204" pitchFamily="18" charset="0"/>
                              <a:cs typeface="Times New Roman" panose="02020603050405020304" pitchFamily="18" charset="0"/>
                            </a:rPr>
                          </m:ctrlPr>
                        </m:dPr>
                        <m:e>
                          <m:r>
                            <a:rPr lang="en-US" sz="2000" i="1" dirty="0">
                              <a:solidFill>
                                <a:srgbClr val="002060"/>
                              </a:solidFill>
                              <a:latin typeface="Cambria Math" panose="02040503050406030204" pitchFamily="18" charset="0"/>
                              <a:cs typeface="Times New Roman" panose="02020603050405020304" pitchFamily="18" charset="0"/>
                            </a:rPr>
                            <m:t>𝑎</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𝑋</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&lt;</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𝑏</m:t>
                          </m:r>
                        </m:e>
                      </m:d>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cs typeface="Times New Roman" panose="02020603050405020304" pitchFamily="18" charset="0"/>
                        </a:rPr>
                        <m:t>𝑃</m:t>
                      </m:r>
                      <m:d>
                        <m:dPr>
                          <m:ctrlPr>
                            <a:rPr lang="en-US" sz="2000" i="1" dirty="0">
                              <a:solidFill>
                                <a:srgbClr val="002060"/>
                              </a:solidFill>
                              <a:latin typeface="Cambria Math" panose="02040503050406030204" pitchFamily="18" charset="0"/>
                              <a:cs typeface="Times New Roman" panose="02020603050405020304" pitchFamily="18" charset="0"/>
                            </a:rPr>
                          </m:ctrlPr>
                        </m:dPr>
                        <m:e>
                          <m:r>
                            <a:rPr lang="en-US" sz="2000" i="1" dirty="0">
                              <a:solidFill>
                                <a:srgbClr val="002060"/>
                              </a:solidFill>
                              <a:latin typeface="Cambria Math" panose="02040503050406030204" pitchFamily="18" charset="0"/>
                              <a:cs typeface="Times New Roman" panose="02020603050405020304" pitchFamily="18" charset="0"/>
                            </a:rPr>
                            <m:t>𝑎</m:t>
                          </m:r>
                          <m:r>
                            <a:rPr lang="en-US" sz="2000" i="1" dirty="0">
                              <a:solidFill>
                                <a:srgbClr val="002060"/>
                              </a:solidFill>
                              <a:latin typeface="Cambria Math" panose="02040503050406030204" pitchFamily="18" charset="0"/>
                              <a:cs typeface="Times New Roman" panose="02020603050405020304" pitchFamily="18" charset="0"/>
                            </a:rPr>
                            <m:t>&lt;</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𝑋</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&lt;</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𝑏</m:t>
                          </m:r>
                        </m:e>
                      </m:d>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cs typeface="Times New Roman" panose="02020603050405020304" pitchFamily="18" charset="0"/>
                        </a:rPr>
                        <m:t>𝑃</m:t>
                      </m:r>
                      <m:d>
                        <m:dPr>
                          <m:ctrlPr>
                            <a:rPr lang="en-US" sz="2000" i="1" dirty="0">
                              <a:solidFill>
                                <a:srgbClr val="002060"/>
                              </a:solidFill>
                              <a:latin typeface="Cambria Math" panose="02040503050406030204" pitchFamily="18" charset="0"/>
                              <a:cs typeface="Times New Roman" panose="02020603050405020304" pitchFamily="18" charset="0"/>
                            </a:rPr>
                          </m:ctrlPr>
                        </m:dPr>
                        <m:e>
                          <m:r>
                            <a:rPr lang="en-US" sz="2000" i="1" dirty="0">
                              <a:solidFill>
                                <a:srgbClr val="002060"/>
                              </a:solidFill>
                              <a:latin typeface="Cambria Math" panose="02040503050406030204" pitchFamily="18" charset="0"/>
                              <a:cs typeface="Times New Roman" panose="02020603050405020304" pitchFamily="18" charset="0"/>
                            </a:rPr>
                            <m:t>𝑎</m:t>
                          </m:r>
                          <m:r>
                            <a:rPr lang="en-US" sz="2000" i="1" dirty="0">
                              <a:solidFill>
                                <a:srgbClr val="002060"/>
                              </a:solidFill>
                              <a:latin typeface="Cambria Math" panose="02040503050406030204" pitchFamily="18" charset="0"/>
                              <a:cs typeface="Times New Roman" panose="02020603050405020304" pitchFamily="18" charset="0"/>
                            </a:rPr>
                            <m:t>&lt;</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𝑋</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𝑏</m:t>
                          </m:r>
                        </m:e>
                      </m:d>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cs typeface="Times New Roman" panose="02020603050405020304" pitchFamily="18" charset="0"/>
                        </a:rPr>
                        <m:t>𝑃</m:t>
                      </m:r>
                      <m:d>
                        <m:dPr>
                          <m:ctrlPr>
                            <a:rPr lang="en-US" sz="2000" i="1" dirty="0">
                              <a:solidFill>
                                <a:srgbClr val="002060"/>
                              </a:solidFill>
                              <a:latin typeface="Cambria Math" panose="02040503050406030204" pitchFamily="18" charset="0"/>
                              <a:cs typeface="Times New Roman" panose="02020603050405020304" pitchFamily="18" charset="0"/>
                            </a:rPr>
                          </m:ctrlPr>
                        </m:dPr>
                        <m:e>
                          <m:r>
                            <a:rPr lang="en-US" sz="2000" i="1" dirty="0">
                              <a:solidFill>
                                <a:srgbClr val="002060"/>
                              </a:solidFill>
                              <a:latin typeface="Cambria Math" panose="02040503050406030204" pitchFamily="18" charset="0"/>
                              <a:cs typeface="Times New Roman" panose="02020603050405020304" pitchFamily="18" charset="0"/>
                            </a:rPr>
                            <m:t>𝑎</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𝑋</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𝑏</m:t>
                          </m:r>
                        </m:e>
                      </m:d>
                    </m:oMath>
                  </m:oMathPara>
                </a14:m>
                <a:endParaRPr lang="en-US" sz="2000" b="1" dirty="0">
                  <a:solidFill>
                    <a:srgbClr val="002060"/>
                  </a:solidFill>
                  <a:latin typeface="Arial" panose="020B0604020202020204" pitchFamily="34" charset="0"/>
                  <a:cs typeface="Arial" panose="020B0604020202020204" pitchFamily="34" charset="0"/>
                </a:endParaRPr>
              </a:p>
              <a:p>
                <a:pPr marL="800100" lvl="2" indent="-342900">
                  <a:lnSpc>
                    <a:spcPct val="150000"/>
                  </a:lnSpc>
                  <a:spcBef>
                    <a:spcPts val="600"/>
                  </a:spcBef>
                  <a:buClr>
                    <a:srgbClr val="92D050"/>
                  </a:buClr>
                  <a:buSzPct val="100000"/>
                  <a:buFont typeface="Wingdings" panose="05000000000000000000" pitchFamily="2" charset="2"/>
                  <a:buChar char="Ø"/>
                </a:pPr>
                <a:endParaRPr lang="en-US" sz="2000" b="1" dirty="0">
                  <a:solidFill>
                    <a:srgbClr val="002060"/>
                  </a:solidFill>
                  <a:latin typeface="Arial" panose="020B0604020202020204" pitchFamily="34" charset="0"/>
                  <a:cs typeface="Arial" panose="020B0604020202020204" pitchFamily="34" charset="0"/>
                </a:endParaRPr>
              </a:p>
            </p:txBody>
          </p:sp>
        </mc:Choice>
        <mc:Fallback xmlns="">
          <p:sp>
            <p:nvSpPr>
              <p:cNvPr id="2" name="Google Shape;278;p20">
                <a:extLst>
                  <a:ext uri="{FF2B5EF4-FFF2-40B4-BE49-F238E27FC236}">
                    <a16:creationId xmlns:a16="http://schemas.microsoft.com/office/drawing/2014/main" id="{0C27F2DC-A1DE-BE1E-1DB3-FAF4572B0ECE}"/>
                  </a:ext>
                </a:extLst>
              </p:cNvPr>
              <p:cNvSpPr txBox="1">
                <a:spLocks noRot="1" noChangeAspect="1" noMove="1" noResize="1" noEditPoints="1" noAdjustHandles="1" noChangeArrowheads="1" noChangeShapeType="1" noTextEdit="1"/>
              </p:cNvSpPr>
              <p:nvPr/>
            </p:nvSpPr>
            <p:spPr>
              <a:xfrm>
                <a:off x="561134" y="2571750"/>
                <a:ext cx="8220426" cy="2322626"/>
              </a:xfrm>
              <a:prstGeom prst="rect">
                <a:avLst/>
              </a:prstGeom>
              <a:blipFill>
                <a:blip r:embed="rId4"/>
                <a:stretch>
                  <a:fillRect l="-772"/>
                </a:stretch>
              </a:blipFill>
              <a:ln>
                <a:noFill/>
              </a:ln>
            </p:spPr>
            <p:txBody>
              <a:bodyPr/>
              <a:lstStyle/>
              <a:p>
                <a:r>
                  <a:rPr lang="en-VN">
                    <a:noFill/>
                  </a:rPr>
                  <a:t> </a:t>
                </a:r>
              </a:p>
            </p:txBody>
          </p:sp>
        </mc:Fallback>
      </mc:AlternateContent>
      <p:pic>
        <p:nvPicPr>
          <p:cNvPr id="3" name="Picture 2" descr="Dai Nam [PPT] Template 11.png">
            <a:extLst>
              <a:ext uri="{FF2B5EF4-FFF2-40B4-BE49-F238E27FC236}">
                <a16:creationId xmlns:a16="http://schemas.microsoft.com/office/drawing/2014/main" id="{C4B84A4B-A94D-1397-A686-BB58EA0CAF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695126"/>
            <a:ext cx="9144000" cy="475806"/>
          </a:xfrm>
          <a:prstGeom prst="rect">
            <a:avLst/>
          </a:prstGeom>
        </p:spPr>
      </p:pic>
    </p:spTree>
    <p:extLst>
      <p:ext uri="{BB962C8B-B14F-4D97-AF65-F5344CB8AC3E}">
        <p14:creationId xmlns:p14="http://schemas.microsoft.com/office/powerpoint/2010/main" val="55106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500"/>
                                        <p:tgtEl>
                                          <p:spTgt spid="7">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500"/>
                                        <p:tgtEl>
                                          <p:spTgt spid="7">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barn(inVertical)">
                                      <p:cBhvr>
                                        <p:cTn id="24" dur="500"/>
                                        <p:tgtEl>
                                          <p:spTgt spid="2">
                                            <p:txEl>
                                              <p:pRg st="0" end="0"/>
                                            </p:txEl>
                                          </p:spTgt>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animEffect transition="in" filter="barn(inVertical)">
                                      <p:cBhvr>
                                        <p:cTn id="27" dur="500"/>
                                        <p:tgtEl>
                                          <p:spTgt spid="2">
                                            <p:txEl>
                                              <p:pRg st="1" end="1"/>
                                            </p:txEl>
                                          </p:spTgt>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2">
                                            <p:txEl>
                                              <p:pRg st="2" end="2"/>
                                            </p:txEl>
                                          </p:spTgt>
                                        </p:tgtEl>
                                        <p:attrNameLst>
                                          <p:attrName>style.visibility</p:attrName>
                                        </p:attrNameLst>
                                      </p:cBhvr>
                                      <p:to>
                                        <p:strVal val="visible"/>
                                      </p:to>
                                    </p:set>
                                    <p:animEffect transition="in" filter="barn(inVertical)">
                                      <p:cBhvr>
                                        <p:cTn id="30" dur="500"/>
                                        <p:tgtEl>
                                          <p:spTgt spid="2">
                                            <p:txEl>
                                              <p:pRg st="2" end="2"/>
                                            </p:txEl>
                                          </p:spTgt>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barn(inVertical)">
                                      <p:cBhvr>
                                        <p:cTn id="3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15</a:t>
            </a:fld>
            <a:endParaRPr lang="en"/>
          </a:p>
        </p:txBody>
      </p:sp>
      <p:sp>
        <p:nvSpPr>
          <p:cNvPr id="5" name="Title 1"/>
          <p:cNvSpPr txBox="1">
            <a:spLocks/>
          </p:cNvSpPr>
          <p:nvPr/>
        </p:nvSpPr>
        <p:spPr>
          <a:xfrm>
            <a:off x="2460617" y="65323"/>
            <a:ext cx="4271025" cy="77724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1pPr>
            <a:lvl2pPr marR="0" lvl="1"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2pPr>
            <a:lvl3pPr marR="0" lvl="2"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3pPr>
            <a:lvl4pPr marR="0" lvl="3"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4pPr>
            <a:lvl5pPr marR="0" lvl="4"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5pPr>
            <a:lvl6pPr marR="0" lvl="5"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6pPr>
            <a:lvl7pPr marR="0" lvl="6"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7pPr>
            <a:lvl8pPr marR="0" lvl="7"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8pPr>
            <a:lvl9pPr marR="0" lvl="8"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9pPr>
          </a:lstStyle>
          <a:p>
            <a:r>
              <a:rPr lang="en-US" sz="3200" spc="-5" dirty="0" err="1">
                <a:solidFill>
                  <a:srgbClr val="002060"/>
                </a:solidFill>
                <a:latin typeface="Arial" panose="020B0604020202020204" pitchFamily="34" charset="0"/>
                <a:cs typeface="Arial" panose="020B0604020202020204" pitchFamily="34" charset="0"/>
              </a:rPr>
              <a:t>Hàm</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mật</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độ</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p:sp>
        <p:nvSpPr>
          <p:cNvPr id="6" name="Google Shape;278;p20"/>
          <p:cNvSpPr txBox="1">
            <a:spLocks noGrp="1"/>
          </p:cNvSpPr>
          <p:nvPr>
            <p:ph type="body" idx="1"/>
          </p:nvPr>
        </p:nvSpPr>
        <p:spPr>
          <a:xfrm>
            <a:off x="592074" y="707981"/>
            <a:ext cx="7756398" cy="2218099"/>
          </a:xfrm>
          <a:prstGeom prst="rect">
            <a:avLst/>
          </a:prstGeom>
        </p:spPr>
        <p:txBody>
          <a:bodyPr spcFirstLastPara="1" wrap="square" lIns="91425" tIns="91425" rIns="91425" bIns="91425" anchor="t" anchorCtr="0">
            <a:noAutofit/>
          </a:bodyPr>
          <a:lstStyle/>
          <a:p>
            <a:pPr marL="0" lvl="0" indent="0" algn="just" rtl="0">
              <a:lnSpc>
                <a:spcPct val="150000"/>
              </a:lnSpc>
              <a:spcBef>
                <a:spcPts val="600"/>
              </a:spcBef>
              <a:spcAft>
                <a:spcPts val="0"/>
              </a:spcAft>
              <a:buNone/>
            </a:pPr>
            <a:r>
              <a:rPr lang="en-US" sz="2000" b="1" dirty="0" err="1">
                <a:solidFill>
                  <a:srgbClr val="002060"/>
                </a:solidFill>
                <a:latin typeface="Arial" panose="020B0604020202020204" pitchFamily="34" charset="0"/>
                <a:cs typeface="Arial" panose="020B0604020202020204" pitchFamily="34" charset="0"/>
              </a:rPr>
              <a:t>Định</a:t>
            </a:r>
            <a:r>
              <a:rPr lang="en-US" sz="2000" b="1" dirty="0">
                <a:solidFill>
                  <a:srgbClr val="002060"/>
                </a:solidFill>
                <a:latin typeface="Arial" panose="020B0604020202020204" pitchFamily="34" charset="0"/>
                <a:cs typeface="Arial" panose="020B0604020202020204" pitchFamily="34" charset="0"/>
              </a:rPr>
              <a:t> </a:t>
            </a:r>
            <a:r>
              <a:rPr lang="en-US" sz="2000" b="1" dirty="0" err="1">
                <a:solidFill>
                  <a:srgbClr val="002060"/>
                </a:solidFill>
                <a:latin typeface="Arial" panose="020B0604020202020204" pitchFamily="34" charset="0"/>
                <a:cs typeface="Arial" panose="020B0604020202020204" pitchFamily="34" charset="0"/>
              </a:rPr>
              <a:t>nghĩa</a:t>
            </a:r>
            <a:endParaRPr lang="en-US" sz="2000" b="1" dirty="0">
              <a:solidFill>
                <a:srgbClr val="002060"/>
              </a:solidFill>
              <a:latin typeface="Arial" panose="020B0604020202020204" pitchFamily="34" charset="0"/>
              <a:cs typeface="Arial" panose="020B0604020202020204" pitchFamily="34" charset="0"/>
            </a:endParaRPr>
          </a:p>
          <a:p>
            <a:pPr marL="50800" indent="0" algn="just">
              <a:lnSpc>
                <a:spcPct val="150000"/>
              </a:lnSpc>
              <a:buNone/>
            </a:pPr>
            <a:r>
              <a:rPr lang="vi-VN" sz="2000" dirty="0">
                <a:solidFill>
                  <a:srgbClr val="FF0000"/>
                </a:solidFill>
                <a:latin typeface="Arial" panose="020B0604020202020204" pitchFamily="34" charset="0"/>
                <a:cs typeface="Arial" panose="020B0604020202020204" pitchFamily="34" charset="0"/>
              </a:rPr>
              <a:t>Hàm mật độ </a:t>
            </a:r>
            <a:r>
              <a:rPr lang="vi-VN" sz="2000" dirty="0">
                <a:solidFill>
                  <a:srgbClr val="002060"/>
                </a:solidFill>
                <a:latin typeface="Arial" panose="020B0604020202020204" pitchFamily="34" charset="0"/>
                <a:cs typeface="Arial" panose="020B0604020202020204" pitchFamily="34" charset="0"/>
              </a:rPr>
              <a:t>xác suất của BNN </a:t>
            </a:r>
            <a:r>
              <a:rPr lang="vi-VN" sz="2000" dirty="0">
                <a:solidFill>
                  <a:srgbClr val="FF0000"/>
                </a:solidFill>
                <a:latin typeface="Arial" panose="020B0604020202020204" pitchFamily="34" charset="0"/>
                <a:cs typeface="Arial" panose="020B0604020202020204" pitchFamily="34" charset="0"/>
              </a:rPr>
              <a:t>liên tục </a:t>
            </a:r>
            <a:r>
              <a:rPr lang="vi-VN" sz="2000" dirty="0">
                <a:solidFill>
                  <a:srgbClr val="002060"/>
                </a:solidFill>
                <a:latin typeface="Arial" panose="020B0604020202020204" pitchFamily="34" charset="0"/>
                <a:cs typeface="Arial" panose="020B0604020202020204" pitchFamily="34" charset="0"/>
              </a:rPr>
              <a:t>X, kí hiệu là </a:t>
            </a:r>
            <a:r>
              <a:rPr lang="vi-VN" sz="2000" dirty="0">
                <a:solidFill>
                  <a:srgbClr val="FF0000"/>
                </a:solidFill>
                <a:latin typeface="Arial" panose="020B0604020202020204" pitchFamily="34" charset="0"/>
                <a:cs typeface="Arial" panose="020B0604020202020204" pitchFamily="34" charset="0"/>
              </a:rPr>
              <a:t>f(x)</a:t>
            </a:r>
            <a:r>
              <a:rPr lang="vi-VN" sz="2000" dirty="0">
                <a:solidFill>
                  <a:srgbClr val="002060"/>
                </a:solidFill>
                <a:latin typeface="Arial" panose="020B0604020202020204" pitchFamily="34" charset="0"/>
                <a:cs typeface="Arial" panose="020B0604020202020204" pitchFamily="34" charset="0"/>
              </a:rPr>
              <a:t>, có hàm phân phối </a:t>
            </a:r>
            <a:r>
              <a:rPr lang="vi-VN" sz="2000" dirty="0">
                <a:solidFill>
                  <a:srgbClr val="FF0000"/>
                </a:solidFill>
                <a:latin typeface="Arial" panose="020B0604020202020204" pitchFamily="34" charset="0"/>
                <a:cs typeface="Arial" panose="020B0604020202020204" pitchFamily="34" charset="0"/>
              </a:rPr>
              <a:t>F(x) khả vi</a:t>
            </a:r>
            <a:r>
              <a:rPr lang="vi-VN" sz="2000" dirty="0">
                <a:solidFill>
                  <a:srgbClr val="002060"/>
                </a:solidFill>
                <a:latin typeface="Arial" panose="020B0604020202020204" pitchFamily="34" charset="0"/>
                <a:cs typeface="Arial" panose="020B0604020202020204" pitchFamily="34" charset="0"/>
              </a:rPr>
              <a:t>, được xác định bằng:</a:t>
            </a:r>
          </a:p>
          <a:p>
            <a:pPr marL="50800" indent="0" algn="ctr">
              <a:lnSpc>
                <a:spcPct val="150000"/>
              </a:lnSpc>
              <a:buNone/>
            </a:pPr>
            <a:r>
              <a:rPr lang="vi-VN" sz="2000" dirty="0">
                <a:solidFill>
                  <a:srgbClr val="FF0000"/>
                </a:solidFill>
                <a:latin typeface="Arial" panose="020B0604020202020204" pitchFamily="34" charset="0"/>
                <a:cs typeface="Arial" panose="020B0604020202020204" pitchFamily="34" charset="0"/>
              </a:rPr>
              <a:t> f(x) = F′(x)</a:t>
            </a:r>
            <a:br>
              <a:rPr lang="vi-VN" sz="2000" dirty="0">
                <a:solidFill>
                  <a:srgbClr val="002060"/>
                </a:solidFill>
                <a:latin typeface="Arial" panose="020B0604020202020204" pitchFamily="34" charset="0"/>
                <a:cs typeface="Arial" panose="020B0604020202020204" pitchFamily="34" charset="0"/>
              </a:rPr>
            </a:br>
            <a:endParaRPr lang="en-US" sz="2000" b="0" i="1" dirty="0">
              <a:solidFill>
                <a:srgbClr val="002060"/>
              </a:solidFill>
              <a:latin typeface="Arial" panose="020B0604020202020204" pitchFamily="34" charset="0"/>
              <a:cs typeface="Arial" panose="020B0604020202020204" pitchFamily="34" charset="0"/>
            </a:endParaRPr>
          </a:p>
          <a:p>
            <a:pPr marL="0" lvl="0" indent="0" algn="just" rtl="0">
              <a:lnSpc>
                <a:spcPct val="150000"/>
              </a:lnSpc>
              <a:spcBef>
                <a:spcPts val="600"/>
              </a:spcBef>
              <a:spcAft>
                <a:spcPts val="0"/>
              </a:spcAft>
              <a:buNone/>
            </a:pPr>
            <a:endParaRPr lang="en-US" sz="2000" b="1" dirty="0">
              <a:solidFill>
                <a:srgbClr val="002060"/>
              </a:solidFill>
              <a:latin typeface="Arial" panose="020B0604020202020204" pitchFamily="34" charset="0"/>
              <a:cs typeface="Arial" panose="020B0604020202020204" pitchFamily="34" charset="0"/>
            </a:endParaRPr>
          </a:p>
        </p:txBody>
      </p:sp>
      <p:sp>
        <p:nvSpPr>
          <p:cNvPr id="8" name="Rectangle 7"/>
          <p:cNvSpPr/>
          <p:nvPr/>
        </p:nvSpPr>
        <p:spPr>
          <a:xfrm>
            <a:off x="592074" y="2832926"/>
            <a:ext cx="3979926" cy="1881925"/>
          </a:xfrm>
          <a:prstGeom prst="rect">
            <a:avLst/>
          </a:prstGeom>
        </p:spPr>
        <p:txBody>
          <a:bodyPr wrap="square">
            <a:spAutoFit/>
          </a:bodyPr>
          <a:lstStyle/>
          <a:p>
            <a:pPr algn="just">
              <a:lnSpc>
                <a:spcPct val="150000"/>
              </a:lnSpc>
            </a:pPr>
            <a:r>
              <a:rPr lang="en-US" sz="2000" b="1" dirty="0" err="1">
                <a:solidFill>
                  <a:srgbClr val="002060"/>
                </a:solidFill>
                <a:latin typeface="Arial" panose="020B0604020202020204" pitchFamily="34" charset="0"/>
                <a:cs typeface="Arial" panose="020B0604020202020204" pitchFamily="34" charset="0"/>
              </a:rPr>
              <a:t>Ý</a:t>
            </a:r>
            <a:r>
              <a:rPr lang="en-US" sz="2000" b="1" dirty="0">
                <a:solidFill>
                  <a:srgbClr val="002060"/>
                </a:solidFill>
                <a:latin typeface="Arial" panose="020B0604020202020204" pitchFamily="34" charset="0"/>
                <a:cs typeface="Arial" panose="020B0604020202020204" pitchFamily="34" charset="0"/>
              </a:rPr>
              <a:t> </a:t>
            </a:r>
            <a:r>
              <a:rPr lang="en-US" sz="2000" b="1" dirty="0" err="1">
                <a:solidFill>
                  <a:srgbClr val="002060"/>
                </a:solidFill>
                <a:latin typeface="Arial" panose="020B0604020202020204" pitchFamily="34" charset="0"/>
                <a:cs typeface="Arial" panose="020B0604020202020204" pitchFamily="34" charset="0"/>
              </a:rPr>
              <a:t>nghĩa</a:t>
            </a:r>
            <a:r>
              <a:rPr lang="en-US" sz="2000" b="1" dirty="0">
                <a:solidFill>
                  <a:srgbClr val="002060"/>
                </a:solidFill>
                <a:latin typeface="Arial" panose="020B0604020202020204" pitchFamily="34" charset="0"/>
                <a:cs typeface="Arial" panose="020B0604020202020204" pitchFamily="34" charset="0"/>
              </a:rPr>
              <a:t>:</a:t>
            </a:r>
          </a:p>
          <a:p>
            <a:pPr algn="just">
              <a:lnSpc>
                <a:spcPct val="150000"/>
              </a:lnSpc>
            </a:pPr>
            <a:r>
              <a:rPr lang="en-US" sz="2000" dirty="0" err="1">
                <a:solidFill>
                  <a:srgbClr val="002060"/>
                </a:solidFill>
                <a:latin typeface="Arial" panose="020B0604020202020204" pitchFamily="34" charset="0"/>
                <a:cs typeface="Arial" panose="020B0604020202020204" pitchFamily="34" charset="0"/>
              </a:rPr>
              <a:t>Hàm</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mật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độ</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xác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suất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phản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ánh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mức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độ</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tập</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trung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xác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suất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tại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điểm</a:t>
            </a:r>
            <a:r>
              <a:rPr lang="en-US" sz="2000" dirty="0">
                <a:solidFill>
                  <a:srgbClr val="002060"/>
                </a:solidFill>
                <a:latin typeface="Arial" panose="020B0604020202020204" pitchFamily="34" charset="0"/>
                <a:cs typeface="Arial" panose="020B0604020202020204" pitchFamily="34" charset="0"/>
              </a:rPr>
              <a:t> x.</a:t>
            </a:r>
          </a:p>
        </p:txBody>
      </p:sp>
      <p:pic>
        <p:nvPicPr>
          <p:cNvPr id="7" name="Picture 6" descr="Dai Nam [PPT] Template 11.png">
            <a:extLst>
              <a:ext uri="{FF2B5EF4-FFF2-40B4-BE49-F238E27FC236}">
                <a16:creationId xmlns:a16="http://schemas.microsoft.com/office/drawing/2014/main" id="{7045BD6D-7F59-44B1-1978-AE0A2A71EB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95126"/>
            <a:ext cx="9144000" cy="475806"/>
          </a:xfrm>
          <a:prstGeom prst="rect">
            <a:avLst/>
          </a:prstGeom>
        </p:spPr>
      </p:pic>
      <p:pic>
        <p:nvPicPr>
          <p:cNvPr id="10" name="Picture 9">
            <a:extLst>
              <a:ext uri="{FF2B5EF4-FFF2-40B4-BE49-F238E27FC236}">
                <a16:creationId xmlns:a16="http://schemas.microsoft.com/office/drawing/2014/main" id="{BC01E73A-A2A8-7E13-8C1D-FBF57DB2DE51}"/>
              </a:ext>
            </a:extLst>
          </p:cNvPr>
          <p:cNvPicPr>
            <a:picLocks noChangeAspect="1"/>
          </p:cNvPicPr>
          <p:nvPr/>
        </p:nvPicPr>
        <p:blipFill>
          <a:blip r:embed="rId4"/>
          <a:stretch>
            <a:fillRect/>
          </a:stretch>
        </p:blipFill>
        <p:spPr>
          <a:xfrm>
            <a:off x="4604735" y="2812377"/>
            <a:ext cx="4506529" cy="1623142"/>
          </a:xfrm>
          <a:prstGeom prst="rect">
            <a:avLst/>
          </a:prstGeom>
        </p:spPr>
      </p:pic>
    </p:spTree>
    <p:extLst>
      <p:ext uri="{BB962C8B-B14F-4D97-AF65-F5344CB8AC3E}">
        <p14:creationId xmlns:p14="http://schemas.microsoft.com/office/powerpoint/2010/main" val="3637452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16</a:t>
            </a:fld>
            <a:endParaRPr lang="en"/>
          </a:p>
        </p:txBody>
      </p:sp>
      <p:sp>
        <p:nvSpPr>
          <p:cNvPr id="5" name="Title 1"/>
          <p:cNvSpPr txBox="1">
            <a:spLocks/>
          </p:cNvSpPr>
          <p:nvPr/>
        </p:nvSpPr>
        <p:spPr>
          <a:xfrm>
            <a:off x="2135089" y="143679"/>
            <a:ext cx="5422522" cy="589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1pPr>
            <a:lvl2pPr marR="0" lvl="1"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2pPr>
            <a:lvl3pPr marR="0" lvl="2"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3pPr>
            <a:lvl4pPr marR="0" lvl="3"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4pPr>
            <a:lvl5pPr marR="0" lvl="4"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5pPr>
            <a:lvl6pPr marR="0" lvl="5"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6pPr>
            <a:lvl7pPr marR="0" lvl="6"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7pPr>
            <a:lvl8pPr marR="0" lvl="7"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8pPr>
            <a:lvl9pPr marR="0" lvl="8"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9pPr>
          </a:lstStyle>
          <a:p>
            <a:r>
              <a:rPr lang="en-US" sz="3200" spc="-5" dirty="0" err="1">
                <a:solidFill>
                  <a:srgbClr val="002060"/>
                </a:solidFill>
                <a:latin typeface="Arial" panose="020B0604020202020204" pitchFamily="34" charset="0"/>
                <a:cs typeface="Arial" panose="020B0604020202020204" pitchFamily="34" charset="0"/>
              </a:rPr>
              <a:t>Hàm</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mật</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độ</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p:sp>
        <p:nvSpPr>
          <p:cNvPr id="8" name="Google Shape;278;p20"/>
          <p:cNvSpPr txBox="1">
            <a:spLocks/>
          </p:cNvSpPr>
          <p:nvPr/>
        </p:nvSpPr>
        <p:spPr>
          <a:xfrm>
            <a:off x="628479" y="1036693"/>
            <a:ext cx="1849545" cy="5898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60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1pPr>
            <a:lvl2pPr marL="914400" marR="0" lvl="1"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2pPr>
            <a:lvl3pPr marL="1371600" marR="0" lvl="2"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3pPr>
            <a:lvl4pPr marL="1828800" marR="0" lvl="3"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4pPr>
            <a:lvl5pPr marL="2286000" marR="0" lvl="4"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5pPr>
            <a:lvl6pPr marL="2743200" marR="0" lvl="5"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6pPr>
            <a:lvl7pPr marL="3200400" marR="0" lvl="6"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7pPr>
            <a:lvl8pPr marL="3657600" marR="0" lvl="7"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8pPr>
            <a:lvl9pPr marL="4114800" marR="0" lvl="8"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9pPr>
          </a:lstStyle>
          <a:p>
            <a:pPr marL="0" indent="0">
              <a:buFont typeface="Varela Round"/>
              <a:buNone/>
            </a:pPr>
            <a:r>
              <a:rPr lang="en-US" sz="2400" b="1" dirty="0" err="1">
                <a:solidFill>
                  <a:srgbClr val="002060"/>
                </a:solidFill>
                <a:latin typeface="Arial" panose="020B0604020202020204" pitchFamily="34" charset="0"/>
                <a:cs typeface="Arial" panose="020B0604020202020204" pitchFamily="34" charset="0"/>
              </a:rPr>
              <a:t>Tính</a:t>
            </a:r>
            <a:r>
              <a:rPr lang="en-US" sz="2400" b="1" dirty="0">
                <a:solidFill>
                  <a:srgbClr val="002060"/>
                </a:solidFill>
                <a:latin typeface="Arial" panose="020B0604020202020204" pitchFamily="34" charset="0"/>
                <a:cs typeface="Arial" panose="020B0604020202020204" pitchFamily="34" charset="0"/>
              </a:rPr>
              <a:t> </a:t>
            </a:r>
            <a:r>
              <a:rPr lang="en-US" sz="2400" b="1" dirty="0" err="1">
                <a:solidFill>
                  <a:srgbClr val="002060"/>
                </a:solidFill>
                <a:latin typeface="Arial" panose="020B0604020202020204" pitchFamily="34" charset="0"/>
                <a:cs typeface="Arial" panose="020B0604020202020204" pitchFamily="34" charset="0"/>
              </a:rPr>
              <a:t>chất</a:t>
            </a:r>
            <a:endParaRPr lang="en-US" sz="2400" b="1"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Rectangle 2"/>
              <p:cNvSpPr/>
              <p:nvPr/>
            </p:nvSpPr>
            <p:spPr>
              <a:xfrm>
                <a:off x="798475" y="2483846"/>
                <a:ext cx="2828082" cy="1191288"/>
              </a:xfrm>
              <a:prstGeom prst="rect">
                <a:avLst/>
              </a:prstGeom>
            </p:spPr>
            <p:txBody>
              <a:bodyPr wrap="none">
                <a:spAutoFit/>
              </a:bodyPr>
              <a:lstStyle/>
              <a:p>
                <a:pPr marL="457200" lvl="2">
                  <a:spcBef>
                    <a:spcPts val="600"/>
                  </a:spcBef>
                  <a:buClr>
                    <a:srgbClr val="92D050"/>
                  </a:buClr>
                  <a:buSzPct val="100000"/>
                </a:pPr>
                <a14:m>
                  <m:oMathPara xmlns:m="http://schemas.openxmlformats.org/officeDocument/2006/math">
                    <m:oMathParaPr>
                      <m:jc m:val="center"/>
                    </m:oMathParaPr>
                    <m:oMath xmlns:m="http://schemas.openxmlformats.org/officeDocument/2006/math">
                      <m:nary>
                        <m:naryPr>
                          <m:limLoc m:val="undOvr"/>
                          <m:ctrlPr>
                            <a:rPr lang="en-US" sz="2400" i="1" dirty="0" smtClean="0">
                              <a:solidFill>
                                <a:schemeClr val="tx1"/>
                              </a:solidFill>
                              <a:latin typeface="Cambria Math" panose="02040503050406030204" pitchFamily="18" charset="0"/>
                              <a:cs typeface="Times New Roman" panose="02020603050405020304" pitchFamily="18" charset="0"/>
                            </a:rPr>
                          </m:ctrlPr>
                        </m:naryPr>
                        <m:sub>
                          <m:r>
                            <m:rPr>
                              <m:brk m:alnAt="24"/>
                            </m:rPr>
                            <a:rPr lang="en-US" sz="2400" b="0" i="1" dirty="0" smtClean="0">
                              <a:solidFill>
                                <a:schemeClr val="tx1"/>
                              </a:solidFill>
                              <a:latin typeface="Cambria Math" panose="02040503050406030204" pitchFamily="18" charset="0"/>
                              <a:cs typeface="Times New Roman" panose="02020603050405020304" pitchFamily="18" charset="0"/>
                            </a:rPr>
                            <m:t>−</m:t>
                          </m:r>
                          <m:r>
                            <a:rPr lang="en-US" sz="2400"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ub>
                        <m:sup>
                          <m:r>
                            <a:rPr lang="en-US" sz="2400" b="0" i="1" dirty="0" smtClean="0">
                              <a:solidFill>
                                <a:schemeClr val="tx1"/>
                              </a:solidFill>
                              <a:latin typeface="Cambria Math" panose="02040503050406030204" pitchFamily="18" charset="0"/>
                              <a:cs typeface="Times New Roman" panose="02020603050405020304" pitchFamily="18" charset="0"/>
                            </a:rPr>
                            <m:t>+</m:t>
                          </m:r>
                          <m:r>
                            <a:rPr lang="en-US" sz="2400"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up>
                        <m:e>
                          <m:r>
                            <a:rPr lang="en-US" sz="2400" i="1" dirty="0">
                              <a:solidFill>
                                <a:schemeClr val="tx1"/>
                              </a:solidFill>
                              <a:latin typeface="Cambria Math" panose="02040503050406030204" pitchFamily="18" charset="0"/>
                              <a:cs typeface="Times New Roman" panose="02020603050405020304" pitchFamily="18" charset="0"/>
                            </a:rPr>
                            <m:t>𝑓</m:t>
                          </m:r>
                          <m:d>
                            <m:dPr>
                              <m:ctrlPr>
                                <a:rPr lang="en-US" sz="2400" i="1" dirty="0">
                                  <a:solidFill>
                                    <a:schemeClr val="tx1"/>
                                  </a:solidFill>
                                  <a:latin typeface="Cambria Math" panose="02040503050406030204" pitchFamily="18" charset="0"/>
                                  <a:cs typeface="Times New Roman" panose="02020603050405020304" pitchFamily="18" charset="0"/>
                                </a:rPr>
                              </m:ctrlPr>
                            </m:dPr>
                            <m:e>
                              <m:r>
                                <a:rPr lang="en-US" sz="2400" i="1" dirty="0">
                                  <a:solidFill>
                                    <a:schemeClr val="tx1"/>
                                  </a:solidFill>
                                  <a:latin typeface="Cambria Math" panose="02040503050406030204" pitchFamily="18" charset="0"/>
                                  <a:cs typeface="Times New Roman" panose="02020603050405020304" pitchFamily="18" charset="0"/>
                                </a:rPr>
                                <m:t>𝑥</m:t>
                              </m:r>
                            </m:e>
                          </m:d>
                        </m:e>
                      </m:nary>
                      <m:r>
                        <a:rPr lang="en-US" sz="2400" b="0" i="1" dirty="0" smtClean="0">
                          <a:solidFill>
                            <a:schemeClr val="tx1"/>
                          </a:solidFill>
                          <a:latin typeface="Cambria Math" panose="02040503050406030204" pitchFamily="18" charset="0"/>
                          <a:cs typeface="Times New Roman" panose="02020603050405020304" pitchFamily="18" charset="0"/>
                        </a:rPr>
                        <m:t>𝑑𝑥</m:t>
                      </m:r>
                      <m:r>
                        <a:rPr lang="en-US" sz="2400" b="0" i="1" dirty="0" smtClean="0">
                          <a:solidFill>
                            <a:schemeClr val="tx1"/>
                          </a:solidFill>
                          <a:latin typeface="Cambria Math" panose="02040503050406030204" pitchFamily="18" charset="0"/>
                          <a:cs typeface="Times New Roman" panose="02020603050405020304" pitchFamily="18" charset="0"/>
                        </a:rPr>
                        <m:t>=1</m:t>
                      </m:r>
                    </m:oMath>
                  </m:oMathPara>
                </a14:m>
                <a:endParaRPr 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798475" y="2483846"/>
                <a:ext cx="2828082" cy="1191288"/>
              </a:xfrm>
              <a:prstGeom prst="rect">
                <a:avLst/>
              </a:prstGeom>
              <a:blipFill>
                <a:blip r:embed="rId2"/>
                <a:stretch>
                  <a:fillRect l="-22768" t="-113684" b="-17157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868550" y="1808998"/>
                <a:ext cx="2965684" cy="461665"/>
              </a:xfrm>
              <a:prstGeom prst="rect">
                <a:avLst/>
              </a:prstGeom>
            </p:spPr>
            <p:txBody>
              <a:bodyPr wrap="none">
                <a:spAutoFit/>
              </a:bodyPr>
              <a:lstStyle/>
              <a:p>
                <a:pPr marL="457200" lvl="2">
                  <a:spcBef>
                    <a:spcPts val="600"/>
                  </a:spcBef>
                  <a:buSzPct val="100000"/>
                </a:pPr>
                <a14:m>
                  <m:oMathPara xmlns:m="http://schemas.openxmlformats.org/officeDocument/2006/math">
                    <m:oMathParaPr>
                      <m:jc m:val="centerGroup"/>
                    </m:oMathParaPr>
                    <m:oMath xmlns:m="http://schemas.openxmlformats.org/officeDocument/2006/math">
                      <m:r>
                        <a:rPr lang="en-US" sz="2400" i="1" dirty="0" smtClean="0">
                          <a:solidFill>
                            <a:schemeClr val="tx1"/>
                          </a:solidFill>
                          <a:latin typeface="Cambria Math" panose="02040503050406030204" pitchFamily="18" charset="0"/>
                          <a:cs typeface="Times New Roman" panose="02020603050405020304" pitchFamily="18" charset="0"/>
                        </a:rPr>
                        <m:t>𝑓</m:t>
                      </m:r>
                      <m:d>
                        <m:dPr>
                          <m:ctrlPr>
                            <a:rPr lang="en-US" sz="2400" i="1" dirty="0">
                              <a:solidFill>
                                <a:schemeClr val="tx1"/>
                              </a:solidFill>
                              <a:latin typeface="Cambria Math" panose="02040503050406030204" pitchFamily="18" charset="0"/>
                              <a:cs typeface="Times New Roman" panose="02020603050405020304" pitchFamily="18" charset="0"/>
                            </a:rPr>
                          </m:ctrlPr>
                        </m:dPr>
                        <m:e>
                          <m:r>
                            <a:rPr lang="en-US" sz="2400" i="1" dirty="0">
                              <a:solidFill>
                                <a:schemeClr val="tx1"/>
                              </a:solidFill>
                              <a:latin typeface="Cambria Math" panose="02040503050406030204" pitchFamily="18" charset="0"/>
                              <a:cs typeface="Times New Roman" panose="02020603050405020304" pitchFamily="18" charset="0"/>
                            </a:rPr>
                            <m:t>𝑥</m:t>
                          </m:r>
                        </m:e>
                      </m:d>
                      <m:r>
                        <a:rPr 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m:t>
                      </m:r>
                      <m:r>
                        <a:rPr 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m:t>
                      </m:r>
                      <m:r>
                        <a:rPr 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ℝ</m:t>
                      </m:r>
                    </m:oMath>
                  </m:oMathPara>
                </a14:m>
                <a:endParaRPr 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868550" y="1808998"/>
                <a:ext cx="2965684" cy="461665"/>
              </a:xfrm>
              <a:prstGeom prst="rect">
                <a:avLst/>
              </a:prstGeom>
              <a:blipFill>
                <a:blip r:embed="rId3"/>
                <a:stretch>
                  <a:fillRect b="-16216"/>
                </a:stretch>
              </a:blipFill>
            </p:spPr>
            <p:txBody>
              <a:bodyPr/>
              <a:lstStyle/>
              <a:p>
                <a:r>
                  <a:rPr lang="en-VN">
                    <a:noFill/>
                  </a:rPr>
                  <a:t> </a:t>
                </a:r>
              </a:p>
            </p:txBody>
          </p:sp>
        </mc:Fallback>
      </mc:AlternateContent>
      <p:sp>
        <p:nvSpPr>
          <p:cNvPr id="11" name="TextBox 10"/>
          <p:cNvSpPr txBox="1"/>
          <p:nvPr/>
        </p:nvSpPr>
        <p:spPr>
          <a:xfrm>
            <a:off x="868550" y="1813196"/>
            <a:ext cx="558800" cy="461665"/>
          </a:xfrm>
          <a:prstGeom prst="rect">
            <a:avLst/>
          </a:prstGeom>
          <a:noFill/>
        </p:spPr>
        <p:txBody>
          <a:bodyPr wrap="square" rtlCol="0">
            <a:spAutoFit/>
          </a:bodyPr>
          <a:lstStyle/>
          <a:p>
            <a:pPr>
              <a:buClr>
                <a:srgbClr val="92D050"/>
              </a:buClr>
            </a:pPr>
            <a:r>
              <a:rPr lang="en-US" sz="2400" i="1" err="1">
                <a:solidFill>
                  <a:schemeClr val="tx1"/>
                </a:solidFill>
                <a:latin typeface="Times New Roman" panose="02020603050405020304" pitchFamily="18" charset="0"/>
                <a:cs typeface="Times New Roman" panose="02020603050405020304" pitchFamily="18" charset="0"/>
              </a:rPr>
              <a:t>i</a:t>
            </a:r>
            <a:r>
              <a:rPr lang="en-US" sz="2400" i="1">
                <a:solidFill>
                  <a:schemeClr val="tx1"/>
                </a:solidFill>
                <a:latin typeface="Times New Roman" panose="02020603050405020304" pitchFamily="18" charset="0"/>
                <a:cs typeface="Times New Roman" panose="02020603050405020304" pitchFamily="18" charset="0"/>
              </a:rPr>
              <a:t>.</a:t>
            </a:r>
          </a:p>
        </p:txBody>
      </p:sp>
      <p:sp>
        <p:nvSpPr>
          <p:cNvPr id="12" name="TextBox 11"/>
          <p:cNvSpPr txBox="1"/>
          <p:nvPr/>
        </p:nvSpPr>
        <p:spPr>
          <a:xfrm>
            <a:off x="868550" y="2848657"/>
            <a:ext cx="558800" cy="461665"/>
          </a:xfrm>
          <a:prstGeom prst="rect">
            <a:avLst/>
          </a:prstGeom>
          <a:noFill/>
        </p:spPr>
        <p:txBody>
          <a:bodyPr wrap="square" rtlCol="0">
            <a:spAutoFit/>
          </a:bodyPr>
          <a:lstStyle/>
          <a:p>
            <a:pPr>
              <a:buClr>
                <a:srgbClr val="92D050"/>
              </a:buClr>
            </a:pPr>
            <a:r>
              <a:rPr lang="en-US" sz="2400" i="1">
                <a:solidFill>
                  <a:schemeClr val="tx1"/>
                </a:solidFill>
                <a:latin typeface="Times New Roman" panose="02020603050405020304" pitchFamily="18" charset="0"/>
                <a:cs typeface="Times New Roman" panose="02020603050405020304" pitchFamily="18" charset="0"/>
              </a:rPr>
              <a:t>ii.</a:t>
            </a:r>
          </a:p>
        </p:txBody>
      </p:sp>
      <mc:AlternateContent xmlns:mc="http://schemas.openxmlformats.org/markup-compatibility/2006" xmlns:a14="http://schemas.microsoft.com/office/drawing/2010/main">
        <mc:Choice Requires="a14">
          <p:sp>
            <p:nvSpPr>
              <p:cNvPr id="13" name="Rectangle 12"/>
              <p:cNvSpPr/>
              <p:nvPr/>
            </p:nvSpPr>
            <p:spPr>
              <a:xfrm>
                <a:off x="4754068" y="1482074"/>
                <a:ext cx="4196149" cy="1212640"/>
              </a:xfrm>
              <a:prstGeom prst="rect">
                <a:avLst/>
              </a:prstGeom>
            </p:spPr>
            <p:txBody>
              <a:bodyPr wrap="none">
                <a:spAutoFit/>
              </a:bodyPr>
              <a:lstStyle/>
              <a:p>
                <a:pPr marL="457200" lvl="2">
                  <a:spcBef>
                    <a:spcPts val="600"/>
                  </a:spcBef>
                  <a:buSzPct val="100000"/>
                </a:pPr>
                <a14:m>
                  <m:oMathPara xmlns:m="http://schemas.openxmlformats.org/officeDocument/2006/math">
                    <m:oMathParaPr>
                      <m:jc m:val="centerGroup"/>
                    </m:oMathParaPr>
                    <m:oMath xmlns:m="http://schemas.openxmlformats.org/officeDocument/2006/math">
                      <m:r>
                        <a:rPr lang="en-US" sz="2400" b="0" i="1" dirty="0" smtClean="0">
                          <a:solidFill>
                            <a:srgbClr val="002060"/>
                          </a:solidFill>
                          <a:latin typeface="Cambria Math" panose="02040503050406030204" pitchFamily="18" charset="0"/>
                          <a:cs typeface="Times New Roman" panose="02020603050405020304" pitchFamily="18" charset="0"/>
                        </a:rPr>
                        <m:t>𝑃</m:t>
                      </m:r>
                      <m:d>
                        <m:dPr>
                          <m:ctrlPr>
                            <a:rPr lang="en-US" sz="2400" i="1" dirty="0">
                              <a:solidFill>
                                <a:srgbClr val="002060"/>
                              </a:solidFill>
                              <a:latin typeface="Cambria Math" panose="02040503050406030204" pitchFamily="18" charset="0"/>
                              <a:cs typeface="Times New Roman" panose="02020603050405020304" pitchFamily="18" charset="0"/>
                            </a:rPr>
                          </m:ctrlPr>
                        </m:dPr>
                        <m:e>
                          <m:r>
                            <a:rPr lang="en-US" sz="2400" b="0" i="1" dirty="0" smtClean="0">
                              <a:solidFill>
                                <a:srgbClr val="002060"/>
                              </a:solidFill>
                              <a:latin typeface="Cambria Math" panose="02040503050406030204" pitchFamily="18" charset="0"/>
                              <a:cs typeface="Times New Roman" panose="02020603050405020304" pitchFamily="18" charset="0"/>
                            </a:rPr>
                            <m:t>𝑎</m:t>
                          </m:r>
                          <m:r>
                            <a:rPr lang="vi-VN" sz="2400" b="0" i="1" dirty="0" smtClean="0">
                              <a:solidFill>
                                <a:srgbClr val="002060"/>
                              </a:solidFill>
                              <a:latin typeface="Cambria Math" panose="02040503050406030204" pitchFamily="18" charset="0"/>
                              <a:cs typeface="Times New Roman" panose="02020603050405020304" pitchFamily="18" charset="0"/>
                            </a:rPr>
                            <m:t>&lt;</m:t>
                          </m:r>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𝑋</m:t>
                          </m:r>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&lt;</m:t>
                          </m:r>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𝑏</m:t>
                          </m:r>
                        </m:e>
                      </m:d>
                      <m:r>
                        <a:rPr lang="en-US" sz="2400" b="0" i="1" dirty="0" smtClean="0">
                          <a:solidFill>
                            <a:srgbClr val="002060"/>
                          </a:solidFill>
                          <a:latin typeface="Cambria Math" panose="02040503050406030204" pitchFamily="18" charset="0"/>
                          <a:cs typeface="Times New Roman" panose="02020603050405020304" pitchFamily="18" charset="0"/>
                        </a:rPr>
                        <m:t>=</m:t>
                      </m:r>
                      <m:nary>
                        <m:naryPr>
                          <m:limLoc m:val="undOvr"/>
                          <m:ctrlPr>
                            <a:rPr lang="en-US" sz="2400" b="0" i="1" dirty="0" smtClean="0">
                              <a:solidFill>
                                <a:srgbClr val="002060"/>
                              </a:solidFill>
                              <a:latin typeface="Cambria Math" panose="02040503050406030204" pitchFamily="18" charset="0"/>
                              <a:cs typeface="Times New Roman" panose="02020603050405020304" pitchFamily="18" charset="0"/>
                            </a:rPr>
                          </m:ctrlPr>
                        </m:naryPr>
                        <m:sub>
                          <m:r>
                            <m:rPr>
                              <m:brk m:alnAt="24"/>
                            </m:rPr>
                            <a:rPr lang="en-US" sz="2400" b="0" i="1" dirty="0" smtClean="0">
                              <a:solidFill>
                                <a:srgbClr val="002060"/>
                              </a:solidFill>
                              <a:latin typeface="Cambria Math" panose="02040503050406030204" pitchFamily="18" charset="0"/>
                              <a:cs typeface="Times New Roman" panose="02020603050405020304" pitchFamily="18" charset="0"/>
                            </a:rPr>
                            <m:t>𝑎</m:t>
                          </m:r>
                        </m:sub>
                        <m:sup>
                          <m:r>
                            <a:rPr lang="en-US" sz="2400" b="0" i="1" dirty="0" smtClean="0">
                              <a:solidFill>
                                <a:srgbClr val="002060"/>
                              </a:solidFill>
                              <a:latin typeface="Cambria Math" panose="02040503050406030204" pitchFamily="18" charset="0"/>
                              <a:cs typeface="Times New Roman" panose="02020603050405020304" pitchFamily="18" charset="0"/>
                            </a:rPr>
                            <m:t>𝑏</m:t>
                          </m:r>
                        </m:sup>
                        <m:e>
                          <m:r>
                            <a:rPr lang="en-US" sz="2400" b="0" i="1" dirty="0" smtClean="0">
                              <a:solidFill>
                                <a:srgbClr val="002060"/>
                              </a:solidFill>
                              <a:latin typeface="Cambria Math" panose="02040503050406030204" pitchFamily="18" charset="0"/>
                              <a:cs typeface="Times New Roman" panose="02020603050405020304" pitchFamily="18" charset="0"/>
                            </a:rPr>
                            <m:t>𝑓</m:t>
                          </m:r>
                          <m:d>
                            <m:dPr>
                              <m:ctrlPr>
                                <a:rPr lang="en-US" sz="2400" b="0" i="1" dirty="0" smtClean="0">
                                  <a:solidFill>
                                    <a:srgbClr val="002060"/>
                                  </a:solidFill>
                                  <a:latin typeface="Cambria Math" panose="02040503050406030204" pitchFamily="18" charset="0"/>
                                  <a:cs typeface="Times New Roman" panose="02020603050405020304" pitchFamily="18" charset="0"/>
                                </a:rPr>
                              </m:ctrlPr>
                            </m:dPr>
                            <m:e>
                              <m:r>
                                <a:rPr lang="en-US" sz="2400" b="0" i="1" dirty="0" smtClean="0">
                                  <a:solidFill>
                                    <a:srgbClr val="002060"/>
                                  </a:solidFill>
                                  <a:latin typeface="Cambria Math" panose="02040503050406030204" pitchFamily="18" charset="0"/>
                                  <a:cs typeface="Times New Roman" panose="02020603050405020304" pitchFamily="18" charset="0"/>
                                </a:rPr>
                                <m:t>𝑥</m:t>
                              </m:r>
                            </m:e>
                          </m:d>
                          <m:r>
                            <a:rPr lang="en-US" sz="2400" b="0" i="1" dirty="0" smtClean="0">
                              <a:solidFill>
                                <a:srgbClr val="002060"/>
                              </a:solidFill>
                              <a:latin typeface="Cambria Math" panose="02040503050406030204" pitchFamily="18" charset="0"/>
                              <a:cs typeface="Times New Roman" panose="02020603050405020304" pitchFamily="18" charset="0"/>
                            </a:rPr>
                            <m:t>𝑑𝑥</m:t>
                          </m:r>
                        </m:e>
                      </m:nary>
                    </m:oMath>
                  </m:oMathPara>
                </a14:m>
                <a:endParaRPr lang="en-US" sz="24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4754068" y="1482074"/>
                <a:ext cx="4196149" cy="1212640"/>
              </a:xfrm>
              <a:prstGeom prst="rect">
                <a:avLst/>
              </a:prstGeom>
              <a:blipFill>
                <a:blip r:embed="rId4"/>
                <a:stretch>
                  <a:fillRect t="-108247" b="-168041"/>
                </a:stretch>
              </a:blipFill>
            </p:spPr>
            <p:txBody>
              <a:bodyPr/>
              <a:lstStyle/>
              <a:p>
                <a:r>
                  <a:rPr lang="en-VN">
                    <a:noFill/>
                  </a:rPr>
                  <a:t> </a:t>
                </a:r>
              </a:p>
            </p:txBody>
          </p:sp>
        </mc:Fallback>
      </mc:AlternateContent>
      <p:sp>
        <p:nvSpPr>
          <p:cNvPr id="14" name="TextBox 13"/>
          <p:cNvSpPr txBox="1"/>
          <p:nvPr/>
        </p:nvSpPr>
        <p:spPr>
          <a:xfrm>
            <a:off x="4474668" y="1875833"/>
            <a:ext cx="558800" cy="461665"/>
          </a:xfrm>
          <a:prstGeom prst="rect">
            <a:avLst/>
          </a:prstGeom>
          <a:noFill/>
        </p:spPr>
        <p:txBody>
          <a:bodyPr wrap="square" rtlCol="0">
            <a:spAutoFit/>
          </a:bodyPr>
          <a:lstStyle/>
          <a:p>
            <a:pPr>
              <a:buClr>
                <a:srgbClr val="92D050"/>
              </a:buClr>
            </a:pPr>
            <a:r>
              <a:rPr lang="en-US" sz="2400" i="1" dirty="0">
                <a:solidFill>
                  <a:schemeClr val="tx1"/>
                </a:solidFill>
                <a:latin typeface="Times New Roman" panose="02020603050405020304" pitchFamily="18" charset="0"/>
                <a:cs typeface="Times New Roman" panose="02020603050405020304" pitchFamily="18" charset="0"/>
              </a:rPr>
              <a:t>iii.</a:t>
            </a:r>
          </a:p>
        </p:txBody>
      </p:sp>
      <mc:AlternateContent xmlns:mc="http://schemas.openxmlformats.org/markup-compatibility/2006" xmlns:a14="http://schemas.microsoft.com/office/drawing/2010/main">
        <mc:Choice Requires="a14">
          <p:sp>
            <p:nvSpPr>
              <p:cNvPr id="16" name="Rectangle 15"/>
              <p:cNvSpPr/>
              <p:nvPr/>
            </p:nvSpPr>
            <p:spPr>
              <a:xfrm>
                <a:off x="4805970" y="2504054"/>
                <a:ext cx="3121239" cy="1210652"/>
              </a:xfrm>
              <a:prstGeom prst="rect">
                <a:avLst/>
              </a:prstGeom>
            </p:spPr>
            <p:txBody>
              <a:bodyPr wrap="none">
                <a:spAutoFit/>
              </a:bodyPr>
              <a:lstStyle/>
              <a:p>
                <a:pPr marL="457200" lvl="2">
                  <a:spcBef>
                    <a:spcPts val="600"/>
                  </a:spcBef>
                  <a:buSzPct val="100000"/>
                </a:pPr>
                <a14:m>
                  <m:oMathPara xmlns:m="http://schemas.openxmlformats.org/officeDocument/2006/math">
                    <m:oMathParaPr>
                      <m:jc m:val="centerGroup"/>
                    </m:oMathParaPr>
                    <m:oMath xmlns:m="http://schemas.openxmlformats.org/officeDocument/2006/math">
                      <m:r>
                        <a:rPr lang="en-US" sz="2400" b="0" i="1" dirty="0" smtClean="0">
                          <a:solidFill>
                            <a:srgbClr val="002060"/>
                          </a:solidFill>
                          <a:latin typeface="Cambria Math" panose="02040503050406030204" pitchFamily="18" charset="0"/>
                          <a:cs typeface="Times New Roman" panose="02020603050405020304" pitchFamily="18" charset="0"/>
                        </a:rPr>
                        <m:t>𝐹</m:t>
                      </m:r>
                      <m:d>
                        <m:dPr>
                          <m:ctrlPr>
                            <a:rPr lang="en-US" sz="2400" i="1" dirty="0">
                              <a:solidFill>
                                <a:srgbClr val="002060"/>
                              </a:solidFill>
                              <a:latin typeface="Cambria Math" panose="02040503050406030204" pitchFamily="18" charset="0"/>
                              <a:cs typeface="Times New Roman" panose="02020603050405020304" pitchFamily="18" charset="0"/>
                            </a:rPr>
                          </m:ctrlPr>
                        </m:dPr>
                        <m:e>
                          <m:r>
                            <a:rPr lang="en-US" sz="2400" b="0" i="1" dirty="0" smtClean="0">
                              <a:solidFill>
                                <a:srgbClr val="002060"/>
                              </a:solidFill>
                              <a:latin typeface="Cambria Math" panose="02040503050406030204" pitchFamily="18" charset="0"/>
                              <a:cs typeface="Times New Roman" panose="02020603050405020304" pitchFamily="18" charset="0"/>
                            </a:rPr>
                            <m:t>𝑥</m:t>
                          </m:r>
                        </m:e>
                      </m:d>
                      <m:r>
                        <a:rPr lang="en-US" sz="2400" b="0" i="1" dirty="0" smtClean="0">
                          <a:solidFill>
                            <a:srgbClr val="002060"/>
                          </a:solidFill>
                          <a:latin typeface="Cambria Math" panose="02040503050406030204" pitchFamily="18" charset="0"/>
                          <a:cs typeface="Times New Roman" panose="02020603050405020304" pitchFamily="18" charset="0"/>
                        </a:rPr>
                        <m:t>=</m:t>
                      </m:r>
                      <m:nary>
                        <m:naryPr>
                          <m:limLoc m:val="undOvr"/>
                          <m:ctrlPr>
                            <a:rPr lang="en-US" sz="2400" b="0" i="1" dirty="0" smtClean="0">
                              <a:solidFill>
                                <a:srgbClr val="002060"/>
                              </a:solidFill>
                              <a:latin typeface="Cambria Math" panose="02040503050406030204" pitchFamily="18" charset="0"/>
                              <a:cs typeface="Times New Roman" panose="02020603050405020304" pitchFamily="18" charset="0"/>
                            </a:rPr>
                          </m:ctrlPr>
                        </m:naryPr>
                        <m:sub>
                          <m:r>
                            <m:rPr>
                              <m:brk m:alnAt="24"/>
                            </m:rPr>
                            <a:rPr lang="en-US" sz="2400" b="0" i="1" dirty="0" smtClean="0">
                              <a:solidFill>
                                <a:srgbClr val="002060"/>
                              </a:solidFill>
                              <a:latin typeface="Cambria Math" panose="02040503050406030204" pitchFamily="18" charset="0"/>
                              <a:cs typeface="Times New Roman" panose="02020603050405020304" pitchFamily="18" charset="0"/>
                            </a:rPr>
                            <m:t>−</m:t>
                          </m:r>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sub>
                        <m:sup>
                          <m:r>
                            <a:rPr lang="en-US" sz="2400" b="0" i="1" dirty="0" smtClean="0">
                              <a:solidFill>
                                <a:srgbClr val="002060"/>
                              </a:solidFill>
                              <a:latin typeface="Cambria Math" panose="02040503050406030204" pitchFamily="18" charset="0"/>
                              <a:cs typeface="Times New Roman" panose="02020603050405020304" pitchFamily="18" charset="0"/>
                            </a:rPr>
                            <m:t>𝑥</m:t>
                          </m:r>
                        </m:sup>
                        <m:e>
                          <m:r>
                            <a:rPr lang="en-US" sz="2400" b="0" i="1" dirty="0" smtClean="0">
                              <a:solidFill>
                                <a:srgbClr val="002060"/>
                              </a:solidFill>
                              <a:latin typeface="Cambria Math" panose="02040503050406030204" pitchFamily="18" charset="0"/>
                              <a:cs typeface="Times New Roman" panose="02020603050405020304" pitchFamily="18" charset="0"/>
                            </a:rPr>
                            <m:t>𝑓</m:t>
                          </m:r>
                          <m:d>
                            <m:dPr>
                              <m:ctrlPr>
                                <a:rPr lang="en-US" sz="2400" b="0" i="1" dirty="0" smtClean="0">
                                  <a:solidFill>
                                    <a:srgbClr val="002060"/>
                                  </a:solidFill>
                                  <a:latin typeface="Cambria Math" panose="02040503050406030204" pitchFamily="18" charset="0"/>
                                  <a:cs typeface="Times New Roman" panose="02020603050405020304" pitchFamily="18" charset="0"/>
                                </a:rPr>
                              </m:ctrlPr>
                            </m:dPr>
                            <m:e>
                              <m:r>
                                <a:rPr lang="en-US" sz="2400" b="0" i="1" dirty="0" smtClean="0">
                                  <a:solidFill>
                                    <a:srgbClr val="002060"/>
                                  </a:solidFill>
                                  <a:latin typeface="Cambria Math" panose="02040503050406030204" pitchFamily="18" charset="0"/>
                                  <a:cs typeface="Times New Roman" panose="02020603050405020304" pitchFamily="18" charset="0"/>
                                </a:rPr>
                                <m:t>𝑥</m:t>
                              </m:r>
                            </m:e>
                          </m:d>
                          <m:r>
                            <a:rPr lang="en-US" sz="2400" b="0" i="1" dirty="0" smtClean="0">
                              <a:solidFill>
                                <a:srgbClr val="002060"/>
                              </a:solidFill>
                              <a:latin typeface="Cambria Math" panose="02040503050406030204" pitchFamily="18" charset="0"/>
                              <a:cs typeface="Times New Roman" panose="02020603050405020304" pitchFamily="18" charset="0"/>
                            </a:rPr>
                            <m:t>𝑑𝑥</m:t>
                          </m:r>
                        </m:e>
                      </m:nary>
                    </m:oMath>
                  </m:oMathPara>
                </a14:m>
                <a:endParaRPr lang="en-US" sz="2400" i="1" dirty="0">
                  <a:solidFill>
                    <a:srgbClr val="002060"/>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6" name="Rectangle 15"/>
              <p:cNvSpPr>
                <a:spLocks noRot="1" noChangeAspect="1" noMove="1" noResize="1" noEditPoints="1" noAdjustHandles="1" noChangeArrowheads="1" noChangeShapeType="1" noTextEdit="1"/>
              </p:cNvSpPr>
              <p:nvPr/>
            </p:nvSpPr>
            <p:spPr>
              <a:xfrm>
                <a:off x="4805970" y="2504054"/>
                <a:ext cx="3121239" cy="1210652"/>
              </a:xfrm>
              <a:prstGeom prst="rect">
                <a:avLst/>
              </a:prstGeom>
              <a:blipFill>
                <a:blip r:embed="rId5"/>
                <a:stretch>
                  <a:fillRect t="-113542" b="-167708"/>
                </a:stretch>
              </a:blipFill>
            </p:spPr>
            <p:txBody>
              <a:bodyPr/>
              <a:lstStyle/>
              <a:p>
                <a:r>
                  <a:rPr lang="en-VN">
                    <a:noFill/>
                  </a:rPr>
                  <a:t> </a:t>
                </a:r>
              </a:p>
            </p:txBody>
          </p:sp>
        </mc:Fallback>
      </mc:AlternateContent>
      <p:sp>
        <p:nvSpPr>
          <p:cNvPr id="17" name="TextBox 16"/>
          <p:cNvSpPr txBox="1"/>
          <p:nvPr/>
        </p:nvSpPr>
        <p:spPr>
          <a:xfrm>
            <a:off x="4486708" y="2873266"/>
            <a:ext cx="558800" cy="461665"/>
          </a:xfrm>
          <a:prstGeom prst="rect">
            <a:avLst/>
          </a:prstGeom>
          <a:noFill/>
        </p:spPr>
        <p:txBody>
          <a:bodyPr wrap="square" rtlCol="0">
            <a:spAutoFit/>
          </a:bodyPr>
          <a:lstStyle/>
          <a:p>
            <a:pPr>
              <a:buClr>
                <a:srgbClr val="92D050"/>
              </a:buClr>
            </a:pPr>
            <a:r>
              <a:rPr lang="en-US" sz="2400" i="1" dirty="0">
                <a:solidFill>
                  <a:schemeClr val="tx1"/>
                </a:solidFill>
                <a:latin typeface="Times New Roman" panose="02020603050405020304" pitchFamily="18" charset="0"/>
                <a:cs typeface="Times New Roman" panose="02020603050405020304" pitchFamily="18" charset="0"/>
              </a:rPr>
              <a:t>iv.</a:t>
            </a:r>
          </a:p>
        </p:txBody>
      </p:sp>
      <p:pic>
        <p:nvPicPr>
          <p:cNvPr id="2" name="Picture 1" descr="Dai Nam [PPT] Template 11.png">
            <a:extLst>
              <a:ext uri="{FF2B5EF4-FFF2-40B4-BE49-F238E27FC236}">
                <a16:creationId xmlns:a16="http://schemas.microsoft.com/office/drawing/2014/main" id="{9370DFCF-98A5-5C48-38B7-65374CCD87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695126"/>
            <a:ext cx="9144000" cy="475806"/>
          </a:xfrm>
          <a:prstGeom prst="rect">
            <a:avLst/>
          </a:prstGeom>
        </p:spPr>
      </p:pic>
    </p:spTree>
    <p:extLst>
      <p:ext uri="{BB962C8B-B14F-4D97-AF65-F5344CB8AC3E}">
        <p14:creationId xmlns:p14="http://schemas.microsoft.com/office/powerpoint/2010/main" val="57130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17</a:t>
            </a:fld>
            <a:endParaRPr lang="en"/>
          </a:p>
        </p:txBody>
      </p:sp>
      <p:sp>
        <p:nvSpPr>
          <p:cNvPr id="5" name="Title 1"/>
          <p:cNvSpPr txBox="1">
            <a:spLocks noGrp="1"/>
          </p:cNvSpPr>
          <p:nvPr>
            <p:ph type="title"/>
          </p:nvPr>
        </p:nvSpPr>
        <p:spPr>
          <a:xfrm>
            <a:off x="2157919" y="278625"/>
            <a:ext cx="4828162" cy="59436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1pPr>
            <a:lvl2pPr marR="0" lvl="1"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2pPr>
            <a:lvl3pPr marR="0" lvl="2"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3pPr>
            <a:lvl4pPr marR="0" lvl="3"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4pPr>
            <a:lvl5pPr marR="0" lvl="4"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5pPr>
            <a:lvl6pPr marR="0" lvl="5"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6pPr>
            <a:lvl7pPr marR="0" lvl="6"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7pPr>
            <a:lvl8pPr marR="0" lvl="7"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8pPr>
            <a:lvl9pPr marR="0" lvl="8"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9pPr>
          </a:lstStyle>
          <a:p>
            <a:r>
              <a:rPr lang="en-US" sz="3200" spc="-5" dirty="0" err="1">
                <a:solidFill>
                  <a:srgbClr val="002060"/>
                </a:solidFill>
                <a:latin typeface="Arial" panose="020B0604020202020204" pitchFamily="34" charset="0"/>
                <a:cs typeface="Arial" panose="020B0604020202020204" pitchFamily="34" charset="0"/>
              </a:rPr>
              <a:t>Hàm</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mật</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độ</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Rectangle 5"/>
              <p:cNvSpPr/>
              <p:nvPr/>
            </p:nvSpPr>
            <p:spPr>
              <a:xfrm>
                <a:off x="685670" y="1073634"/>
                <a:ext cx="8055994" cy="3475567"/>
              </a:xfrm>
              <a:prstGeom prst="rect">
                <a:avLst/>
              </a:prstGeom>
            </p:spPr>
            <p:txBody>
              <a:bodyPr wrap="square">
                <a:spAutoFit/>
              </a:bodyPr>
              <a:lstStyle/>
              <a:p>
                <a:pPr>
                  <a:lnSpc>
                    <a:spcPct val="150000"/>
                  </a:lnSpc>
                  <a:buClrTx/>
                  <a:buFontTx/>
                  <a:buNone/>
                </a:pPr>
                <a:r>
                  <a:rPr lang="en-US" sz="2400" b="1" kern="1200" dirty="0" err="1">
                    <a:solidFill>
                      <a:srgbClr val="002060"/>
                    </a:solidFill>
                    <a:latin typeface="Arial" panose="020B0604020202020204" pitchFamily="34" charset="0"/>
                    <a:ea typeface="+mn-ea"/>
                    <a:cs typeface="Arial" panose="020B0604020202020204" pitchFamily="34" charset="0"/>
                  </a:rPr>
                  <a:t>Ví</a:t>
                </a:r>
                <a:r>
                  <a:rPr lang="en-US" sz="2400" b="1" kern="1200" dirty="0">
                    <a:solidFill>
                      <a:srgbClr val="002060"/>
                    </a:solidFill>
                    <a:latin typeface="Arial" panose="020B0604020202020204" pitchFamily="34" charset="0"/>
                    <a:ea typeface="+mn-ea"/>
                    <a:cs typeface="Arial" panose="020B0604020202020204" pitchFamily="34" charset="0"/>
                  </a:rPr>
                  <a:t> </a:t>
                </a:r>
                <a:r>
                  <a:rPr lang="en-US" sz="2400" b="1" kern="1200" dirty="0" err="1">
                    <a:solidFill>
                      <a:srgbClr val="002060"/>
                    </a:solidFill>
                    <a:latin typeface="Arial" panose="020B0604020202020204" pitchFamily="34" charset="0"/>
                    <a:ea typeface="+mn-ea"/>
                    <a:cs typeface="Arial" panose="020B0604020202020204" pitchFamily="34" charset="0"/>
                  </a:rPr>
                  <a:t>dụ</a:t>
                </a:r>
                <a:r>
                  <a:rPr lang="en-US" sz="2400" b="1" kern="1200" dirty="0">
                    <a:solidFill>
                      <a:srgbClr val="002060"/>
                    </a:solidFill>
                    <a:latin typeface="Arial" panose="020B0604020202020204" pitchFamily="34" charset="0"/>
                    <a:ea typeface="+mn-ea"/>
                    <a:cs typeface="Arial" panose="020B0604020202020204" pitchFamily="34" charset="0"/>
                  </a:rPr>
                  <a:t>: </a:t>
                </a:r>
                <a:r>
                  <a:rPr lang="en-US" sz="2400" kern="1200" dirty="0">
                    <a:solidFill>
                      <a:srgbClr val="002060"/>
                    </a:solidFill>
                    <a:latin typeface="Arial" panose="020B0604020202020204" pitchFamily="34" charset="0"/>
                    <a:ea typeface="+mn-ea"/>
                    <a:cs typeface="Arial" panose="020B0604020202020204" pitchFamily="34" charset="0"/>
                  </a:rPr>
                  <a:t>BNN </a:t>
                </a:r>
                <a:r>
                  <a:rPr lang="en-US" sz="2400" kern="1200" dirty="0" err="1">
                    <a:solidFill>
                      <a:srgbClr val="002060"/>
                    </a:solidFill>
                    <a:latin typeface="Arial" panose="020B0604020202020204" pitchFamily="34" charset="0"/>
                    <a:ea typeface="+mn-ea"/>
                    <a:cs typeface="Arial" panose="020B0604020202020204" pitchFamily="34" charset="0"/>
                  </a:rPr>
                  <a:t>liên</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tục</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i="1" kern="1200" dirty="0">
                    <a:solidFill>
                      <a:srgbClr val="002060"/>
                    </a:solidFill>
                    <a:latin typeface="Arial" panose="020B0604020202020204" pitchFamily="34" charset="0"/>
                    <a:ea typeface="+mn-ea"/>
                    <a:cs typeface="Arial" panose="020B0604020202020204" pitchFamily="34" charset="0"/>
                  </a:rPr>
                  <a:t>X</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có</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hàm</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mật</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độ</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xác</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suất</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sau</a:t>
                </a:r>
                <a:r>
                  <a:rPr lang="en-US" sz="2400" kern="1200" dirty="0">
                    <a:solidFill>
                      <a:srgbClr val="002060"/>
                    </a:solidFill>
                    <a:latin typeface="Arial" panose="020B0604020202020204" pitchFamily="34" charset="0"/>
                    <a:ea typeface="+mn-ea"/>
                    <a:cs typeface="Arial" panose="020B0604020202020204" pitchFamily="34" charset="0"/>
                  </a:rPr>
                  <a:t>:</a:t>
                </a:r>
              </a:p>
              <a:p>
                <a:pPr>
                  <a:lnSpc>
                    <a:spcPct val="150000"/>
                  </a:lnSpc>
                  <a:buClrTx/>
                  <a:buFontTx/>
                  <a:buNone/>
                </a:pPr>
                <a14:m>
                  <m:oMathPara xmlns:m="http://schemas.openxmlformats.org/officeDocument/2006/math">
                    <m:oMathParaPr>
                      <m:jc m:val="centerGroup"/>
                    </m:oMathParaPr>
                    <m:oMath xmlns:m="http://schemas.openxmlformats.org/officeDocument/2006/math">
                      <m:r>
                        <a:rPr lang="en-US" sz="2400" i="1" kern="1200" smtClean="0">
                          <a:solidFill>
                            <a:srgbClr val="002060"/>
                          </a:solidFill>
                          <a:latin typeface="Cambria Math" panose="02040503050406030204" pitchFamily="18" charset="0"/>
                          <a:ea typeface="+mn-ea"/>
                          <a:cs typeface="Times New Roman" panose="02020603050405020304" pitchFamily="18" charset="0"/>
                        </a:rPr>
                        <m:t>𝑓</m:t>
                      </m:r>
                      <m:d>
                        <m:dPr>
                          <m:ctrlPr>
                            <a:rPr lang="en-US" sz="2400" i="1" kern="1200" smtClean="0">
                              <a:solidFill>
                                <a:srgbClr val="002060"/>
                              </a:solidFill>
                              <a:latin typeface="Cambria Math" panose="02040503050406030204" pitchFamily="18" charset="0"/>
                              <a:ea typeface="+mn-ea"/>
                              <a:cs typeface="Times New Roman" panose="02020603050405020304" pitchFamily="18" charset="0"/>
                            </a:rPr>
                          </m:ctrlPr>
                        </m:dPr>
                        <m:e>
                          <m:r>
                            <a:rPr lang="en-US" sz="2400" i="1" kern="1200" smtClean="0">
                              <a:solidFill>
                                <a:srgbClr val="002060"/>
                              </a:solidFill>
                              <a:latin typeface="Cambria Math" panose="02040503050406030204" pitchFamily="18" charset="0"/>
                              <a:ea typeface="+mn-ea"/>
                              <a:cs typeface="Times New Roman" panose="02020603050405020304" pitchFamily="18" charset="0"/>
                            </a:rPr>
                            <m:t>𝑥</m:t>
                          </m:r>
                        </m:e>
                      </m:d>
                      <m:r>
                        <a:rPr lang="en-US" sz="2400" i="1" kern="1200" smtClean="0">
                          <a:solidFill>
                            <a:srgbClr val="002060"/>
                          </a:solidFill>
                          <a:latin typeface="Cambria Math" panose="02040503050406030204" pitchFamily="18" charset="0"/>
                          <a:ea typeface="+mn-ea"/>
                          <a:cs typeface="Times New Roman" panose="02020603050405020304" pitchFamily="18" charset="0"/>
                        </a:rPr>
                        <m:t>=</m:t>
                      </m:r>
                      <m:d>
                        <m:dPr>
                          <m:begChr m:val="{"/>
                          <m:endChr m:val=""/>
                          <m:ctrlPr>
                            <a:rPr lang="en-US" sz="2400" i="1" kern="1200" smtClean="0">
                              <a:solidFill>
                                <a:srgbClr val="002060"/>
                              </a:solidFill>
                              <a:latin typeface="Cambria Math" panose="02040503050406030204" pitchFamily="18" charset="0"/>
                              <a:ea typeface="+mn-ea"/>
                              <a:cs typeface="Times New Roman" panose="02020603050405020304" pitchFamily="18" charset="0"/>
                            </a:rPr>
                          </m:ctrlPr>
                        </m:dPr>
                        <m:e>
                          <m:eqArr>
                            <m:eqArrPr>
                              <m:ctrlPr>
                                <a:rPr lang="en-US" sz="2400" i="1" kern="1200" smtClean="0">
                                  <a:solidFill>
                                    <a:srgbClr val="002060"/>
                                  </a:solidFill>
                                  <a:latin typeface="Cambria Math" panose="02040503050406030204" pitchFamily="18" charset="0"/>
                                  <a:ea typeface="+mn-ea"/>
                                  <a:cs typeface="Times New Roman" panose="02020603050405020304" pitchFamily="18" charset="0"/>
                                </a:rPr>
                              </m:ctrlPr>
                            </m:eqArrPr>
                            <m:e>
                              <m:sSup>
                                <m:sSupPr>
                                  <m:ctrlPr>
                                    <a:rPr lang="en-US" sz="2400" i="1" kern="1200" smtClean="0">
                                      <a:solidFill>
                                        <a:srgbClr val="002060"/>
                                      </a:solidFill>
                                      <a:latin typeface="Cambria Math" panose="02040503050406030204" pitchFamily="18" charset="0"/>
                                      <a:ea typeface="+mn-ea"/>
                                      <a:cs typeface="Times New Roman" panose="02020603050405020304" pitchFamily="18" charset="0"/>
                                    </a:rPr>
                                  </m:ctrlPr>
                                </m:sSupPr>
                                <m:e>
                                  <m:r>
                                    <a:rPr lang="en-US" sz="2400" b="0" i="1" kern="1200" smtClean="0">
                                      <a:solidFill>
                                        <a:srgbClr val="002060"/>
                                      </a:solidFill>
                                      <a:latin typeface="Cambria Math" panose="02040503050406030204" pitchFamily="18" charset="0"/>
                                      <a:ea typeface="+mn-ea"/>
                                      <a:cs typeface="Times New Roman" panose="02020603050405020304" pitchFamily="18" charset="0"/>
                                    </a:rPr>
                                    <m:t>𝑘</m:t>
                                  </m:r>
                                  <m:r>
                                    <a:rPr lang="en-US" sz="2400" i="1" kern="1200" smtClean="0">
                                      <a:solidFill>
                                        <a:srgbClr val="002060"/>
                                      </a:solidFill>
                                      <a:latin typeface="Cambria Math" panose="02040503050406030204" pitchFamily="18" charset="0"/>
                                      <a:ea typeface="+mn-ea"/>
                                      <a:cs typeface="Times New Roman" panose="02020603050405020304" pitchFamily="18" charset="0"/>
                                    </a:rPr>
                                    <m:t>𝑥</m:t>
                                  </m:r>
                                </m:e>
                                <m:sup>
                                  <m:r>
                                    <a:rPr lang="en-US" sz="2400" i="1" kern="1200" smtClean="0">
                                      <a:solidFill>
                                        <a:srgbClr val="002060"/>
                                      </a:solidFill>
                                      <a:latin typeface="Cambria Math" panose="02040503050406030204" pitchFamily="18" charset="0"/>
                                      <a:ea typeface="+mn-ea"/>
                                      <a:cs typeface="Times New Roman" panose="02020603050405020304" pitchFamily="18" charset="0"/>
                                    </a:rPr>
                                    <m:t>2</m:t>
                                  </m:r>
                                </m:sup>
                              </m:sSup>
                              <m:d>
                                <m:dPr>
                                  <m:ctrlPr>
                                    <a:rPr lang="en-US" sz="2400" i="1" kern="1200" smtClean="0">
                                      <a:solidFill>
                                        <a:srgbClr val="002060"/>
                                      </a:solidFill>
                                      <a:latin typeface="Cambria Math" panose="02040503050406030204" pitchFamily="18" charset="0"/>
                                      <a:ea typeface="+mn-ea"/>
                                      <a:cs typeface="Times New Roman" panose="02020603050405020304" pitchFamily="18" charset="0"/>
                                    </a:rPr>
                                  </m:ctrlPr>
                                </m:dPr>
                                <m:e>
                                  <m:r>
                                    <a:rPr lang="en-US" sz="2400" b="0" i="1" kern="1200" smtClean="0">
                                      <a:solidFill>
                                        <a:srgbClr val="002060"/>
                                      </a:solidFill>
                                      <a:latin typeface="Cambria Math" panose="02040503050406030204" pitchFamily="18" charset="0"/>
                                      <a:ea typeface="+mn-ea"/>
                                      <a:cs typeface="Times New Roman" panose="02020603050405020304" pitchFamily="18" charset="0"/>
                                    </a:rPr>
                                    <m:t>1</m:t>
                                  </m:r>
                                  <m:r>
                                    <a:rPr lang="en-US" sz="2400" i="1" kern="1200" smtClean="0">
                                      <a:solidFill>
                                        <a:srgbClr val="002060"/>
                                      </a:solidFill>
                                      <a:latin typeface="Cambria Math" panose="02040503050406030204" pitchFamily="18" charset="0"/>
                                      <a:ea typeface="+mn-ea"/>
                                      <a:cs typeface="Times New Roman" panose="02020603050405020304" pitchFamily="18" charset="0"/>
                                    </a:rPr>
                                    <m:t>−</m:t>
                                  </m:r>
                                  <m:r>
                                    <a:rPr lang="en-US" sz="2400" b="0" i="1" kern="1200" smtClean="0">
                                      <a:solidFill>
                                        <a:srgbClr val="002060"/>
                                      </a:solidFill>
                                      <a:latin typeface="Cambria Math" panose="02040503050406030204" pitchFamily="18" charset="0"/>
                                      <a:ea typeface="+mn-ea"/>
                                      <a:cs typeface="Times New Roman" panose="02020603050405020304" pitchFamily="18" charset="0"/>
                                    </a:rPr>
                                    <m:t>𝑥</m:t>
                                  </m:r>
                                </m:e>
                              </m:d>
                              <m:r>
                                <a:rPr lang="en-US" sz="2400" i="1" kern="1200" smtClean="0">
                                  <a:solidFill>
                                    <a:srgbClr val="002060"/>
                                  </a:solidFill>
                                  <a:latin typeface="Cambria Math" panose="02040503050406030204" pitchFamily="18" charset="0"/>
                                  <a:ea typeface="+mn-ea"/>
                                  <a:cs typeface="Times New Roman" panose="02020603050405020304" pitchFamily="18" charset="0"/>
                                </a:rPr>
                                <m:t>;  </m:t>
                              </m:r>
                              <m:r>
                                <a:rPr lang="en-US" sz="2400" i="1" kern="1200" smtClean="0">
                                  <a:solidFill>
                                    <a:srgbClr val="002060"/>
                                  </a:solidFill>
                                  <a:latin typeface="Cambria Math" panose="02040503050406030204" pitchFamily="18" charset="0"/>
                                  <a:ea typeface="+mn-ea"/>
                                  <a:cs typeface="Times New Roman" panose="02020603050405020304" pitchFamily="18" charset="0"/>
                                </a:rPr>
                                <m:t>𝑥</m:t>
                              </m:r>
                              <m:r>
                                <a:rPr lang="en-US" sz="240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sz="240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0;</m:t>
                                  </m:r>
                                  <m:r>
                                    <a:rPr lang="en-US" sz="2400" b="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m:t>
                                  </m:r>
                                </m:e>
                              </m:d>
                            </m:e>
                            <m:e>
                              <m:r>
                                <a:rPr lang="en-US" sz="2400" b="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 </m:t>
                              </m:r>
                              <m:r>
                                <a:rPr lang="en-US" sz="2400" b="0" i="1" kern="1200" smtClean="0">
                                  <a:solidFill>
                                    <a:srgbClr val="002060"/>
                                  </a:solidFill>
                                  <a:latin typeface="Cambria Math" panose="02040503050406030204" pitchFamily="18" charset="0"/>
                                  <a:ea typeface="+mn-ea"/>
                                  <a:cs typeface="+mn-cs"/>
                                </a:rPr>
                                <m:t> </m:t>
                              </m:r>
                              <m:r>
                                <a:rPr lang="en-US" sz="2400" i="1" kern="1200" smtClean="0">
                                  <a:solidFill>
                                    <a:srgbClr val="002060"/>
                                  </a:solidFill>
                                  <a:latin typeface="Cambria Math" panose="02040503050406030204" pitchFamily="18" charset="0"/>
                                  <a:ea typeface="+mn-ea"/>
                                  <a:cs typeface="+mn-cs"/>
                                </a:rPr>
                                <m:t>        </m:t>
                              </m:r>
                              <m:r>
                                <a:rPr lang="en-US" sz="2400" b="0" i="1" kern="1200" smtClean="0">
                                  <a:solidFill>
                                    <a:srgbClr val="002060"/>
                                  </a:solidFill>
                                  <a:latin typeface="Cambria Math" panose="02040503050406030204" pitchFamily="18" charset="0"/>
                                  <a:ea typeface="+mn-ea"/>
                                  <a:cs typeface="+mn-cs"/>
                                </a:rPr>
                                <m:t>0</m:t>
                              </m:r>
                              <m:r>
                                <a:rPr lang="en-US" sz="2400" i="1" kern="1200" smtClean="0">
                                  <a:solidFill>
                                    <a:srgbClr val="002060"/>
                                  </a:solidFill>
                                  <a:latin typeface="Cambria Math" panose="02040503050406030204" pitchFamily="18" charset="0"/>
                                  <a:ea typeface="+mn-ea"/>
                                  <a:cs typeface="+mn-cs"/>
                                </a:rPr>
                                <m:t>         </m:t>
                              </m:r>
                              <m:r>
                                <a:rPr lang="en-US" sz="2400" b="0" i="1" kern="1200" smtClean="0">
                                  <a:solidFill>
                                    <a:srgbClr val="002060"/>
                                  </a:solidFill>
                                  <a:latin typeface="Cambria Math" panose="02040503050406030204" pitchFamily="18" charset="0"/>
                                  <a:ea typeface="+mn-ea"/>
                                  <a:cs typeface="+mn-cs"/>
                                </a:rPr>
                                <m:t>;</m:t>
                              </m:r>
                              <m:r>
                                <a:rPr lang="en-US" sz="2400" i="1" kern="1200" smtClean="0">
                                  <a:solidFill>
                                    <a:srgbClr val="002060"/>
                                  </a:solidFill>
                                  <a:latin typeface="Cambria Math" panose="02040503050406030204" pitchFamily="18" charset="0"/>
                                  <a:ea typeface="+mn-ea"/>
                                  <a:cs typeface="+mn-cs"/>
                                </a:rPr>
                                <m:t>   </m:t>
                              </m:r>
                              <m:r>
                                <a:rPr lang="en-US" sz="2400" i="1" kern="1200">
                                  <a:solidFill>
                                    <a:srgbClr val="002060"/>
                                  </a:solidFill>
                                  <a:latin typeface="Cambria Math" panose="02040503050406030204" pitchFamily="18" charset="0"/>
                                  <a:ea typeface="+mn-ea"/>
                                  <a:cs typeface="Times New Roman" panose="02020603050405020304" pitchFamily="18" charset="0"/>
                                </a:rPr>
                                <m:t>𝑥</m:t>
                              </m:r>
                              <m:r>
                                <a:rPr lang="en-US" sz="240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0;</m:t>
                                  </m:r>
                                  <m:r>
                                    <a:rPr lang="en-US" sz="2400" b="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m:t>
                                  </m:r>
                                </m:e>
                              </m:d>
                            </m:e>
                          </m:eqArr>
                        </m:e>
                      </m:d>
                    </m:oMath>
                  </m:oMathPara>
                </a14:m>
                <a:br>
                  <a:rPr lang="en-US" sz="2400" i="1" kern="1200" dirty="0">
                    <a:solidFill>
                      <a:srgbClr val="002060"/>
                    </a:solidFill>
                    <a:latin typeface="Arial" panose="020B0604020202020204" pitchFamily="34" charset="0"/>
                    <a:ea typeface="+mn-ea"/>
                    <a:cs typeface="Arial" panose="020B0604020202020204" pitchFamily="34" charset="0"/>
                  </a:rPr>
                </a:br>
                <a:endParaRPr lang="en-US" sz="2400" i="1" kern="1200" dirty="0">
                  <a:solidFill>
                    <a:srgbClr val="002060"/>
                  </a:solidFill>
                  <a:latin typeface="Arial" panose="020B0604020202020204" pitchFamily="34" charset="0"/>
                  <a:ea typeface="+mn-ea"/>
                  <a:cs typeface="Arial" panose="020B0604020202020204" pitchFamily="34" charset="0"/>
                </a:endParaRPr>
              </a:p>
              <a:p>
                <a:pPr marL="457200" indent="-457200">
                  <a:lnSpc>
                    <a:spcPct val="150000"/>
                  </a:lnSpc>
                  <a:buClrTx/>
                  <a:buFont typeface="+mj-lt"/>
                  <a:buAutoNum type="alphaLcPeriod"/>
                </a:pPr>
                <a:r>
                  <a:rPr lang="en-US" sz="2400" kern="1200" dirty="0" err="1">
                    <a:solidFill>
                      <a:srgbClr val="002060"/>
                    </a:solidFill>
                    <a:latin typeface="Arial" panose="020B0604020202020204" pitchFamily="34" charset="0"/>
                    <a:ea typeface="+mn-ea"/>
                    <a:cs typeface="Arial" panose="020B0604020202020204" pitchFamily="34" charset="0"/>
                  </a:rPr>
                  <a:t>Xác</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định</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i="1" kern="1200" dirty="0">
                    <a:solidFill>
                      <a:srgbClr val="002060"/>
                    </a:solidFill>
                    <a:latin typeface="Arial" panose="020B0604020202020204" pitchFamily="34" charset="0"/>
                    <a:ea typeface="+mn-ea"/>
                    <a:cs typeface="Arial" panose="020B0604020202020204" pitchFamily="34" charset="0"/>
                  </a:rPr>
                  <a:t>k </a:t>
                </a:r>
                <a:endParaRPr lang="en-US" sz="2400" kern="1200" dirty="0">
                  <a:solidFill>
                    <a:srgbClr val="002060"/>
                  </a:solidFill>
                  <a:latin typeface="Arial" panose="020B0604020202020204" pitchFamily="34" charset="0"/>
                  <a:ea typeface="+mn-ea"/>
                  <a:cs typeface="Arial" panose="020B0604020202020204" pitchFamily="34" charset="0"/>
                </a:endParaRPr>
              </a:p>
              <a:p>
                <a:pPr marL="457200" indent="-457200">
                  <a:lnSpc>
                    <a:spcPct val="150000"/>
                  </a:lnSpc>
                  <a:buClrTx/>
                  <a:buFont typeface="+mj-lt"/>
                  <a:buAutoNum type="alphaLcPeriod"/>
                </a:pPr>
                <a:r>
                  <a:rPr lang="en-US" sz="2400" kern="1200" dirty="0" err="1">
                    <a:solidFill>
                      <a:srgbClr val="002060"/>
                    </a:solidFill>
                    <a:latin typeface="Arial" panose="020B0604020202020204" pitchFamily="34" charset="0"/>
                    <a:cs typeface="Arial" panose="020B0604020202020204" pitchFamily="34" charset="0"/>
                  </a:rPr>
                  <a:t>Tìm</a:t>
                </a:r>
                <a:r>
                  <a:rPr lang="en-US" sz="2400" kern="1200" dirty="0">
                    <a:solidFill>
                      <a:srgbClr val="002060"/>
                    </a:solidFill>
                    <a:latin typeface="Arial" panose="020B0604020202020204" pitchFamily="34" charset="0"/>
                    <a:cs typeface="Arial" panose="020B0604020202020204" pitchFamily="34" charset="0"/>
                  </a:rPr>
                  <a:t> </a:t>
                </a:r>
                <a:r>
                  <a:rPr lang="en-US" sz="2400" kern="1200" dirty="0" err="1">
                    <a:solidFill>
                      <a:srgbClr val="002060"/>
                    </a:solidFill>
                    <a:latin typeface="Arial" panose="020B0604020202020204" pitchFamily="34" charset="0"/>
                    <a:cs typeface="Arial" panose="020B0604020202020204" pitchFamily="34" charset="0"/>
                  </a:rPr>
                  <a:t>hàm</a:t>
                </a:r>
                <a:r>
                  <a:rPr lang="en-US" sz="2400" kern="1200" dirty="0">
                    <a:solidFill>
                      <a:srgbClr val="002060"/>
                    </a:solidFill>
                    <a:latin typeface="Arial" panose="020B0604020202020204" pitchFamily="34" charset="0"/>
                    <a:cs typeface="Arial" panose="020B0604020202020204" pitchFamily="34" charset="0"/>
                  </a:rPr>
                  <a:t> </a:t>
                </a:r>
                <a:r>
                  <a:rPr lang="en-US" sz="2400" kern="1200" dirty="0" err="1">
                    <a:solidFill>
                      <a:srgbClr val="002060"/>
                    </a:solidFill>
                    <a:latin typeface="Arial" panose="020B0604020202020204" pitchFamily="34" charset="0"/>
                    <a:cs typeface="Arial" panose="020B0604020202020204" pitchFamily="34" charset="0"/>
                  </a:rPr>
                  <a:t>phân</a:t>
                </a:r>
                <a:r>
                  <a:rPr lang="en-US" sz="2400" kern="1200" dirty="0">
                    <a:solidFill>
                      <a:srgbClr val="002060"/>
                    </a:solidFill>
                    <a:latin typeface="Arial" panose="020B0604020202020204" pitchFamily="34" charset="0"/>
                    <a:cs typeface="Arial" panose="020B0604020202020204" pitchFamily="34" charset="0"/>
                  </a:rPr>
                  <a:t> </a:t>
                </a:r>
                <a:r>
                  <a:rPr lang="en-US" sz="2400" kern="1200" dirty="0" err="1">
                    <a:solidFill>
                      <a:srgbClr val="002060"/>
                    </a:solidFill>
                    <a:latin typeface="Arial" panose="020B0604020202020204" pitchFamily="34" charset="0"/>
                    <a:cs typeface="Arial" panose="020B0604020202020204" pitchFamily="34" charset="0"/>
                  </a:rPr>
                  <a:t>bố</a:t>
                </a:r>
                <a:r>
                  <a:rPr lang="en-US" sz="2400" kern="1200" dirty="0">
                    <a:solidFill>
                      <a:srgbClr val="002060"/>
                    </a:solidFill>
                    <a:latin typeface="Arial" panose="020B0604020202020204" pitchFamily="34" charset="0"/>
                    <a:cs typeface="Arial" panose="020B0604020202020204" pitchFamily="34" charset="0"/>
                  </a:rPr>
                  <a:t> </a:t>
                </a:r>
                <a:r>
                  <a:rPr lang="en-US" sz="2400" kern="1200" dirty="0" err="1">
                    <a:solidFill>
                      <a:srgbClr val="002060"/>
                    </a:solidFill>
                    <a:latin typeface="Arial" panose="020B0604020202020204" pitchFamily="34" charset="0"/>
                    <a:cs typeface="Arial" panose="020B0604020202020204" pitchFamily="34" charset="0"/>
                  </a:rPr>
                  <a:t>xác</a:t>
                </a:r>
                <a:r>
                  <a:rPr lang="en-US" sz="2400" kern="1200" dirty="0">
                    <a:solidFill>
                      <a:srgbClr val="002060"/>
                    </a:solidFill>
                    <a:latin typeface="Arial" panose="020B0604020202020204" pitchFamily="34" charset="0"/>
                    <a:cs typeface="Arial" panose="020B0604020202020204" pitchFamily="34" charset="0"/>
                  </a:rPr>
                  <a:t> </a:t>
                </a:r>
                <a:r>
                  <a:rPr lang="en-US" sz="2400" kern="1200" dirty="0" err="1">
                    <a:solidFill>
                      <a:srgbClr val="002060"/>
                    </a:solidFill>
                    <a:latin typeface="Arial" panose="020B0604020202020204" pitchFamily="34" charset="0"/>
                    <a:cs typeface="Arial" panose="020B0604020202020204" pitchFamily="34" charset="0"/>
                  </a:rPr>
                  <a:t>suất</a:t>
                </a:r>
                <a:r>
                  <a:rPr lang="en-US" sz="2400" kern="1200" dirty="0">
                    <a:solidFill>
                      <a:srgbClr val="002060"/>
                    </a:solidFill>
                    <a:latin typeface="Arial" panose="020B0604020202020204" pitchFamily="34" charset="0"/>
                    <a:cs typeface="Arial" panose="020B0604020202020204" pitchFamily="34" charset="0"/>
                  </a:rPr>
                  <a:t> </a:t>
                </a:r>
                <a:r>
                  <a:rPr lang="en-US" sz="2400" kern="1200" dirty="0" err="1">
                    <a:solidFill>
                      <a:srgbClr val="002060"/>
                    </a:solidFill>
                    <a:latin typeface="Arial" panose="020B0604020202020204" pitchFamily="34" charset="0"/>
                    <a:cs typeface="Arial" panose="020B0604020202020204" pitchFamily="34" charset="0"/>
                  </a:rPr>
                  <a:t>của</a:t>
                </a:r>
                <a:r>
                  <a:rPr lang="en-US" sz="2400" kern="1200" dirty="0">
                    <a:solidFill>
                      <a:srgbClr val="002060"/>
                    </a:solidFill>
                    <a:latin typeface="Arial" panose="020B0604020202020204" pitchFamily="34" charset="0"/>
                    <a:cs typeface="Arial" panose="020B0604020202020204" pitchFamily="34" charset="0"/>
                  </a:rPr>
                  <a:t> </a:t>
                </a:r>
                <a:r>
                  <a:rPr lang="en-US" sz="2400" i="1" kern="1200" dirty="0">
                    <a:solidFill>
                      <a:srgbClr val="002060"/>
                    </a:solidFill>
                    <a:latin typeface="Arial" panose="020B0604020202020204" pitchFamily="34" charset="0"/>
                    <a:cs typeface="Arial" panose="020B0604020202020204" pitchFamily="34" charset="0"/>
                  </a:rPr>
                  <a:t>X</a:t>
                </a:r>
                <a:r>
                  <a:rPr lang="en-US" sz="2400" kern="1200" dirty="0">
                    <a:solidFill>
                      <a:srgbClr val="002060"/>
                    </a:solidFill>
                    <a:latin typeface="Arial" panose="020B0604020202020204" pitchFamily="34" charset="0"/>
                    <a:cs typeface="Arial" panose="020B0604020202020204" pitchFamily="34" charset="0"/>
                  </a:rPr>
                  <a:t> </a:t>
                </a:r>
                <a:endParaRPr lang="en-US" sz="2400" kern="1200" dirty="0">
                  <a:solidFill>
                    <a:srgbClr val="002060"/>
                  </a:solidFill>
                  <a:latin typeface="Arial" panose="020B0604020202020204" pitchFamily="34" charset="0"/>
                  <a:ea typeface="+mn-ea"/>
                  <a:cs typeface="Arial" panose="020B0604020202020204" pitchFamily="34" charset="0"/>
                </a:endParaRPr>
              </a:p>
              <a:p>
                <a:pPr marL="457200" indent="-457200">
                  <a:lnSpc>
                    <a:spcPct val="150000"/>
                  </a:lnSpc>
                  <a:buClrTx/>
                  <a:buFont typeface="+mj-lt"/>
                  <a:buAutoNum type="alphaLcPeriod"/>
                </a:pPr>
                <a:r>
                  <a:rPr lang="en-US" sz="2400" kern="1200" dirty="0" err="1">
                    <a:solidFill>
                      <a:srgbClr val="002060"/>
                    </a:solidFill>
                    <a:latin typeface="Arial" panose="020B0604020202020204" pitchFamily="34" charset="0"/>
                    <a:ea typeface="+mn-ea"/>
                    <a:cs typeface="Arial" panose="020B0604020202020204" pitchFamily="34" charset="0"/>
                  </a:rPr>
                  <a:t>Tính</a:t>
                </a:r>
                <a:r>
                  <a:rPr lang="en-US" sz="2400" kern="1200" dirty="0">
                    <a:solidFill>
                      <a:srgbClr val="002060"/>
                    </a:solidFill>
                    <a:latin typeface="Arial" panose="020B0604020202020204" pitchFamily="34" charset="0"/>
                    <a:ea typeface="+mn-ea"/>
                    <a:cs typeface="Arial" panose="020B0604020202020204" pitchFamily="34" charset="0"/>
                  </a:rPr>
                  <a:t> P (-1 ≤ X ≤ 1)</a:t>
                </a:r>
              </a:p>
            </p:txBody>
          </p:sp>
        </mc:Choice>
        <mc:Fallback xmlns="">
          <p:sp>
            <p:nvSpPr>
              <p:cNvPr id="6" name="Rectangle 5"/>
              <p:cNvSpPr>
                <a:spLocks noRot="1" noChangeAspect="1" noMove="1" noResize="1" noEditPoints="1" noAdjustHandles="1" noChangeArrowheads="1" noChangeShapeType="1" noTextEdit="1"/>
              </p:cNvSpPr>
              <p:nvPr/>
            </p:nvSpPr>
            <p:spPr>
              <a:xfrm>
                <a:off x="685670" y="1073634"/>
                <a:ext cx="8055994" cy="3475567"/>
              </a:xfrm>
              <a:prstGeom prst="rect">
                <a:avLst/>
              </a:prstGeom>
              <a:blipFill>
                <a:blip r:embed="rId2"/>
                <a:stretch>
                  <a:fillRect l="-1101" t="-28364" b="-27636"/>
                </a:stretch>
              </a:blipFill>
            </p:spPr>
            <p:txBody>
              <a:bodyPr/>
              <a:lstStyle/>
              <a:p>
                <a:r>
                  <a:rPr lang="en-VN">
                    <a:noFill/>
                  </a:rPr>
                  <a:t> </a:t>
                </a:r>
              </a:p>
            </p:txBody>
          </p:sp>
        </mc:Fallback>
      </mc:AlternateContent>
    </p:spTree>
    <p:extLst>
      <p:ext uri="{BB962C8B-B14F-4D97-AF65-F5344CB8AC3E}">
        <p14:creationId xmlns:p14="http://schemas.microsoft.com/office/powerpoint/2010/main" val="129092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B285A0-E286-7D78-3F73-DA59930068D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1BC40B-053E-D4B1-2E24-FCF06BC6DDA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18</a:t>
            </a:fld>
            <a:endParaRPr lang="en"/>
          </a:p>
        </p:txBody>
      </p:sp>
      <p:sp>
        <p:nvSpPr>
          <p:cNvPr id="5" name="Title 1">
            <a:extLst>
              <a:ext uri="{FF2B5EF4-FFF2-40B4-BE49-F238E27FC236}">
                <a16:creationId xmlns:a16="http://schemas.microsoft.com/office/drawing/2014/main" id="{1539A36B-FBF4-0FBA-C179-0B9DA4A4AB03}"/>
              </a:ext>
            </a:extLst>
          </p:cNvPr>
          <p:cNvSpPr txBox="1">
            <a:spLocks noGrp="1"/>
          </p:cNvSpPr>
          <p:nvPr>
            <p:ph type="title"/>
          </p:nvPr>
        </p:nvSpPr>
        <p:spPr>
          <a:xfrm>
            <a:off x="2157919" y="278625"/>
            <a:ext cx="4828162" cy="59436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1pPr>
            <a:lvl2pPr marR="0" lvl="1"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2pPr>
            <a:lvl3pPr marR="0" lvl="2"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3pPr>
            <a:lvl4pPr marR="0" lvl="3"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4pPr>
            <a:lvl5pPr marR="0" lvl="4"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5pPr>
            <a:lvl6pPr marR="0" lvl="5"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6pPr>
            <a:lvl7pPr marR="0" lvl="6"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7pPr>
            <a:lvl8pPr marR="0" lvl="7"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8pPr>
            <a:lvl9pPr marR="0" lvl="8"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9pPr>
          </a:lstStyle>
          <a:p>
            <a:r>
              <a:rPr lang="en-US" sz="3200" spc="-5" dirty="0" err="1">
                <a:solidFill>
                  <a:srgbClr val="002060"/>
                </a:solidFill>
                <a:latin typeface="Arial" panose="020B0604020202020204" pitchFamily="34" charset="0"/>
                <a:cs typeface="Arial" panose="020B0604020202020204" pitchFamily="34" charset="0"/>
              </a:rPr>
              <a:t>Hàm</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mật</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độ</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xác</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suất</a:t>
            </a:r>
            <a:endParaRPr lang="en-US" sz="3200" dirty="0">
              <a:solidFill>
                <a:srgbClr val="00206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99CFA90-4988-05C3-044B-58085CE6601D}"/>
              </a:ext>
            </a:extLst>
          </p:cNvPr>
          <p:cNvPicPr>
            <a:picLocks noChangeAspect="1"/>
          </p:cNvPicPr>
          <p:nvPr/>
        </p:nvPicPr>
        <p:blipFill>
          <a:blip r:embed="rId2"/>
          <a:stretch>
            <a:fillRect/>
          </a:stretch>
        </p:blipFill>
        <p:spPr>
          <a:xfrm>
            <a:off x="538620" y="1029001"/>
            <a:ext cx="10972800" cy="3564834"/>
          </a:xfrm>
          <a:prstGeom prst="rect">
            <a:avLst/>
          </a:prstGeom>
        </p:spPr>
      </p:pic>
    </p:spTree>
    <p:extLst>
      <p:ext uri="{BB962C8B-B14F-4D97-AF65-F5344CB8AC3E}">
        <p14:creationId xmlns:p14="http://schemas.microsoft.com/office/powerpoint/2010/main" val="1252140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211"/>
        <p:cNvGrpSpPr/>
        <p:nvPr/>
      </p:nvGrpSpPr>
      <p:grpSpPr>
        <a:xfrm>
          <a:off x="0" y="0"/>
          <a:ext cx="0" cy="0"/>
          <a:chOff x="0" y="0"/>
          <a:chExt cx="0" cy="0"/>
        </a:xfrm>
      </p:grpSpPr>
      <p:sp>
        <p:nvSpPr>
          <p:cNvPr id="11" name="Google Shape;243;p17"/>
          <p:cNvSpPr txBox="1">
            <a:spLocks noGrp="1"/>
          </p:cNvSpPr>
          <p:nvPr>
            <p:ph type="body" idx="1"/>
          </p:nvPr>
        </p:nvSpPr>
        <p:spPr>
          <a:xfrm>
            <a:off x="1271832" y="402275"/>
            <a:ext cx="7240413" cy="4265419"/>
          </a:xfrm>
          <a:prstGeom prst="rect">
            <a:avLst/>
          </a:prstGeom>
        </p:spPr>
        <p:txBody>
          <a:bodyPr spcFirstLastPara="1" wrap="square" lIns="91425" tIns="91425" rIns="91425" bIns="91425" anchor="t" anchorCtr="0">
            <a:noAutofit/>
          </a:bodyPr>
          <a:lstStyle/>
          <a:p>
            <a:pPr marL="565150" lvl="0" indent="-514350" algn="l" rtl="0">
              <a:spcBef>
                <a:spcPts val="600"/>
              </a:spcBef>
              <a:spcAft>
                <a:spcPts val="0"/>
              </a:spcAft>
              <a:buSzPct val="110000"/>
              <a:buFont typeface="+mj-lt"/>
              <a:buAutoNum type="arabicPeriod"/>
            </a:pPr>
            <a:r>
              <a:rPr lang="en-US" sz="1800" dirty="0" err="1">
                <a:solidFill>
                  <a:srgbClr val="002060"/>
                </a:solidFill>
                <a:latin typeface="Arial" panose="020B0604020202020204" pitchFamily="34" charset="0"/>
                <a:cs typeface="Arial" panose="020B0604020202020204" pitchFamily="34" charset="0"/>
              </a:rPr>
              <a:t>Biến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ngẫu</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nhiên</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Định</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nghĩa</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loại</a:t>
            </a:r>
            <a:r>
              <a:rPr lang="en-US" sz="1800" dirty="0">
                <a:solidFill>
                  <a:srgbClr val="002060"/>
                </a:solidFill>
                <a:latin typeface="Arial" panose="020B0604020202020204" pitchFamily="34" charset="0"/>
                <a:cs typeface="Arial" panose="020B0604020202020204" pitchFamily="34" charset="0"/>
              </a:rPr>
              <a:t> BNN</a:t>
            </a:r>
          </a:p>
          <a:p>
            <a:pPr marL="565150" lvl="0" indent="-514350" algn="l" rtl="0">
              <a:spcBef>
                <a:spcPts val="600"/>
              </a:spcBef>
              <a:spcAft>
                <a:spcPts val="0"/>
              </a:spcAft>
              <a:buSzPct val="110000"/>
              <a:buFont typeface="+mj-lt"/>
              <a:buAutoNum type="arabicPeriod" startAt="2"/>
            </a:pPr>
            <a:r>
              <a:rPr lang="en-US" sz="1800" dirty="0" err="1">
                <a:solidFill>
                  <a:srgbClr val="002060"/>
                </a:solidFill>
                <a:latin typeface="Arial" panose="020B0604020202020204" pitchFamily="34" charset="0"/>
                <a:cs typeface="Arial" panose="020B0604020202020204" pitchFamily="34" charset="0"/>
              </a:rPr>
              <a:t>Quy</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luật</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phối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của</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biến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ngẫu</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nhiên</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Bảng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phối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Hàm</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phối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endParaRPr lang="en-US" sz="1800" dirty="0">
              <a:solidFill>
                <a:srgbClr val="002060"/>
              </a:solidFill>
              <a:latin typeface="Arial" panose="020B0604020202020204" pitchFamily="34" charset="0"/>
              <a:cs typeface="Arial" panose="020B0604020202020204" pitchFamily="34" charset="0"/>
            </a:endParaRPr>
          </a:p>
          <a:p>
            <a:pPr marL="1022350" lvl="1" indent="-51435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Hàm</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phân</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bố</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xác</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suất</a:t>
            </a:r>
            <a:endParaRPr lang="en-US" sz="1800" dirty="0">
              <a:solidFill>
                <a:srgbClr val="002060"/>
              </a:solidFill>
              <a:latin typeface="Arial" panose="020B0604020202020204" pitchFamily="34" charset="0"/>
              <a:cs typeface="Arial" panose="020B0604020202020204" pitchFamily="34" charset="0"/>
            </a:endParaRPr>
          </a:p>
          <a:p>
            <a:pPr marL="508000" lvl="0" indent="-457200" algn="l" rtl="0">
              <a:spcBef>
                <a:spcPts val="600"/>
              </a:spcBef>
              <a:spcAft>
                <a:spcPts val="0"/>
              </a:spcAft>
              <a:buSzPct val="110000"/>
              <a:buFont typeface="+mj-lt"/>
              <a:buAutoNum type="arabicPeriod" startAt="3"/>
            </a:pPr>
            <a:r>
              <a:rPr lang="en-US" sz="1800" dirty="0" err="1">
                <a:solidFill>
                  <a:srgbClr val="FF0000"/>
                </a:solidFill>
                <a:latin typeface="Arial" panose="020B0604020202020204" pitchFamily="34" charset="0"/>
                <a:cs typeface="Arial" panose="020B0604020202020204" pitchFamily="34" charset="0"/>
              </a:rPr>
              <a:t>Các</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tham</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số</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đặc</a:t>
            </a:r>
            <a:r>
              <a:rPr lang="en-US" sz="1800" dirty="0">
                <a:solidFill>
                  <a:srgbClr val="FF0000"/>
                </a:solidFill>
                <a:latin typeface="Arial" panose="020B0604020202020204" pitchFamily="34" charset="0"/>
                <a:cs typeface="Arial" panose="020B0604020202020204" pitchFamily="34" charset="0"/>
              </a:rPr>
              <a:t> </a:t>
            </a:r>
            <a:r>
              <a:rPr lang="en-US" sz="1800" dirty="0" err="1">
                <a:solidFill>
                  <a:srgbClr val="FF0000"/>
                </a:solidFill>
                <a:latin typeface="Arial" panose="020B0604020202020204" pitchFamily="34" charset="0"/>
                <a:cs typeface="Arial" panose="020B0604020202020204" pitchFamily="34" charset="0"/>
              </a:rPr>
              <a:t>trưng</a:t>
            </a:r>
            <a:endParaRPr lang="en-US" sz="1800" dirty="0">
              <a:solidFill>
                <a:srgbClr val="FF0000"/>
              </a:solidFill>
              <a:latin typeface="Arial" panose="020B0604020202020204" pitchFamily="34" charset="0"/>
              <a:cs typeface="Arial" panose="020B0604020202020204" pitchFamily="34" charset="0"/>
            </a:endParaRPr>
          </a:p>
          <a:p>
            <a:pPr marL="965200" lvl="1" indent="-45720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Kỳ</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vọng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toán</a:t>
            </a:r>
            <a:endParaRPr lang="en-US" sz="1800" dirty="0">
              <a:solidFill>
                <a:srgbClr val="002060"/>
              </a:solidFill>
              <a:latin typeface="Arial" panose="020B0604020202020204" pitchFamily="34" charset="0"/>
              <a:cs typeface="Arial" panose="020B0604020202020204" pitchFamily="34" charset="0"/>
            </a:endParaRPr>
          </a:p>
          <a:p>
            <a:pPr marL="965200" lvl="1" indent="-457200">
              <a:spcBef>
                <a:spcPts val="600"/>
              </a:spcBef>
              <a:buSzPct val="90000"/>
              <a:buFont typeface="Varela Round" panose="020B0604020202020204" charset="-79"/>
              <a:buChar char="►"/>
            </a:pPr>
            <a:r>
              <a:rPr lang="en-US" sz="1800" dirty="0" err="1">
                <a:solidFill>
                  <a:srgbClr val="002060"/>
                </a:solidFill>
                <a:latin typeface="Arial" panose="020B0604020202020204" pitchFamily="34" charset="0"/>
                <a:cs typeface="Arial" panose="020B0604020202020204" pitchFamily="34" charset="0"/>
              </a:rPr>
              <a:t>Phương</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sai</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và</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độ</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lệch</a:t>
            </a:r>
            <a:r>
              <a:rPr lang="en-US" sz="1800" dirty="0">
                <a:solidFill>
                  <a:srgbClr val="002060"/>
                </a:solidFill>
                <a:latin typeface="Arial" panose="020B0604020202020204" pitchFamily="34" charset="0"/>
                <a:cs typeface="Arial" panose="020B0604020202020204" pitchFamily="34" charset="0"/>
              </a:rPr>
              <a:t> </a:t>
            </a:r>
            <a:r>
              <a:rPr lang="en-US" sz="1800" dirty="0" err="1">
                <a:solidFill>
                  <a:srgbClr val="002060"/>
                </a:solidFill>
                <a:latin typeface="Arial" panose="020B0604020202020204" pitchFamily="34" charset="0"/>
                <a:cs typeface="Arial" panose="020B0604020202020204" pitchFamily="34" charset="0"/>
              </a:rPr>
              <a:t>chuẩn</a:t>
            </a:r>
            <a:endParaRPr lang="en-US" sz="1800" dirty="0">
              <a:solidFill>
                <a:srgbClr val="002060"/>
              </a:solidFill>
              <a:latin typeface="Arial" panose="020B0604020202020204" pitchFamily="34" charset="0"/>
              <a:cs typeface="Arial" panose="020B0604020202020204" pitchFamily="34" charset="0"/>
            </a:endParaRPr>
          </a:p>
          <a:p>
            <a:pPr marL="965200" lvl="1" indent="-457200">
              <a:spcBef>
                <a:spcPts val="600"/>
              </a:spcBef>
              <a:buSzPct val="90000"/>
              <a:buFont typeface="Varela Round" panose="020B0604020202020204" charset="-79"/>
              <a:buChar char="►"/>
            </a:pPr>
            <a:r>
              <a:rPr lang="vi-VN" sz="1800" dirty="0">
                <a:solidFill>
                  <a:srgbClr val="002060"/>
                </a:solidFill>
                <a:latin typeface="Arial" panose="020B0604020202020204" pitchFamily="34" charset="0"/>
                <a:cs typeface="Arial" panose="020B0604020202020204" pitchFamily="34" charset="0"/>
              </a:rPr>
              <a:t>Trung vị</a:t>
            </a:r>
          </a:p>
          <a:p>
            <a:pPr marL="965200" lvl="1" indent="-457200">
              <a:spcBef>
                <a:spcPts val="600"/>
              </a:spcBef>
              <a:buSzPct val="90000"/>
              <a:buFont typeface="Varela Round" panose="020B0604020202020204" charset="-79"/>
              <a:buChar char="►"/>
            </a:pPr>
            <a:r>
              <a:rPr lang="vi-VN" sz="1800" dirty="0">
                <a:solidFill>
                  <a:srgbClr val="002060"/>
                </a:solidFill>
                <a:latin typeface="Arial" panose="020B0604020202020204" pitchFamily="34" charset="0"/>
                <a:cs typeface="Arial" panose="020B0604020202020204" pitchFamily="34" charset="0"/>
              </a:rPr>
              <a:t>Mode</a:t>
            </a:r>
            <a:endParaRPr sz="1800" dirty="0">
              <a:solidFill>
                <a:srgbClr val="002060"/>
              </a:solidFill>
              <a:latin typeface="Arial" panose="020B0604020202020204" pitchFamily="34" charset="0"/>
              <a:cs typeface="Arial" panose="020B0604020202020204" pitchFamily="34" charset="0"/>
            </a:endParaRPr>
          </a:p>
          <a:p>
            <a:pPr marL="0" lvl="0" indent="0" algn="l" rtl="0">
              <a:spcBef>
                <a:spcPts val="600"/>
              </a:spcBef>
              <a:spcAft>
                <a:spcPts val="0"/>
              </a:spcAft>
              <a:buNone/>
            </a:pPr>
            <a:endParaRPr sz="1800" dirty="0">
              <a:solidFill>
                <a:srgbClr val="002060"/>
              </a:solidFill>
              <a:latin typeface="Arial" panose="020B0604020202020204" pitchFamily="34" charset="0"/>
              <a:cs typeface="Arial" panose="020B0604020202020204" pitchFamily="34" charset="0"/>
            </a:endParaRPr>
          </a:p>
        </p:txBody>
      </p:sp>
      <p:sp>
        <p:nvSpPr>
          <p:cNvPr id="3" name="Google Shape;422;p35">
            <a:extLst>
              <a:ext uri="{FF2B5EF4-FFF2-40B4-BE49-F238E27FC236}">
                <a16:creationId xmlns:a16="http://schemas.microsoft.com/office/drawing/2014/main" id="{6A4970AF-0C15-E73A-9277-0A984A6073EF}"/>
              </a:ext>
            </a:extLst>
          </p:cNvPr>
          <p:cNvSpPr txBox="1">
            <a:spLocks/>
          </p:cNvSpPr>
          <p:nvPr/>
        </p:nvSpPr>
        <p:spPr>
          <a:xfrm>
            <a:off x="3349193" y="0"/>
            <a:ext cx="2829661" cy="6738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7BD100"/>
              </a:buClr>
              <a:buSzPts val="3000"/>
              <a:buFont typeface="Varela Round"/>
              <a:buChar char="×"/>
              <a:defRPr sz="3000" b="0" i="0" u="none" strike="noStrike" cap="none">
                <a:solidFill>
                  <a:srgbClr val="546973"/>
                </a:solidFill>
                <a:latin typeface="Varela Round"/>
                <a:ea typeface="Varela Round"/>
                <a:cs typeface="Varela Round"/>
                <a:sym typeface="Varela Round"/>
              </a:defRPr>
            </a:lvl1pPr>
            <a:lvl2pPr marL="914400" marR="0" lvl="1" indent="-381000" algn="l" rtl="0">
              <a:lnSpc>
                <a:spcPct val="100000"/>
              </a:lnSpc>
              <a:spcBef>
                <a:spcPts val="0"/>
              </a:spcBef>
              <a:spcAft>
                <a:spcPts val="0"/>
              </a:spcAft>
              <a:buClr>
                <a:srgbClr val="7BD100"/>
              </a:buClr>
              <a:buSzPts val="2400"/>
              <a:buFont typeface="Varela Round"/>
              <a:buChar char="×"/>
              <a:defRPr sz="2400" b="0" i="0" u="none" strike="noStrike" cap="none">
                <a:solidFill>
                  <a:srgbClr val="546973"/>
                </a:solidFill>
                <a:latin typeface="Varela Round"/>
                <a:ea typeface="Varela Round"/>
                <a:cs typeface="Varela Round"/>
                <a:sym typeface="Varela Round"/>
              </a:defRPr>
            </a:lvl2pPr>
            <a:lvl3pPr marL="1371600" marR="0" lvl="2" indent="-381000" algn="l" rtl="0">
              <a:lnSpc>
                <a:spcPct val="100000"/>
              </a:lnSpc>
              <a:spcBef>
                <a:spcPts val="0"/>
              </a:spcBef>
              <a:spcAft>
                <a:spcPts val="0"/>
              </a:spcAft>
              <a:buClr>
                <a:srgbClr val="7BD100"/>
              </a:buClr>
              <a:buSzPts val="2400"/>
              <a:buFont typeface="Varela Round"/>
              <a:buChar char="×"/>
              <a:defRPr sz="2400" b="0" i="0" u="none" strike="noStrike" cap="none">
                <a:solidFill>
                  <a:srgbClr val="546973"/>
                </a:solidFill>
                <a:latin typeface="Varela Round"/>
                <a:ea typeface="Varela Round"/>
                <a:cs typeface="Varela Round"/>
                <a:sym typeface="Varela Round"/>
              </a:defRPr>
            </a:lvl3pPr>
            <a:lvl4pPr marL="1828800" marR="0" lvl="3" indent="-342900" algn="l" rtl="0">
              <a:lnSpc>
                <a:spcPct val="100000"/>
              </a:lnSpc>
              <a:spcBef>
                <a:spcPts val="0"/>
              </a:spcBef>
              <a:spcAft>
                <a:spcPts val="0"/>
              </a:spcAft>
              <a:buClr>
                <a:srgbClr val="7BD100"/>
              </a:buClr>
              <a:buSzPts val="1800"/>
              <a:buFont typeface="Varela Round"/>
              <a:buChar char="×"/>
              <a:defRPr sz="1800" b="0" i="0" u="none" strike="noStrike" cap="none">
                <a:solidFill>
                  <a:srgbClr val="546973"/>
                </a:solidFill>
                <a:latin typeface="Varela Round"/>
                <a:ea typeface="Varela Round"/>
                <a:cs typeface="Varela Round"/>
                <a:sym typeface="Varela Round"/>
              </a:defRPr>
            </a:lvl4pPr>
            <a:lvl5pPr marL="2286000" marR="0" lvl="4" indent="-342900" algn="l" rtl="0">
              <a:lnSpc>
                <a:spcPct val="100000"/>
              </a:lnSpc>
              <a:spcBef>
                <a:spcPts val="0"/>
              </a:spcBef>
              <a:spcAft>
                <a:spcPts val="0"/>
              </a:spcAft>
              <a:buClr>
                <a:srgbClr val="7BD100"/>
              </a:buClr>
              <a:buSzPts val="1800"/>
              <a:buFont typeface="Varela Round"/>
              <a:buChar char="×"/>
              <a:defRPr sz="1800" b="0" i="0" u="none" strike="noStrike" cap="none">
                <a:solidFill>
                  <a:srgbClr val="546973"/>
                </a:solidFill>
                <a:latin typeface="Varela Round"/>
                <a:ea typeface="Varela Round"/>
                <a:cs typeface="Varela Round"/>
                <a:sym typeface="Varela Round"/>
              </a:defRPr>
            </a:lvl5pPr>
            <a:lvl6pPr marL="2743200" marR="0" lvl="5" indent="-342900" algn="l" rtl="0">
              <a:lnSpc>
                <a:spcPct val="100000"/>
              </a:lnSpc>
              <a:spcBef>
                <a:spcPts val="0"/>
              </a:spcBef>
              <a:spcAft>
                <a:spcPts val="0"/>
              </a:spcAft>
              <a:buClr>
                <a:srgbClr val="7BD100"/>
              </a:buClr>
              <a:buSzPts val="1800"/>
              <a:buFont typeface="Varela Round"/>
              <a:buChar char="×"/>
              <a:defRPr sz="1800" b="0" i="0" u="none" strike="noStrike" cap="none">
                <a:solidFill>
                  <a:srgbClr val="546973"/>
                </a:solidFill>
                <a:latin typeface="Varela Round"/>
                <a:ea typeface="Varela Round"/>
                <a:cs typeface="Varela Round"/>
                <a:sym typeface="Varela Round"/>
              </a:defRPr>
            </a:lvl6pPr>
            <a:lvl7pPr marL="3200400" marR="0" lvl="6" indent="-342900" algn="l" rtl="0">
              <a:lnSpc>
                <a:spcPct val="100000"/>
              </a:lnSpc>
              <a:spcBef>
                <a:spcPts val="0"/>
              </a:spcBef>
              <a:spcAft>
                <a:spcPts val="0"/>
              </a:spcAft>
              <a:buClr>
                <a:srgbClr val="546973"/>
              </a:buClr>
              <a:buSzPts val="1800"/>
              <a:buFont typeface="Varela Round"/>
              <a:buChar char="●"/>
              <a:defRPr sz="1800" b="0" i="0" u="none" strike="noStrike" cap="none">
                <a:solidFill>
                  <a:srgbClr val="546973"/>
                </a:solidFill>
                <a:latin typeface="Varela Round"/>
                <a:ea typeface="Varela Round"/>
                <a:cs typeface="Varela Round"/>
                <a:sym typeface="Varela Round"/>
              </a:defRPr>
            </a:lvl7pPr>
            <a:lvl8pPr marL="3657600" marR="0" lvl="7" indent="-342900" algn="l" rtl="0">
              <a:lnSpc>
                <a:spcPct val="100000"/>
              </a:lnSpc>
              <a:spcBef>
                <a:spcPts val="0"/>
              </a:spcBef>
              <a:spcAft>
                <a:spcPts val="0"/>
              </a:spcAft>
              <a:buClr>
                <a:srgbClr val="546973"/>
              </a:buClr>
              <a:buSzPts val="1800"/>
              <a:buFont typeface="Varela Round"/>
              <a:buChar char="○"/>
              <a:defRPr sz="1800" b="0" i="0" u="none" strike="noStrike" cap="none">
                <a:solidFill>
                  <a:srgbClr val="546973"/>
                </a:solidFill>
                <a:latin typeface="Varela Round"/>
                <a:ea typeface="Varela Round"/>
                <a:cs typeface="Varela Round"/>
                <a:sym typeface="Varela Round"/>
              </a:defRPr>
            </a:lvl8pPr>
            <a:lvl9pPr marL="4114800" marR="0" lvl="8" indent="-342900" algn="l" rtl="0">
              <a:lnSpc>
                <a:spcPct val="100000"/>
              </a:lnSpc>
              <a:spcBef>
                <a:spcPts val="0"/>
              </a:spcBef>
              <a:spcAft>
                <a:spcPts val="0"/>
              </a:spcAft>
              <a:buClr>
                <a:srgbClr val="546973"/>
              </a:buClr>
              <a:buSzPts val="1800"/>
              <a:buFont typeface="Varela Round"/>
              <a:buChar char="■"/>
              <a:defRPr sz="1800" b="0" i="0" u="none" strike="noStrike" cap="none">
                <a:solidFill>
                  <a:srgbClr val="546973"/>
                </a:solidFill>
                <a:latin typeface="Varela Round"/>
                <a:ea typeface="Varela Round"/>
                <a:cs typeface="Varela Round"/>
                <a:sym typeface="Varela Round"/>
              </a:defRPr>
            </a:lvl9pPr>
          </a:lstStyle>
          <a:p>
            <a:pPr marL="50800" indent="0" algn="ctr">
              <a:buClr>
                <a:srgbClr val="637991"/>
              </a:buClr>
              <a:buSzPct val="100000"/>
              <a:buNone/>
            </a:pPr>
            <a:r>
              <a:rPr lang="en-US" sz="2800" b="1" dirty="0">
                <a:solidFill>
                  <a:srgbClr val="002060"/>
                </a:solidFill>
                <a:latin typeface="Arial" panose="020B0604020202020204" pitchFamily="34" charset="0"/>
                <a:cs typeface="Arial" panose="020B0604020202020204" pitchFamily="34" charset="0"/>
              </a:rPr>
              <a:t>NỘI DUNG</a:t>
            </a:r>
          </a:p>
        </p:txBody>
      </p:sp>
      <p:pic>
        <p:nvPicPr>
          <p:cNvPr id="6" name="Picture 5" descr="Dai Nam [PPT] Template 11.png">
            <a:extLst>
              <a:ext uri="{FF2B5EF4-FFF2-40B4-BE49-F238E27FC236}">
                <a16:creationId xmlns:a16="http://schemas.microsoft.com/office/drawing/2014/main" id="{A7EEDB5B-0CC2-9D2C-C759-24F6336734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2719585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20</a:t>
            </a:fld>
            <a:endParaRPr lang="en"/>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147" y="1185333"/>
            <a:ext cx="8129705" cy="293511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833" y="1185333"/>
            <a:ext cx="8101800" cy="3160889"/>
          </a:xfrm>
          <a:prstGeom prst="rect">
            <a:avLst/>
          </a:prstGeom>
        </p:spPr>
      </p:pic>
      <p:cxnSp>
        <p:nvCxnSpPr>
          <p:cNvPr id="8" name="Straight Connector 7"/>
          <p:cNvCxnSpPr/>
          <p:nvPr/>
        </p:nvCxnSpPr>
        <p:spPr>
          <a:xfrm flipV="1">
            <a:off x="502354" y="2562577"/>
            <a:ext cx="8376356" cy="8465"/>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sp>
        <p:nvSpPr>
          <p:cNvPr id="9" name="Oval 8"/>
          <p:cNvSpPr/>
          <p:nvPr/>
        </p:nvSpPr>
        <p:spPr>
          <a:xfrm>
            <a:off x="7191023" y="2788351"/>
            <a:ext cx="112889" cy="11288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99906" y="2923823"/>
            <a:ext cx="112889" cy="11288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331152" y="2771420"/>
            <a:ext cx="112889" cy="11288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939819" y="3093155"/>
            <a:ext cx="112889" cy="11288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a:off x="733780" y="2926695"/>
            <a:ext cx="530576"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p:cNvCxnSpPr/>
          <p:nvPr/>
        </p:nvCxnSpPr>
        <p:spPr>
          <a:xfrm>
            <a:off x="7230536" y="2765777"/>
            <a:ext cx="530576"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p:cNvCxnSpPr/>
          <p:nvPr/>
        </p:nvCxnSpPr>
        <p:spPr>
          <a:xfrm>
            <a:off x="6423380" y="1953079"/>
            <a:ext cx="530576"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Straight Connector 17"/>
          <p:cNvCxnSpPr/>
          <p:nvPr/>
        </p:nvCxnSpPr>
        <p:spPr>
          <a:xfrm>
            <a:off x="3121380" y="1927628"/>
            <a:ext cx="530576"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p:cNvCxnSpPr/>
          <p:nvPr/>
        </p:nvCxnSpPr>
        <p:spPr>
          <a:xfrm>
            <a:off x="3993469" y="3084742"/>
            <a:ext cx="530576" cy="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p:cNvCxnSpPr/>
          <p:nvPr/>
        </p:nvCxnSpPr>
        <p:spPr>
          <a:xfrm>
            <a:off x="5582358" y="1780872"/>
            <a:ext cx="530576"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p:cNvCxnSpPr/>
          <p:nvPr/>
        </p:nvCxnSpPr>
        <p:spPr>
          <a:xfrm>
            <a:off x="2381955" y="2765777"/>
            <a:ext cx="530576"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p:cNvCxnSpPr/>
          <p:nvPr/>
        </p:nvCxnSpPr>
        <p:spPr>
          <a:xfrm>
            <a:off x="4846350" y="2393243"/>
            <a:ext cx="459428" cy="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Arrow Connector 26"/>
          <p:cNvCxnSpPr/>
          <p:nvPr/>
        </p:nvCxnSpPr>
        <p:spPr>
          <a:xfrm>
            <a:off x="745069" y="2585155"/>
            <a:ext cx="0" cy="32949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381955" y="2573866"/>
            <a:ext cx="0" cy="19191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7230536" y="2556933"/>
            <a:ext cx="5645" cy="20884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993469" y="2585155"/>
            <a:ext cx="1" cy="49671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3121380" y="1927628"/>
            <a:ext cx="0" cy="646238"/>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a:off x="6423380" y="1953079"/>
            <a:ext cx="11289" cy="620787"/>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5582358" y="1788331"/>
            <a:ext cx="0" cy="796824"/>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4846350" y="2392185"/>
            <a:ext cx="0" cy="19297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1766713" y="2523064"/>
            <a:ext cx="112889" cy="112889"/>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3070577" y="1806221"/>
            <a:ext cx="112889" cy="1128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4792131" y="2274713"/>
            <a:ext cx="112889" cy="1128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6389510" y="1840085"/>
            <a:ext cx="112889" cy="1128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5531555" y="1659463"/>
            <a:ext cx="112889" cy="1128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7315202" y="2295323"/>
            <a:ext cx="1890890" cy="523220"/>
          </a:xfrm>
          <a:prstGeom prst="rect">
            <a:avLst/>
          </a:prstGeom>
          <a:noFill/>
        </p:spPr>
        <p:txBody>
          <a:bodyPr wrap="square" rtlCol="0">
            <a:spAutoFit/>
          </a:bodyPr>
          <a:lstStyle/>
          <a:p>
            <a:r>
              <a:rPr lang="en-US" err="1">
                <a:latin typeface="Times New Roman" panose="02020603050405020304" pitchFamily="18" charset="0"/>
                <a:cs typeface="Times New Roman" panose="02020603050405020304" pitchFamily="18" charset="0"/>
              </a:rPr>
              <a:t>Nhóm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tham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số</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thể</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hiện</a:t>
            </a:r>
            <a:r>
              <a:rPr lang="en-US">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xu</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hướng</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trung</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tâm</a:t>
            </a:r>
            <a:endParaRPr lang="en-US">
              <a:solidFill>
                <a:srgbClr val="FF0000"/>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6112934" y="1318676"/>
            <a:ext cx="2828855" cy="307777"/>
          </a:xfrm>
          <a:prstGeom prst="rect">
            <a:avLst/>
          </a:prstGeom>
          <a:noFill/>
        </p:spPr>
        <p:txBody>
          <a:bodyPr wrap="square" rtlCol="0">
            <a:spAutoFit/>
          </a:bodyPr>
          <a:lstStyle/>
          <a:p>
            <a:r>
              <a:rPr lang="en-US" err="1">
                <a:latin typeface="Times New Roman" panose="02020603050405020304" pitchFamily="18" charset="0"/>
                <a:cs typeface="Times New Roman" panose="02020603050405020304" pitchFamily="18" charset="0"/>
              </a:rPr>
              <a:t>Nhóm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tham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số</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thể</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hiện</a:t>
            </a:r>
            <a:r>
              <a:rPr lang="en-US">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độ</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phân</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tán</a:t>
            </a:r>
            <a:endParaRPr lang="en-US">
              <a:solidFill>
                <a:srgbClr val="FF0000"/>
              </a:solidFill>
              <a:latin typeface="Times New Roman" panose="02020603050405020304" pitchFamily="18" charset="0"/>
              <a:cs typeface="Times New Roman" panose="02020603050405020304" pitchFamily="18" charset="0"/>
            </a:endParaRPr>
          </a:p>
        </p:txBody>
      </p:sp>
      <p:cxnSp>
        <p:nvCxnSpPr>
          <p:cNvPr id="50" name="Straight Connector 49"/>
          <p:cNvCxnSpPr/>
          <p:nvPr/>
        </p:nvCxnSpPr>
        <p:spPr>
          <a:xfrm>
            <a:off x="502354" y="1648171"/>
            <a:ext cx="835463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p:cNvCxnSpPr/>
          <p:nvPr/>
        </p:nvCxnSpPr>
        <p:spPr>
          <a:xfrm>
            <a:off x="394684" y="3222973"/>
            <a:ext cx="835463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Rectangle 1"/>
          <p:cNvSpPr/>
          <p:nvPr/>
        </p:nvSpPr>
        <p:spPr>
          <a:xfrm>
            <a:off x="2381955" y="422418"/>
            <a:ext cx="3702756" cy="34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2060"/>
                </a:solidFill>
                <a:latin typeface="Arial" panose="020B0604020202020204" pitchFamily="34" charset="0"/>
                <a:cs typeface="Arial" panose="020B0604020202020204" pitchFamily="34" charset="0"/>
              </a:rPr>
              <a:t>X: </a:t>
            </a:r>
            <a:r>
              <a:rPr lang="en-US" sz="2400" dirty="0" err="1">
                <a:solidFill>
                  <a:srgbClr val="002060"/>
                </a:solidFill>
                <a:latin typeface="Arial" panose="020B0604020202020204" pitchFamily="34" charset="0"/>
                <a:cs typeface="Arial" panose="020B0604020202020204" pitchFamily="34" charset="0"/>
              </a:rPr>
              <a:t>chiều</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dài</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của</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cà</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rốt</a:t>
            </a:r>
            <a:endParaRPr lang="en-US" sz="2400" dirty="0">
              <a:solidFill>
                <a:srgbClr val="002060"/>
              </a:solidFill>
              <a:latin typeface="Arial" panose="020B0604020202020204" pitchFamily="34" charset="0"/>
              <a:cs typeface="Arial" panose="020B0604020202020204" pitchFamily="34" charset="0"/>
            </a:endParaRPr>
          </a:p>
        </p:txBody>
      </p:sp>
      <p:pic>
        <p:nvPicPr>
          <p:cNvPr id="3" name="Picture 2" descr="Dai Nam [PPT] Template 11.png">
            <a:extLst>
              <a:ext uri="{FF2B5EF4-FFF2-40B4-BE49-F238E27FC236}">
                <a16:creationId xmlns:a16="http://schemas.microsoft.com/office/drawing/2014/main" id="{C9D2BA94-D776-6E2C-166E-26D699D3FD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2438063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5"/>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down)">
                                      <p:cBhvr>
                                        <p:cTn id="30" dur="500"/>
                                        <p:tgtEl>
                                          <p:spTgt spid="15"/>
                                        </p:tgtEl>
                                      </p:cBhvr>
                                    </p:animEffect>
                                  </p:childTnLst>
                                </p:cTn>
                              </p:par>
                              <p:par>
                                <p:cTn id="31" presetID="22" presetClass="entr" presetSubtype="4"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down)">
                                      <p:cBhvr>
                                        <p:cTn id="33" dur="500"/>
                                        <p:tgtEl>
                                          <p:spTgt spid="16"/>
                                        </p:tgtEl>
                                      </p:cBhvr>
                                    </p:animEffect>
                                  </p:childTnLst>
                                </p:cTn>
                              </p:par>
                              <p:par>
                                <p:cTn id="34" presetID="22" presetClass="entr" presetSubtype="4"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down)">
                                      <p:cBhvr>
                                        <p:cTn id="36" dur="500"/>
                                        <p:tgtEl>
                                          <p:spTgt spid="19"/>
                                        </p:tgtEl>
                                      </p:cBhvr>
                                    </p:animEffect>
                                  </p:childTnLst>
                                </p:cTn>
                              </p:par>
                              <p:par>
                                <p:cTn id="37" presetID="22" presetClass="entr" presetSubtype="4"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down)">
                                      <p:cBhvr>
                                        <p:cTn id="39" dur="500"/>
                                        <p:tgtEl>
                                          <p:spTgt spid="21"/>
                                        </p:tgtEl>
                                      </p:cBhvr>
                                    </p:animEffect>
                                  </p:childTnLst>
                                </p:cTn>
                              </p:par>
                              <p:par>
                                <p:cTn id="40" presetID="22" presetClass="entr" presetSubtype="4"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down)">
                                      <p:cBhvr>
                                        <p:cTn id="42" dur="500"/>
                                        <p:tgtEl>
                                          <p:spTgt spid="27"/>
                                        </p:tgtEl>
                                      </p:cBhvr>
                                    </p:animEffect>
                                  </p:childTnLst>
                                </p:cTn>
                              </p:par>
                              <p:par>
                                <p:cTn id="43" presetID="22" presetClass="entr" presetSubtype="4"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down)">
                                      <p:cBhvr>
                                        <p:cTn id="45" dur="500"/>
                                        <p:tgtEl>
                                          <p:spTgt spid="28"/>
                                        </p:tgtEl>
                                      </p:cBhvr>
                                    </p:animEffect>
                                  </p:childTnLst>
                                </p:cTn>
                              </p:par>
                              <p:par>
                                <p:cTn id="46" presetID="22" presetClass="entr" presetSubtype="4" fill="hold"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wipe(down)">
                                      <p:cBhvr>
                                        <p:cTn id="48" dur="500"/>
                                        <p:tgtEl>
                                          <p:spTgt spid="29"/>
                                        </p:tgtEl>
                                      </p:cBhvr>
                                    </p:animEffect>
                                  </p:childTnLst>
                                </p:cTn>
                              </p:par>
                              <p:par>
                                <p:cTn id="49" presetID="22" presetClass="entr" presetSubtype="4"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down)">
                                      <p:cBhvr>
                                        <p:cTn id="51" dur="500"/>
                                        <p:tgtEl>
                                          <p:spTgt spid="3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down)">
                                      <p:cBhvr>
                                        <p:cTn id="56" dur="500"/>
                                        <p:tgtEl>
                                          <p:spTgt spid="22"/>
                                        </p:tgtEl>
                                      </p:cBhvr>
                                    </p:animEffect>
                                  </p:childTnLst>
                                </p:cTn>
                              </p:par>
                              <p:par>
                                <p:cTn id="57" presetID="22" presetClass="entr" presetSubtype="4"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down)">
                                      <p:cBhvr>
                                        <p:cTn id="59" dur="500"/>
                                        <p:tgtEl>
                                          <p:spTgt spid="17"/>
                                        </p:tgtEl>
                                      </p:cBhvr>
                                    </p:animEffect>
                                  </p:childTnLst>
                                </p:cTn>
                              </p:par>
                              <p:par>
                                <p:cTn id="60" presetID="22" presetClass="entr" presetSubtype="4" fill="hold"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down)">
                                      <p:cBhvr>
                                        <p:cTn id="62" dur="500"/>
                                        <p:tgtEl>
                                          <p:spTgt spid="18"/>
                                        </p:tgtEl>
                                      </p:cBhvr>
                                    </p:animEffect>
                                  </p:childTnLst>
                                </p:cTn>
                              </p:par>
                              <p:par>
                                <p:cTn id="63" presetID="22" presetClass="entr" presetSubtype="4" fill="hold"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down)">
                                      <p:cBhvr>
                                        <p:cTn id="65" dur="500"/>
                                        <p:tgtEl>
                                          <p:spTgt spid="20"/>
                                        </p:tgtEl>
                                      </p:cBhvr>
                                    </p:animEffect>
                                  </p:childTnLst>
                                </p:cTn>
                              </p:par>
                              <p:par>
                                <p:cTn id="66" presetID="22" presetClass="entr" presetSubtype="4" fill="hold"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wipe(down)">
                                      <p:cBhvr>
                                        <p:cTn id="68" dur="500"/>
                                        <p:tgtEl>
                                          <p:spTgt spid="31"/>
                                        </p:tgtEl>
                                      </p:cBhvr>
                                    </p:animEffect>
                                  </p:childTnLst>
                                </p:cTn>
                              </p:par>
                              <p:par>
                                <p:cTn id="69" presetID="22" presetClass="entr" presetSubtype="4" fill="hold" nodeType="with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down)">
                                      <p:cBhvr>
                                        <p:cTn id="71" dur="500"/>
                                        <p:tgtEl>
                                          <p:spTgt spid="36"/>
                                        </p:tgtEl>
                                      </p:cBhvr>
                                    </p:animEffect>
                                  </p:childTnLst>
                                </p:cTn>
                              </p:par>
                              <p:par>
                                <p:cTn id="72" presetID="22" presetClass="entr" presetSubtype="4" fill="hold" nodeType="with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wipe(down)">
                                      <p:cBhvr>
                                        <p:cTn id="74" dur="500"/>
                                        <p:tgtEl>
                                          <p:spTgt spid="37"/>
                                        </p:tgtEl>
                                      </p:cBhvr>
                                    </p:animEffect>
                                  </p:childTnLst>
                                </p:cTn>
                              </p:par>
                              <p:par>
                                <p:cTn id="75" presetID="22" presetClass="entr" presetSubtype="4" fill="hold"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wipe(down)">
                                      <p:cBhvr>
                                        <p:cTn id="77" dur="500"/>
                                        <p:tgtEl>
                                          <p:spTgt spid="40"/>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nodeType="clickEffect">
                                  <p:stCondLst>
                                    <p:cond delay="0"/>
                                  </p:stCondLst>
                                  <p:childTnLst>
                                    <p:set>
                                      <p:cBhvr>
                                        <p:cTn id="81" dur="1" fill="hold">
                                          <p:stCondLst>
                                            <p:cond delay="0"/>
                                          </p:stCondLst>
                                        </p:cTn>
                                        <p:tgtEl>
                                          <p:spTgt spid="6"/>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9"/>
                                        </p:tgtEl>
                                        <p:attrNameLst>
                                          <p:attrName>style.visibility</p:attrName>
                                        </p:attrNameLst>
                                      </p:cBhvr>
                                      <p:to>
                                        <p:strVal val="visible"/>
                                      </p:to>
                                    </p:set>
                                    <p:anim calcmode="lin" valueType="num">
                                      <p:cBhvr additive="base">
                                        <p:cTn id="86" dur="500" fill="hold"/>
                                        <p:tgtEl>
                                          <p:spTgt spid="9"/>
                                        </p:tgtEl>
                                        <p:attrNameLst>
                                          <p:attrName>ppt_x</p:attrName>
                                        </p:attrNameLst>
                                      </p:cBhvr>
                                      <p:tavLst>
                                        <p:tav tm="0">
                                          <p:val>
                                            <p:strVal val="#ppt_x"/>
                                          </p:val>
                                        </p:tav>
                                        <p:tav tm="100000">
                                          <p:val>
                                            <p:strVal val="#ppt_x"/>
                                          </p:val>
                                        </p:tav>
                                      </p:tavLst>
                                    </p:anim>
                                    <p:anim calcmode="lin" valueType="num">
                                      <p:cBhvr additive="base">
                                        <p:cTn id="87" dur="500" fill="hold"/>
                                        <p:tgtEl>
                                          <p:spTgt spid="9"/>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11"/>
                                        </p:tgtEl>
                                        <p:attrNameLst>
                                          <p:attrName>style.visibility</p:attrName>
                                        </p:attrNameLst>
                                      </p:cBhvr>
                                      <p:to>
                                        <p:strVal val="visible"/>
                                      </p:to>
                                    </p:set>
                                    <p:anim calcmode="lin" valueType="num">
                                      <p:cBhvr additive="base">
                                        <p:cTn id="90" dur="500" fill="hold"/>
                                        <p:tgtEl>
                                          <p:spTgt spid="11"/>
                                        </p:tgtEl>
                                        <p:attrNameLst>
                                          <p:attrName>ppt_x</p:attrName>
                                        </p:attrNameLst>
                                      </p:cBhvr>
                                      <p:tavLst>
                                        <p:tav tm="0">
                                          <p:val>
                                            <p:strVal val="#ppt_x"/>
                                          </p:val>
                                        </p:tav>
                                        <p:tav tm="100000">
                                          <p:val>
                                            <p:strVal val="#ppt_x"/>
                                          </p:val>
                                        </p:tav>
                                      </p:tavLst>
                                    </p:anim>
                                    <p:anim calcmode="lin" valueType="num">
                                      <p:cBhvr additive="base">
                                        <p:cTn id="91" dur="500" fill="hold"/>
                                        <p:tgtEl>
                                          <p:spTgt spid="11"/>
                                        </p:tgtEl>
                                        <p:attrNameLst>
                                          <p:attrName>ppt_y</p:attrName>
                                        </p:attrNameLst>
                                      </p:cBhvr>
                                      <p:tavLst>
                                        <p:tav tm="0">
                                          <p:val>
                                            <p:strVal val="1+#ppt_h/2"/>
                                          </p:val>
                                        </p:tav>
                                        <p:tav tm="100000">
                                          <p:val>
                                            <p:strVal val="#ppt_y"/>
                                          </p:val>
                                        </p:tav>
                                      </p:tavLst>
                                    </p:anim>
                                  </p:childTnLst>
                                </p:cTn>
                              </p:par>
                              <p:par>
                                <p:cTn id="92" presetID="2" presetClass="entr" presetSubtype="4" fill="hold" grpId="0" nodeType="withEffect">
                                  <p:stCondLst>
                                    <p:cond delay="0"/>
                                  </p:stCondLst>
                                  <p:childTnLst>
                                    <p:set>
                                      <p:cBhvr>
                                        <p:cTn id="93" dur="1" fill="hold">
                                          <p:stCondLst>
                                            <p:cond delay="0"/>
                                          </p:stCondLst>
                                        </p:cTn>
                                        <p:tgtEl>
                                          <p:spTgt spid="12"/>
                                        </p:tgtEl>
                                        <p:attrNameLst>
                                          <p:attrName>style.visibility</p:attrName>
                                        </p:attrNameLst>
                                      </p:cBhvr>
                                      <p:to>
                                        <p:strVal val="visible"/>
                                      </p:to>
                                    </p:set>
                                    <p:anim calcmode="lin" valueType="num">
                                      <p:cBhvr additive="base">
                                        <p:cTn id="94" dur="500" fill="hold"/>
                                        <p:tgtEl>
                                          <p:spTgt spid="12"/>
                                        </p:tgtEl>
                                        <p:attrNameLst>
                                          <p:attrName>ppt_x</p:attrName>
                                        </p:attrNameLst>
                                      </p:cBhvr>
                                      <p:tavLst>
                                        <p:tav tm="0">
                                          <p:val>
                                            <p:strVal val="#ppt_x"/>
                                          </p:val>
                                        </p:tav>
                                        <p:tav tm="100000">
                                          <p:val>
                                            <p:strVal val="#ppt_x"/>
                                          </p:val>
                                        </p:tav>
                                      </p:tavLst>
                                    </p:anim>
                                    <p:anim calcmode="lin" valueType="num">
                                      <p:cBhvr additive="base">
                                        <p:cTn id="95" dur="500" fill="hold"/>
                                        <p:tgtEl>
                                          <p:spTgt spid="12"/>
                                        </p:tgtEl>
                                        <p:attrNameLst>
                                          <p:attrName>ppt_y</p:attrName>
                                        </p:attrNameLst>
                                      </p:cBhvr>
                                      <p:tavLst>
                                        <p:tav tm="0">
                                          <p:val>
                                            <p:strVal val="1+#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13"/>
                                        </p:tgtEl>
                                        <p:attrNameLst>
                                          <p:attrName>style.visibility</p:attrName>
                                        </p:attrNameLst>
                                      </p:cBhvr>
                                      <p:to>
                                        <p:strVal val="visible"/>
                                      </p:to>
                                    </p:set>
                                    <p:anim calcmode="lin" valueType="num">
                                      <p:cBhvr additive="base">
                                        <p:cTn id="98" dur="500" fill="hold"/>
                                        <p:tgtEl>
                                          <p:spTgt spid="13"/>
                                        </p:tgtEl>
                                        <p:attrNameLst>
                                          <p:attrName>ppt_x</p:attrName>
                                        </p:attrNameLst>
                                      </p:cBhvr>
                                      <p:tavLst>
                                        <p:tav tm="0">
                                          <p:val>
                                            <p:strVal val="#ppt_x"/>
                                          </p:val>
                                        </p:tav>
                                        <p:tav tm="100000">
                                          <p:val>
                                            <p:strVal val="#ppt_x"/>
                                          </p:val>
                                        </p:tav>
                                      </p:tavLst>
                                    </p:anim>
                                    <p:anim calcmode="lin" valueType="num">
                                      <p:cBhvr additive="base">
                                        <p:cTn id="99" dur="500" fill="hold"/>
                                        <p:tgtEl>
                                          <p:spTgt spid="13"/>
                                        </p:tgtEl>
                                        <p:attrNameLst>
                                          <p:attrName>ppt_y</p:attrName>
                                        </p:attrNameLst>
                                      </p:cBhvr>
                                      <p:tavLst>
                                        <p:tav tm="0">
                                          <p:val>
                                            <p:strVal val="1+#ppt_h/2"/>
                                          </p:val>
                                        </p:tav>
                                        <p:tav tm="100000">
                                          <p:val>
                                            <p:strVal val="#ppt_y"/>
                                          </p:val>
                                        </p:tav>
                                      </p:tavLst>
                                    </p:anim>
                                  </p:childTnLst>
                                </p:cTn>
                              </p:par>
                              <p:par>
                                <p:cTn id="100" presetID="2" presetClass="entr" presetSubtype="4"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 calcmode="lin" valueType="num">
                                      <p:cBhvr additive="base">
                                        <p:cTn id="102" dur="500" fill="hold"/>
                                        <p:tgtEl>
                                          <p:spTgt spid="42"/>
                                        </p:tgtEl>
                                        <p:attrNameLst>
                                          <p:attrName>ppt_x</p:attrName>
                                        </p:attrNameLst>
                                      </p:cBhvr>
                                      <p:tavLst>
                                        <p:tav tm="0">
                                          <p:val>
                                            <p:strVal val="#ppt_x"/>
                                          </p:val>
                                        </p:tav>
                                        <p:tav tm="100000">
                                          <p:val>
                                            <p:strVal val="#ppt_x"/>
                                          </p:val>
                                        </p:tav>
                                      </p:tavLst>
                                    </p:anim>
                                    <p:anim calcmode="lin" valueType="num">
                                      <p:cBhvr additive="base">
                                        <p:cTn id="103" dur="500" fill="hold"/>
                                        <p:tgtEl>
                                          <p:spTgt spid="42"/>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43"/>
                                        </p:tgtEl>
                                        <p:attrNameLst>
                                          <p:attrName>style.visibility</p:attrName>
                                        </p:attrNameLst>
                                      </p:cBhvr>
                                      <p:to>
                                        <p:strVal val="visible"/>
                                      </p:to>
                                    </p:set>
                                    <p:anim calcmode="lin" valueType="num">
                                      <p:cBhvr additive="base">
                                        <p:cTn id="106" dur="500" fill="hold"/>
                                        <p:tgtEl>
                                          <p:spTgt spid="43"/>
                                        </p:tgtEl>
                                        <p:attrNameLst>
                                          <p:attrName>ppt_x</p:attrName>
                                        </p:attrNameLst>
                                      </p:cBhvr>
                                      <p:tavLst>
                                        <p:tav tm="0">
                                          <p:val>
                                            <p:strVal val="#ppt_x"/>
                                          </p:val>
                                        </p:tav>
                                        <p:tav tm="100000">
                                          <p:val>
                                            <p:strVal val="#ppt_x"/>
                                          </p:val>
                                        </p:tav>
                                      </p:tavLst>
                                    </p:anim>
                                    <p:anim calcmode="lin" valueType="num">
                                      <p:cBhvr additive="base">
                                        <p:cTn id="107" dur="500" fill="hold"/>
                                        <p:tgtEl>
                                          <p:spTgt spid="43"/>
                                        </p:tgtEl>
                                        <p:attrNameLst>
                                          <p:attrName>ppt_y</p:attrName>
                                        </p:attrNameLst>
                                      </p:cBhvr>
                                      <p:tavLst>
                                        <p:tav tm="0">
                                          <p:val>
                                            <p:strVal val="1+#ppt_h/2"/>
                                          </p:val>
                                        </p:tav>
                                        <p:tav tm="100000">
                                          <p:val>
                                            <p:strVal val="#ppt_y"/>
                                          </p:val>
                                        </p:tav>
                                      </p:tavLst>
                                    </p:anim>
                                  </p:childTnLst>
                                </p:cTn>
                              </p:par>
                              <p:par>
                                <p:cTn id="108" presetID="2" presetClass="entr" presetSubtype="4" fill="hold" grpId="0" nodeType="withEffect">
                                  <p:stCondLst>
                                    <p:cond delay="0"/>
                                  </p:stCondLst>
                                  <p:childTnLst>
                                    <p:set>
                                      <p:cBhvr>
                                        <p:cTn id="109" dur="1" fill="hold">
                                          <p:stCondLst>
                                            <p:cond delay="0"/>
                                          </p:stCondLst>
                                        </p:cTn>
                                        <p:tgtEl>
                                          <p:spTgt spid="44"/>
                                        </p:tgtEl>
                                        <p:attrNameLst>
                                          <p:attrName>style.visibility</p:attrName>
                                        </p:attrNameLst>
                                      </p:cBhvr>
                                      <p:to>
                                        <p:strVal val="visible"/>
                                      </p:to>
                                    </p:set>
                                    <p:anim calcmode="lin" valueType="num">
                                      <p:cBhvr additive="base">
                                        <p:cTn id="110" dur="500" fill="hold"/>
                                        <p:tgtEl>
                                          <p:spTgt spid="44"/>
                                        </p:tgtEl>
                                        <p:attrNameLst>
                                          <p:attrName>ppt_x</p:attrName>
                                        </p:attrNameLst>
                                      </p:cBhvr>
                                      <p:tavLst>
                                        <p:tav tm="0">
                                          <p:val>
                                            <p:strVal val="#ppt_x"/>
                                          </p:val>
                                        </p:tav>
                                        <p:tav tm="100000">
                                          <p:val>
                                            <p:strVal val="#ppt_x"/>
                                          </p:val>
                                        </p:tav>
                                      </p:tavLst>
                                    </p:anim>
                                    <p:anim calcmode="lin" valueType="num">
                                      <p:cBhvr additive="base">
                                        <p:cTn id="111" dur="500" fill="hold"/>
                                        <p:tgtEl>
                                          <p:spTgt spid="44"/>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 calcmode="lin" valueType="num">
                                      <p:cBhvr additive="base">
                                        <p:cTn id="114" dur="500" fill="hold"/>
                                        <p:tgtEl>
                                          <p:spTgt spid="45"/>
                                        </p:tgtEl>
                                        <p:attrNameLst>
                                          <p:attrName>ppt_x</p:attrName>
                                        </p:attrNameLst>
                                      </p:cBhvr>
                                      <p:tavLst>
                                        <p:tav tm="0">
                                          <p:val>
                                            <p:strVal val="#ppt_x"/>
                                          </p:val>
                                        </p:tav>
                                        <p:tav tm="100000">
                                          <p:val>
                                            <p:strVal val="#ppt_x"/>
                                          </p:val>
                                        </p:tav>
                                      </p:tavLst>
                                    </p:anim>
                                    <p:anim calcmode="lin" valueType="num">
                                      <p:cBhvr additive="base">
                                        <p:cTn id="115" dur="500" fill="hold"/>
                                        <p:tgtEl>
                                          <p:spTgt spid="45"/>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6"/>
                                        </p:tgtEl>
                                        <p:attrNameLst>
                                          <p:attrName>style.visibility</p:attrName>
                                        </p:attrNameLst>
                                      </p:cBhvr>
                                      <p:to>
                                        <p:strVal val="visible"/>
                                      </p:to>
                                    </p:set>
                                    <p:anim calcmode="lin" valueType="num">
                                      <p:cBhvr additive="base">
                                        <p:cTn id="118" dur="500" fill="hold"/>
                                        <p:tgtEl>
                                          <p:spTgt spid="46"/>
                                        </p:tgtEl>
                                        <p:attrNameLst>
                                          <p:attrName>ppt_x</p:attrName>
                                        </p:attrNameLst>
                                      </p:cBhvr>
                                      <p:tavLst>
                                        <p:tav tm="0">
                                          <p:val>
                                            <p:strVal val="#ppt_x"/>
                                          </p:val>
                                        </p:tav>
                                        <p:tav tm="100000">
                                          <p:val>
                                            <p:strVal val="#ppt_x"/>
                                          </p:val>
                                        </p:tav>
                                      </p:tavLst>
                                    </p:anim>
                                    <p:anim calcmode="lin" valueType="num">
                                      <p:cBhvr additive="base">
                                        <p:cTn id="119"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1" presetClass="exit" presetSubtype="0" fill="hold" nodeType="clickEffect">
                                  <p:stCondLst>
                                    <p:cond delay="0"/>
                                  </p:stCondLst>
                                  <p:childTnLst>
                                    <p:set>
                                      <p:cBhvr>
                                        <p:cTn id="123" dur="1" fill="hold">
                                          <p:stCondLst>
                                            <p:cond delay="0"/>
                                          </p:stCondLst>
                                        </p:cTn>
                                        <p:tgtEl>
                                          <p:spTgt spid="19"/>
                                        </p:tgtEl>
                                        <p:attrNameLst>
                                          <p:attrName>style.visibility</p:attrName>
                                        </p:attrNameLst>
                                      </p:cBhvr>
                                      <p:to>
                                        <p:strVal val="hidden"/>
                                      </p:to>
                                    </p:set>
                                  </p:childTnLst>
                                </p:cTn>
                              </p:par>
                              <p:par>
                                <p:cTn id="124" presetID="1" presetClass="exit" presetSubtype="0" fill="hold" nodeType="withEffect">
                                  <p:stCondLst>
                                    <p:cond delay="0"/>
                                  </p:stCondLst>
                                  <p:childTnLst>
                                    <p:set>
                                      <p:cBhvr>
                                        <p:cTn id="125" dur="1" fill="hold">
                                          <p:stCondLst>
                                            <p:cond delay="0"/>
                                          </p:stCondLst>
                                        </p:cTn>
                                        <p:tgtEl>
                                          <p:spTgt spid="21"/>
                                        </p:tgtEl>
                                        <p:attrNameLst>
                                          <p:attrName>style.visibility</p:attrName>
                                        </p:attrNameLst>
                                      </p:cBhvr>
                                      <p:to>
                                        <p:strVal val="hidden"/>
                                      </p:to>
                                    </p:set>
                                  </p:childTnLst>
                                </p:cTn>
                              </p:par>
                              <p:par>
                                <p:cTn id="126" presetID="1" presetClass="exit" presetSubtype="0" fill="hold" nodeType="withEffect">
                                  <p:stCondLst>
                                    <p:cond delay="0"/>
                                  </p:stCondLst>
                                  <p:childTnLst>
                                    <p:set>
                                      <p:cBhvr>
                                        <p:cTn id="127" dur="1" fill="hold">
                                          <p:stCondLst>
                                            <p:cond delay="0"/>
                                          </p:stCondLst>
                                        </p:cTn>
                                        <p:tgtEl>
                                          <p:spTgt spid="15"/>
                                        </p:tgtEl>
                                        <p:attrNameLst>
                                          <p:attrName>style.visibility</p:attrName>
                                        </p:attrNameLst>
                                      </p:cBhvr>
                                      <p:to>
                                        <p:strVal val="hidden"/>
                                      </p:to>
                                    </p:set>
                                  </p:childTnLst>
                                </p:cTn>
                              </p:par>
                              <p:par>
                                <p:cTn id="128" presetID="1" presetClass="exit" presetSubtype="0" fill="hold" nodeType="withEffect">
                                  <p:stCondLst>
                                    <p:cond delay="0"/>
                                  </p:stCondLst>
                                  <p:childTnLst>
                                    <p:set>
                                      <p:cBhvr>
                                        <p:cTn id="129" dur="1" fill="hold">
                                          <p:stCondLst>
                                            <p:cond delay="0"/>
                                          </p:stCondLst>
                                        </p:cTn>
                                        <p:tgtEl>
                                          <p:spTgt spid="18"/>
                                        </p:tgtEl>
                                        <p:attrNameLst>
                                          <p:attrName>style.visibility</p:attrName>
                                        </p:attrNameLst>
                                      </p:cBhvr>
                                      <p:to>
                                        <p:strVal val="hidden"/>
                                      </p:to>
                                    </p:set>
                                  </p:childTnLst>
                                </p:cTn>
                              </p:par>
                              <p:par>
                                <p:cTn id="130" presetID="1" presetClass="exit" presetSubtype="0" fill="hold" nodeType="withEffect">
                                  <p:stCondLst>
                                    <p:cond delay="0"/>
                                  </p:stCondLst>
                                  <p:childTnLst>
                                    <p:set>
                                      <p:cBhvr>
                                        <p:cTn id="131" dur="1" fill="hold">
                                          <p:stCondLst>
                                            <p:cond delay="0"/>
                                          </p:stCondLst>
                                        </p:cTn>
                                        <p:tgtEl>
                                          <p:spTgt spid="22"/>
                                        </p:tgtEl>
                                        <p:attrNameLst>
                                          <p:attrName>style.visibility</p:attrName>
                                        </p:attrNameLst>
                                      </p:cBhvr>
                                      <p:to>
                                        <p:strVal val="hidden"/>
                                      </p:to>
                                    </p:set>
                                  </p:childTnLst>
                                </p:cTn>
                              </p:par>
                              <p:par>
                                <p:cTn id="132" presetID="1" presetClass="exit" presetSubtype="0" fill="hold" nodeType="withEffect">
                                  <p:stCondLst>
                                    <p:cond delay="0"/>
                                  </p:stCondLst>
                                  <p:childTnLst>
                                    <p:set>
                                      <p:cBhvr>
                                        <p:cTn id="133" dur="1" fill="hold">
                                          <p:stCondLst>
                                            <p:cond delay="0"/>
                                          </p:stCondLst>
                                        </p:cTn>
                                        <p:tgtEl>
                                          <p:spTgt spid="17"/>
                                        </p:tgtEl>
                                        <p:attrNameLst>
                                          <p:attrName>style.visibility</p:attrName>
                                        </p:attrNameLst>
                                      </p:cBhvr>
                                      <p:to>
                                        <p:strVal val="hidden"/>
                                      </p:to>
                                    </p:set>
                                  </p:childTnLst>
                                </p:cTn>
                              </p:par>
                              <p:par>
                                <p:cTn id="134" presetID="1" presetClass="exit" presetSubtype="0" fill="hold" nodeType="withEffect">
                                  <p:stCondLst>
                                    <p:cond delay="0"/>
                                  </p:stCondLst>
                                  <p:childTnLst>
                                    <p:set>
                                      <p:cBhvr>
                                        <p:cTn id="135" dur="1" fill="hold">
                                          <p:stCondLst>
                                            <p:cond delay="0"/>
                                          </p:stCondLst>
                                        </p:cTn>
                                        <p:tgtEl>
                                          <p:spTgt spid="20"/>
                                        </p:tgtEl>
                                        <p:attrNameLst>
                                          <p:attrName>style.visibility</p:attrName>
                                        </p:attrNameLst>
                                      </p:cBhvr>
                                      <p:to>
                                        <p:strVal val="hidden"/>
                                      </p:to>
                                    </p:set>
                                  </p:childTnLst>
                                </p:cTn>
                              </p:par>
                              <p:par>
                                <p:cTn id="136" presetID="1" presetClass="exit" presetSubtype="0" fill="hold" nodeType="withEffect">
                                  <p:stCondLst>
                                    <p:cond delay="0"/>
                                  </p:stCondLst>
                                  <p:childTnLst>
                                    <p:set>
                                      <p:cBhvr>
                                        <p:cTn id="137" dur="1" fill="hold">
                                          <p:stCondLst>
                                            <p:cond delay="0"/>
                                          </p:stCondLst>
                                        </p:cTn>
                                        <p:tgtEl>
                                          <p:spTgt spid="16"/>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42" presetClass="entr" presetSubtype="0" fill="hold" grpId="0" nodeType="click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1000"/>
                                        <p:tgtEl>
                                          <p:spTgt spid="47"/>
                                        </p:tgtEl>
                                      </p:cBhvr>
                                    </p:animEffect>
                                    <p:anim calcmode="lin" valueType="num">
                                      <p:cBhvr>
                                        <p:cTn id="143" dur="1000" fill="hold"/>
                                        <p:tgtEl>
                                          <p:spTgt spid="47"/>
                                        </p:tgtEl>
                                        <p:attrNameLst>
                                          <p:attrName>ppt_x</p:attrName>
                                        </p:attrNameLst>
                                      </p:cBhvr>
                                      <p:tavLst>
                                        <p:tav tm="0">
                                          <p:val>
                                            <p:strVal val="#ppt_x"/>
                                          </p:val>
                                        </p:tav>
                                        <p:tav tm="100000">
                                          <p:val>
                                            <p:strVal val="#ppt_x"/>
                                          </p:val>
                                        </p:tav>
                                      </p:tavLst>
                                    </p:anim>
                                    <p:anim calcmode="lin" valueType="num">
                                      <p:cBhvr>
                                        <p:cTn id="144"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42" presetClass="entr" presetSubtype="0" fill="hold" nodeType="clickEffect">
                                  <p:stCondLst>
                                    <p:cond delay="0"/>
                                  </p:stCondLst>
                                  <p:childTnLst>
                                    <p:set>
                                      <p:cBhvr>
                                        <p:cTn id="148" dur="1" fill="hold">
                                          <p:stCondLst>
                                            <p:cond delay="0"/>
                                          </p:stCondLst>
                                        </p:cTn>
                                        <p:tgtEl>
                                          <p:spTgt spid="50"/>
                                        </p:tgtEl>
                                        <p:attrNameLst>
                                          <p:attrName>style.visibility</p:attrName>
                                        </p:attrNameLst>
                                      </p:cBhvr>
                                      <p:to>
                                        <p:strVal val="visible"/>
                                      </p:to>
                                    </p:set>
                                    <p:animEffect transition="in" filter="fade">
                                      <p:cBhvr>
                                        <p:cTn id="149" dur="1000"/>
                                        <p:tgtEl>
                                          <p:spTgt spid="50"/>
                                        </p:tgtEl>
                                      </p:cBhvr>
                                    </p:animEffect>
                                    <p:anim calcmode="lin" valueType="num">
                                      <p:cBhvr>
                                        <p:cTn id="150" dur="1000" fill="hold"/>
                                        <p:tgtEl>
                                          <p:spTgt spid="50"/>
                                        </p:tgtEl>
                                        <p:attrNameLst>
                                          <p:attrName>ppt_x</p:attrName>
                                        </p:attrNameLst>
                                      </p:cBhvr>
                                      <p:tavLst>
                                        <p:tav tm="0">
                                          <p:val>
                                            <p:strVal val="#ppt_x"/>
                                          </p:val>
                                        </p:tav>
                                        <p:tav tm="100000">
                                          <p:val>
                                            <p:strVal val="#ppt_x"/>
                                          </p:val>
                                        </p:tav>
                                      </p:tavLst>
                                    </p:anim>
                                    <p:anim calcmode="lin" valueType="num">
                                      <p:cBhvr>
                                        <p:cTn id="151" dur="1000" fill="hold"/>
                                        <p:tgtEl>
                                          <p:spTgt spid="50"/>
                                        </p:tgtEl>
                                        <p:attrNameLst>
                                          <p:attrName>ppt_y</p:attrName>
                                        </p:attrNameLst>
                                      </p:cBhvr>
                                      <p:tavLst>
                                        <p:tav tm="0">
                                          <p:val>
                                            <p:strVal val="#ppt_y+.1"/>
                                          </p:val>
                                        </p:tav>
                                        <p:tav tm="100000">
                                          <p:val>
                                            <p:strVal val="#ppt_y"/>
                                          </p:val>
                                        </p:tav>
                                      </p:tavLst>
                                    </p:anim>
                                  </p:childTnLst>
                                </p:cTn>
                              </p:par>
                              <p:par>
                                <p:cTn id="152" presetID="42" presetClass="entr" presetSubtype="0" fill="hold" nodeType="withEffect">
                                  <p:stCondLst>
                                    <p:cond delay="0"/>
                                  </p:stCondLst>
                                  <p:childTnLst>
                                    <p:set>
                                      <p:cBhvr>
                                        <p:cTn id="153" dur="1" fill="hold">
                                          <p:stCondLst>
                                            <p:cond delay="0"/>
                                          </p:stCondLst>
                                        </p:cTn>
                                        <p:tgtEl>
                                          <p:spTgt spid="51"/>
                                        </p:tgtEl>
                                        <p:attrNameLst>
                                          <p:attrName>style.visibility</p:attrName>
                                        </p:attrNameLst>
                                      </p:cBhvr>
                                      <p:to>
                                        <p:strVal val="visible"/>
                                      </p:to>
                                    </p:set>
                                    <p:animEffect transition="in" filter="fade">
                                      <p:cBhvr>
                                        <p:cTn id="154" dur="1000"/>
                                        <p:tgtEl>
                                          <p:spTgt spid="51"/>
                                        </p:tgtEl>
                                      </p:cBhvr>
                                    </p:animEffect>
                                    <p:anim calcmode="lin" valueType="num">
                                      <p:cBhvr>
                                        <p:cTn id="155" dur="1000" fill="hold"/>
                                        <p:tgtEl>
                                          <p:spTgt spid="51"/>
                                        </p:tgtEl>
                                        <p:attrNameLst>
                                          <p:attrName>ppt_x</p:attrName>
                                        </p:attrNameLst>
                                      </p:cBhvr>
                                      <p:tavLst>
                                        <p:tav tm="0">
                                          <p:val>
                                            <p:strVal val="#ppt_x"/>
                                          </p:val>
                                        </p:tav>
                                        <p:tav tm="100000">
                                          <p:val>
                                            <p:strVal val="#ppt_x"/>
                                          </p:val>
                                        </p:tav>
                                      </p:tavLst>
                                    </p:anim>
                                    <p:anim calcmode="lin" valueType="num">
                                      <p:cBhvr>
                                        <p:cTn id="156" dur="1000" fill="hold"/>
                                        <p:tgtEl>
                                          <p:spTgt spid="51"/>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48"/>
                                        </p:tgtEl>
                                        <p:attrNameLst>
                                          <p:attrName>style.visibility</p:attrName>
                                        </p:attrNameLst>
                                      </p:cBhvr>
                                      <p:to>
                                        <p:strVal val="visible"/>
                                      </p:to>
                                    </p:set>
                                    <p:animEffect transition="in" filter="fade">
                                      <p:cBhvr>
                                        <p:cTn id="159" dur="1000"/>
                                        <p:tgtEl>
                                          <p:spTgt spid="48"/>
                                        </p:tgtEl>
                                      </p:cBhvr>
                                    </p:animEffect>
                                    <p:anim calcmode="lin" valueType="num">
                                      <p:cBhvr>
                                        <p:cTn id="160" dur="1000" fill="hold"/>
                                        <p:tgtEl>
                                          <p:spTgt spid="48"/>
                                        </p:tgtEl>
                                        <p:attrNameLst>
                                          <p:attrName>ppt_x</p:attrName>
                                        </p:attrNameLst>
                                      </p:cBhvr>
                                      <p:tavLst>
                                        <p:tav tm="0">
                                          <p:val>
                                            <p:strVal val="#ppt_x"/>
                                          </p:val>
                                        </p:tav>
                                        <p:tav tm="100000">
                                          <p:val>
                                            <p:strVal val="#ppt_x"/>
                                          </p:val>
                                        </p:tav>
                                      </p:tavLst>
                                    </p:anim>
                                    <p:anim calcmode="lin" valueType="num">
                                      <p:cBhvr>
                                        <p:cTn id="161"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P spid="42" grpId="0" animBg="1"/>
      <p:bldP spid="43" grpId="0" animBg="1"/>
      <p:bldP spid="44" grpId="0" animBg="1"/>
      <p:bldP spid="45" grpId="0" animBg="1"/>
      <p:bldP spid="46" grpId="0" animBg="1"/>
      <p:bldP spid="47" grpId="0"/>
      <p:bldP spid="48"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a:xfrm>
            <a:off x="2313367" y="139363"/>
            <a:ext cx="4517266" cy="651976"/>
          </a:xfrm>
        </p:spPr>
        <p:txBody>
          <a:bodyPr/>
          <a:lstStyle/>
          <a:p>
            <a:r>
              <a:rPr lang="en-US" sz="3200" spc="-5" dirty="0" err="1">
                <a:solidFill>
                  <a:srgbClr val="002060"/>
                </a:solidFill>
                <a:latin typeface="Arial" panose="020B0604020202020204" pitchFamily="34" charset="0"/>
                <a:cs typeface="Arial" panose="020B0604020202020204" pitchFamily="34" charset="0"/>
              </a:rPr>
              <a:t>Kỳ</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vọng</a:t>
            </a:r>
            <a:endParaRPr lang="en-US" sz="3200"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Google Shape;278;p20"/>
              <p:cNvSpPr txBox="1">
                <a:spLocks noGrp="1"/>
              </p:cNvSpPr>
              <p:nvPr>
                <p:ph type="body" idx="1"/>
              </p:nvPr>
            </p:nvSpPr>
            <p:spPr>
              <a:xfrm>
                <a:off x="318735" y="791339"/>
                <a:ext cx="8201378" cy="1092759"/>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2400" b="1" dirty="0" err="1">
                    <a:solidFill>
                      <a:srgbClr val="002060"/>
                    </a:solidFill>
                    <a:latin typeface="Arial" panose="020B0604020202020204" pitchFamily="34" charset="0"/>
                    <a:cs typeface="Arial" panose="020B0604020202020204" pitchFamily="34" charset="0"/>
                  </a:rPr>
                  <a:t>Định</a:t>
                </a:r>
                <a:r>
                  <a:rPr lang="en-US" sz="2400" b="1" dirty="0">
                    <a:solidFill>
                      <a:srgbClr val="002060"/>
                    </a:solidFill>
                    <a:latin typeface="Arial" panose="020B0604020202020204" pitchFamily="34" charset="0"/>
                    <a:cs typeface="Arial" panose="020B0604020202020204" pitchFamily="34" charset="0"/>
                  </a:rPr>
                  <a:t> </a:t>
                </a:r>
                <a:r>
                  <a:rPr lang="en-US" sz="2400" b="1" dirty="0" err="1">
                    <a:solidFill>
                      <a:srgbClr val="002060"/>
                    </a:solidFill>
                    <a:latin typeface="Arial" panose="020B0604020202020204" pitchFamily="34" charset="0"/>
                    <a:cs typeface="Arial" panose="020B0604020202020204" pitchFamily="34" charset="0"/>
                  </a:rPr>
                  <a:t>nghĩa</a:t>
                </a:r>
                <a:endParaRPr lang="en-US" sz="2400" b="1" dirty="0">
                  <a:solidFill>
                    <a:srgbClr val="002060"/>
                  </a:solidFill>
                  <a:latin typeface="Arial" panose="020B0604020202020204" pitchFamily="34" charset="0"/>
                  <a:cs typeface="Arial" panose="020B0604020202020204" pitchFamily="34" charset="0"/>
                </a:endParaRPr>
              </a:p>
              <a:p>
                <a:pPr marL="0" lvl="0" indent="0" algn="l" rtl="0">
                  <a:spcBef>
                    <a:spcPts val="600"/>
                  </a:spcBef>
                  <a:spcAft>
                    <a:spcPts val="0"/>
                  </a:spcAft>
                  <a:buNone/>
                </a:pPr>
                <a:r>
                  <a:rPr lang="en-US" sz="2400" dirty="0" err="1">
                    <a:solidFill>
                      <a:srgbClr val="FF0000"/>
                    </a:solidFill>
                    <a:latin typeface="Arial" panose="020B0604020202020204" pitchFamily="34" charset="0"/>
                    <a:cs typeface="Arial" panose="020B0604020202020204" pitchFamily="34" charset="0"/>
                  </a:rPr>
                  <a:t>Kỳ</a:t>
                </a:r>
                <a:r>
                  <a:rPr lang="en-US" sz="2400" dirty="0">
                    <a:solidFill>
                      <a:srgbClr val="FF0000"/>
                    </a:solidFill>
                    <a:latin typeface="Arial" panose="020B0604020202020204" pitchFamily="34" charset="0"/>
                    <a:cs typeface="Arial" panose="020B0604020202020204" pitchFamily="34" charset="0"/>
                  </a:rPr>
                  <a:t> </a:t>
                </a:r>
                <a:r>
                  <a:rPr lang="en-US" sz="2400" dirty="0" err="1">
                    <a:solidFill>
                      <a:srgbClr val="FF0000"/>
                    </a:solidFill>
                    <a:latin typeface="Arial" panose="020B0604020202020204" pitchFamily="34" charset="0"/>
                    <a:cs typeface="Arial" panose="020B0604020202020204" pitchFamily="34" charset="0"/>
                  </a:rPr>
                  <a:t>vọng</a:t>
                </a:r>
                <a:r>
                  <a:rPr lang="en-US" sz="2400" dirty="0">
                    <a:solidFill>
                      <a:srgbClr val="FF000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của</a:t>
                </a:r>
                <a:r>
                  <a:rPr lang="en-US" sz="2400" dirty="0">
                    <a:solidFill>
                      <a:srgbClr val="002060"/>
                    </a:solidFill>
                    <a:latin typeface="Arial" panose="020B0604020202020204" pitchFamily="34" charset="0"/>
                    <a:cs typeface="Arial" panose="020B0604020202020204" pitchFamily="34" charset="0"/>
                  </a:rPr>
                  <a:t> BNN </a:t>
                </a:r>
                <a:r>
                  <a:rPr lang="en-US" sz="2400" i="1" dirty="0">
                    <a:solidFill>
                      <a:srgbClr val="002060"/>
                    </a:solidFill>
                    <a:latin typeface="Arial" panose="020B0604020202020204" pitchFamily="34" charset="0"/>
                    <a:cs typeface="Arial" panose="020B0604020202020204" pitchFamily="34" charset="0"/>
                  </a:rPr>
                  <a:t>X</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kí</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hiệu</a:t>
                </a:r>
                <a:r>
                  <a:rPr lang="en-US" sz="2400" dirty="0">
                    <a:solidFill>
                      <a:srgbClr val="002060"/>
                    </a:solidFill>
                    <a:latin typeface="Arial" panose="020B0604020202020204" pitchFamily="34" charset="0"/>
                    <a:cs typeface="Arial" panose="020B0604020202020204" pitchFamily="34" charset="0"/>
                  </a:rPr>
                  <a:t> </a:t>
                </a:r>
                <a14:m>
                  <m:oMath xmlns:m="http://schemas.openxmlformats.org/officeDocument/2006/math">
                    <m:r>
                      <a:rPr lang="en-US" sz="2400" b="0" i="1" dirty="0" smtClean="0">
                        <a:solidFill>
                          <a:srgbClr val="FF0000"/>
                        </a:solidFill>
                        <a:latin typeface="Cambria Math" panose="02040503050406030204" pitchFamily="18" charset="0"/>
                        <a:cs typeface="Times New Roman" panose="02020603050405020304" pitchFamily="18" charset="0"/>
                      </a:rPr>
                      <m:t>𝐸</m:t>
                    </m:r>
                    <m:r>
                      <a:rPr lang="en-US" sz="2400" i="1" dirty="0" smtClean="0">
                        <a:solidFill>
                          <a:srgbClr val="FF0000"/>
                        </a:solidFill>
                        <a:latin typeface="Cambria Math" panose="02040503050406030204" pitchFamily="18" charset="0"/>
                        <a:cs typeface="Times New Roman" panose="02020603050405020304" pitchFamily="18" charset="0"/>
                      </a:rPr>
                      <m:t>(</m:t>
                    </m:r>
                    <m:r>
                      <a:rPr lang="en-US" sz="2400" i="1" dirty="0" smtClean="0">
                        <a:solidFill>
                          <a:srgbClr val="FF0000"/>
                        </a:solidFill>
                        <a:latin typeface="Cambria Math" panose="02040503050406030204" pitchFamily="18" charset="0"/>
                        <a:cs typeface="Times New Roman" panose="02020603050405020304" pitchFamily="18" charset="0"/>
                      </a:rPr>
                      <m:t>𝑋</m:t>
                    </m:r>
                    <m:r>
                      <a:rPr lang="en-US" sz="2400" i="1" dirty="0" smtClean="0">
                        <a:solidFill>
                          <a:srgbClr val="FF0000"/>
                        </a:solidFill>
                        <a:latin typeface="Cambria Math" panose="02040503050406030204" pitchFamily="18" charset="0"/>
                        <a:cs typeface="Times New Roman" panose="02020603050405020304" pitchFamily="18" charset="0"/>
                      </a:rPr>
                      <m:t>)</m:t>
                    </m:r>
                  </m:oMath>
                </a14:m>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xác</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định</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bởi</a:t>
                </a:r>
                <a:endParaRPr lang="en-US" sz="2400" dirty="0">
                  <a:solidFill>
                    <a:srgbClr val="002060"/>
                  </a:solidFill>
                  <a:latin typeface="Arial" panose="020B0604020202020204" pitchFamily="34" charset="0"/>
                  <a:cs typeface="Arial" panose="020B0604020202020204" pitchFamily="34" charset="0"/>
                </a:endParaRPr>
              </a:p>
              <a:p>
                <a:pPr marL="457200" lvl="1" indent="0">
                  <a:buNone/>
                </a:pPr>
                <a:endParaRPr lang="en-US" sz="2400" dirty="0">
                  <a:solidFill>
                    <a:srgbClr val="002060"/>
                  </a:solidFill>
                  <a:latin typeface="Arial" panose="020B0604020202020204" pitchFamily="34" charset="0"/>
                  <a:cs typeface="Arial" panose="020B0604020202020204" pitchFamily="34" charset="0"/>
                </a:endParaRPr>
              </a:p>
            </p:txBody>
          </p:sp>
        </mc:Choice>
        <mc:Fallback xmlns="">
          <p:sp>
            <p:nvSpPr>
              <p:cNvPr id="6" name="Google Shape;278;p20"/>
              <p:cNvSpPr txBox="1">
                <a:spLocks noGrp="1" noRot="1" noChangeAspect="1" noMove="1" noResize="1" noEditPoints="1" noAdjustHandles="1" noChangeArrowheads="1" noChangeShapeType="1" noTextEdit="1"/>
              </p:cNvSpPr>
              <p:nvPr>
                <p:ph type="body" idx="1"/>
              </p:nvPr>
            </p:nvSpPr>
            <p:spPr>
              <a:xfrm>
                <a:off x="318735" y="791339"/>
                <a:ext cx="8201378" cy="1092759"/>
              </a:xfrm>
              <a:prstGeom prst="rect">
                <a:avLst/>
              </a:prstGeom>
              <a:blipFill>
                <a:blip r:embed="rId3"/>
                <a:stretch>
                  <a:fillRect l="-1080" b="-5747"/>
                </a:stretch>
              </a:blipFill>
            </p:spPr>
            <p:txBody>
              <a:bodyPr/>
              <a:lstStyle/>
              <a:p>
                <a:r>
                  <a:rPr lang="en-VN">
                    <a:noFill/>
                  </a:rPr>
                  <a:t> </a:t>
                </a:r>
              </a:p>
            </p:txBody>
          </p:sp>
        </mc:Fallback>
      </mc:AlternateContent>
      <p:sp>
        <p:nvSpPr>
          <p:cNvPr id="2" name="Rectangle 1"/>
          <p:cNvSpPr/>
          <p:nvPr/>
        </p:nvSpPr>
        <p:spPr>
          <a:xfrm>
            <a:off x="326207" y="2187931"/>
            <a:ext cx="3419526" cy="461665"/>
          </a:xfrm>
          <a:prstGeom prst="rect">
            <a:avLst/>
          </a:prstGeom>
        </p:spPr>
        <p:txBody>
          <a:bodyPr wrap="none">
            <a:spAutoFit/>
          </a:bodyPr>
          <a:lstStyle/>
          <a:p>
            <a:pPr marL="342900" indent="-342900">
              <a:buFont typeface="Arial" panose="020B0604020202020204" pitchFamily="34" charset="0"/>
              <a:buChar char="•"/>
            </a:pPr>
            <a:r>
              <a:rPr lang="en-US" sz="2400" dirty="0" err="1">
                <a:solidFill>
                  <a:srgbClr val="002060"/>
                </a:solidFill>
                <a:latin typeface="Arial" panose="020B0604020202020204" pitchFamily="34" charset="0"/>
                <a:cs typeface="Arial" panose="020B0604020202020204" pitchFamily="34" charset="0"/>
              </a:rPr>
              <a:t>Nếu</a:t>
            </a:r>
            <a:r>
              <a:rPr lang="en-US" sz="2400" dirty="0">
                <a:solidFill>
                  <a:srgbClr val="002060"/>
                </a:solidFill>
                <a:latin typeface="Arial" panose="020B0604020202020204" pitchFamily="34" charset="0"/>
                <a:cs typeface="Arial" panose="020B0604020202020204" pitchFamily="34" charset="0"/>
              </a:rPr>
              <a:t> </a:t>
            </a:r>
            <a:r>
              <a:rPr lang="en-US" sz="2400" i="1" dirty="0">
                <a:solidFill>
                  <a:srgbClr val="002060"/>
                </a:solidFill>
                <a:latin typeface="Arial" panose="020B0604020202020204" pitchFamily="34" charset="0"/>
                <a:cs typeface="Arial" panose="020B0604020202020204" pitchFamily="34" charset="0"/>
              </a:rPr>
              <a:t>X</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là</a:t>
            </a:r>
            <a:r>
              <a:rPr lang="en-US" sz="2400" dirty="0">
                <a:solidFill>
                  <a:srgbClr val="002060"/>
                </a:solidFill>
                <a:latin typeface="Arial" panose="020B0604020202020204" pitchFamily="34" charset="0"/>
                <a:cs typeface="Arial" panose="020B0604020202020204" pitchFamily="34" charset="0"/>
              </a:rPr>
              <a:t> BNN </a:t>
            </a:r>
            <a:r>
              <a:rPr lang="en-US" sz="2400" dirty="0" err="1">
                <a:solidFill>
                  <a:srgbClr val="FF0000"/>
                </a:solidFill>
                <a:latin typeface="Arial" panose="020B0604020202020204" pitchFamily="34" charset="0"/>
                <a:cs typeface="Arial" panose="020B0604020202020204" pitchFamily="34" charset="0"/>
              </a:rPr>
              <a:t>rời</a:t>
            </a:r>
            <a:r>
              <a:rPr lang="en-US" sz="2400" dirty="0">
                <a:solidFill>
                  <a:srgbClr val="FF0000"/>
                </a:solidFill>
                <a:latin typeface="Arial" panose="020B0604020202020204" pitchFamily="34" charset="0"/>
                <a:cs typeface="Arial" panose="020B0604020202020204" pitchFamily="34" charset="0"/>
              </a:rPr>
              <a:t> </a:t>
            </a:r>
            <a:r>
              <a:rPr lang="en-US" sz="2400" dirty="0" err="1">
                <a:solidFill>
                  <a:srgbClr val="FF0000"/>
                </a:solidFill>
                <a:latin typeface="Arial" panose="020B0604020202020204" pitchFamily="34" charset="0"/>
                <a:cs typeface="Arial" panose="020B0604020202020204" pitchFamily="34" charset="0"/>
              </a:rPr>
              <a:t>rạc</a:t>
            </a:r>
            <a:endParaRPr lang="en-US" sz="2400"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Rectangle 3"/>
              <p:cNvSpPr/>
              <p:nvPr/>
            </p:nvSpPr>
            <p:spPr>
              <a:xfrm>
                <a:off x="3835501" y="1947770"/>
                <a:ext cx="2866917" cy="98655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cs typeface="Times New Roman" panose="02020603050405020304" pitchFamily="18" charset="0"/>
                          <a:sym typeface="Varela Round"/>
                        </a:rPr>
                        <m:t>𝐸</m:t>
                      </m:r>
                      <m:d>
                        <m:dPr>
                          <m:ctrlPr>
                            <a:rPr lang="en-US" sz="2400" i="1">
                              <a:solidFill>
                                <a:srgbClr val="002060"/>
                              </a:solidFill>
                              <a:latin typeface="Cambria Math" panose="02040503050406030204" pitchFamily="18" charset="0"/>
                              <a:cs typeface="Times New Roman" panose="02020603050405020304" pitchFamily="18" charset="0"/>
                              <a:sym typeface="Varela Round"/>
                            </a:rPr>
                          </m:ctrlPr>
                        </m:dPr>
                        <m:e>
                          <m:r>
                            <a:rPr lang="en-US" sz="2400" i="1">
                              <a:solidFill>
                                <a:srgbClr val="002060"/>
                              </a:solidFill>
                              <a:latin typeface="Cambria Math" panose="02040503050406030204" pitchFamily="18" charset="0"/>
                              <a:cs typeface="Times New Roman" panose="02020603050405020304" pitchFamily="18" charset="0"/>
                              <a:sym typeface="Varela Round"/>
                            </a:rPr>
                            <m:t>𝑋</m:t>
                          </m:r>
                        </m:e>
                      </m:d>
                      <m:r>
                        <a:rPr lang="en-US" sz="2400" i="1">
                          <a:solidFill>
                            <a:srgbClr val="002060"/>
                          </a:solidFill>
                          <a:latin typeface="Cambria Math" panose="02040503050406030204" pitchFamily="18" charset="0"/>
                          <a:cs typeface="Times New Roman" panose="02020603050405020304" pitchFamily="18" charset="0"/>
                          <a:sym typeface="Varela Round"/>
                        </a:rPr>
                        <m:t>=</m:t>
                      </m:r>
                      <m:nary>
                        <m:naryPr>
                          <m:chr m:val="∑"/>
                          <m:subHide m:val="on"/>
                          <m:supHide m:val="on"/>
                          <m:ctrlPr>
                            <a:rPr lang="en-US" sz="2400" i="1">
                              <a:solidFill>
                                <a:srgbClr val="002060"/>
                              </a:solidFill>
                              <a:latin typeface="Cambria Math" panose="02040503050406030204" pitchFamily="18" charset="0"/>
                              <a:cs typeface="Times New Roman" panose="02020603050405020304" pitchFamily="18" charset="0"/>
                              <a:sym typeface="Varela Round"/>
                            </a:rPr>
                          </m:ctrlPr>
                        </m:naryPr>
                        <m:sub/>
                        <m:sup/>
                        <m:e>
                          <m:sSub>
                            <m:sSubPr>
                              <m:ctrlPr>
                                <a:rPr lang="en-US" sz="2400" i="1">
                                  <a:solidFill>
                                    <a:srgbClr val="002060"/>
                                  </a:solidFill>
                                  <a:latin typeface="Cambria Math" panose="02040503050406030204" pitchFamily="18" charset="0"/>
                                  <a:cs typeface="Times New Roman" panose="02020603050405020304" pitchFamily="18" charset="0"/>
                                  <a:sym typeface="Varela Round"/>
                                </a:rPr>
                              </m:ctrlPr>
                            </m:sSubPr>
                            <m:e>
                              <m:r>
                                <a:rPr lang="en-US" sz="2400" i="1">
                                  <a:solidFill>
                                    <a:srgbClr val="002060"/>
                                  </a:solidFill>
                                  <a:latin typeface="Cambria Math" panose="02040503050406030204" pitchFamily="18" charset="0"/>
                                  <a:cs typeface="Times New Roman" panose="02020603050405020304" pitchFamily="18" charset="0"/>
                                  <a:sym typeface="Varela Round"/>
                                </a:rPr>
                                <m:t>𝑥</m:t>
                              </m:r>
                            </m:e>
                            <m:sub>
                              <m:r>
                                <a:rPr lang="en-US" sz="2400" i="1">
                                  <a:solidFill>
                                    <a:srgbClr val="002060"/>
                                  </a:solidFill>
                                  <a:latin typeface="Cambria Math" panose="02040503050406030204" pitchFamily="18" charset="0"/>
                                  <a:cs typeface="Times New Roman" panose="02020603050405020304" pitchFamily="18" charset="0"/>
                                  <a:sym typeface="Varela Round"/>
                                </a:rPr>
                                <m:t>𝑖</m:t>
                              </m:r>
                            </m:sub>
                          </m:sSub>
                          <m:sSub>
                            <m:sSubPr>
                              <m:ctrlPr>
                                <a:rPr lang="en-US" sz="2400" i="1">
                                  <a:solidFill>
                                    <a:srgbClr val="002060"/>
                                  </a:solidFill>
                                  <a:latin typeface="Cambria Math" panose="02040503050406030204" pitchFamily="18" charset="0"/>
                                  <a:cs typeface="Times New Roman" panose="02020603050405020304" pitchFamily="18" charset="0"/>
                                  <a:sym typeface="Varela Round"/>
                                </a:rPr>
                              </m:ctrlPr>
                            </m:sSubPr>
                            <m:e>
                              <m:r>
                                <a:rPr lang="en-US" sz="2400" i="1">
                                  <a:solidFill>
                                    <a:srgbClr val="002060"/>
                                  </a:solidFill>
                                  <a:latin typeface="Cambria Math" panose="02040503050406030204" pitchFamily="18" charset="0"/>
                                  <a:cs typeface="Times New Roman" panose="02020603050405020304" pitchFamily="18" charset="0"/>
                                  <a:sym typeface="Varela Round"/>
                                </a:rPr>
                                <m:t>𝑝</m:t>
                              </m:r>
                            </m:e>
                            <m:sub>
                              <m:r>
                                <a:rPr lang="en-US" sz="2400" i="1">
                                  <a:solidFill>
                                    <a:srgbClr val="002060"/>
                                  </a:solidFill>
                                  <a:latin typeface="Cambria Math" panose="02040503050406030204" pitchFamily="18" charset="0"/>
                                  <a:cs typeface="Times New Roman" panose="02020603050405020304" pitchFamily="18" charset="0"/>
                                  <a:sym typeface="Varela Round"/>
                                </a:rPr>
                                <m:t>𝑖</m:t>
                              </m:r>
                            </m:sub>
                          </m:sSub>
                        </m:e>
                      </m:nary>
                    </m:oMath>
                  </m:oMathPara>
                </a14:m>
                <a:endParaRPr lang="en-US" sz="2400" dirty="0">
                  <a:solidFill>
                    <a:srgbClr val="002060"/>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835501" y="1947770"/>
                <a:ext cx="2866917" cy="986552"/>
              </a:xfrm>
              <a:prstGeom prst="rect">
                <a:avLst/>
              </a:prstGeom>
              <a:blipFill>
                <a:blip r:embed="rId4"/>
                <a:stretch>
                  <a:fillRect t="-127500" b="-177500"/>
                </a:stretch>
              </a:blipFill>
            </p:spPr>
            <p:txBody>
              <a:bodyPr/>
              <a:lstStyle/>
              <a:p>
                <a:r>
                  <a:rPr lang="en-VN">
                    <a:noFill/>
                  </a:rPr>
                  <a:t> </a:t>
                </a:r>
              </a:p>
            </p:txBody>
          </p:sp>
        </mc:Fallback>
      </mc:AlternateContent>
      <p:pic>
        <p:nvPicPr>
          <p:cNvPr id="3" name="Picture 2" descr="Dai Nam [PPT] Template 11.png">
            <a:extLst>
              <a:ext uri="{FF2B5EF4-FFF2-40B4-BE49-F238E27FC236}">
                <a16:creationId xmlns:a16="http://schemas.microsoft.com/office/drawing/2014/main" id="{A8ADF085-6594-4FF5-CC18-F5ECC62780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
        <p:nvSpPr>
          <p:cNvPr id="7" name="Rectangle 6">
            <a:extLst>
              <a:ext uri="{FF2B5EF4-FFF2-40B4-BE49-F238E27FC236}">
                <a16:creationId xmlns:a16="http://schemas.microsoft.com/office/drawing/2014/main" id="{84E6E57D-C93B-C45B-495B-26190E3575FE}"/>
              </a:ext>
            </a:extLst>
          </p:cNvPr>
          <p:cNvSpPr/>
          <p:nvPr/>
        </p:nvSpPr>
        <p:spPr>
          <a:xfrm>
            <a:off x="326207" y="3712538"/>
            <a:ext cx="3509294" cy="461665"/>
          </a:xfrm>
          <a:prstGeom prst="rect">
            <a:avLst/>
          </a:prstGeom>
        </p:spPr>
        <p:txBody>
          <a:bodyPr wrap="none">
            <a:spAutoFit/>
          </a:bodyPr>
          <a:lstStyle/>
          <a:p>
            <a:pPr marL="342900" indent="-342900">
              <a:buFont typeface="Arial" panose="020B0604020202020204" pitchFamily="34" charset="0"/>
              <a:buChar char="•"/>
            </a:pPr>
            <a:r>
              <a:rPr lang="en-US" sz="2400" dirty="0" err="1">
                <a:solidFill>
                  <a:srgbClr val="002060"/>
                </a:solidFill>
                <a:latin typeface="Arial" panose="020B0604020202020204" pitchFamily="34" charset="0"/>
                <a:cs typeface="Arial" panose="020B0604020202020204" pitchFamily="34" charset="0"/>
              </a:rPr>
              <a:t>Nếu</a:t>
            </a:r>
            <a:r>
              <a:rPr lang="en-US" sz="2400" dirty="0">
                <a:solidFill>
                  <a:srgbClr val="002060"/>
                </a:solidFill>
                <a:latin typeface="Arial" panose="020B0604020202020204" pitchFamily="34" charset="0"/>
                <a:cs typeface="Arial" panose="020B0604020202020204" pitchFamily="34" charset="0"/>
              </a:rPr>
              <a:t> </a:t>
            </a:r>
            <a:r>
              <a:rPr lang="en-US" sz="2400" i="1" dirty="0">
                <a:solidFill>
                  <a:srgbClr val="002060"/>
                </a:solidFill>
                <a:latin typeface="Arial" panose="020B0604020202020204" pitchFamily="34" charset="0"/>
                <a:cs typeface="Arial" panose="020B0604020202020204" pitchFamily="34" charset="0"/>
              </a:rPr>
              <a:t>X</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là</a:t>
            </a:r>
            <a:r>
              <a:rPr lang="en-US" sz="2400" dirty="0">
                <a:solidFill>
                  <a:srgbClr val="002060"/>
                </a:solidFill>
                <a:latin typeface="Arial" panose="020B0604020202020204" pitchFamily="34" charset="0"/>
                <a:cs typeface="Arial" panose="020B0604020202020204" pitchFamily="34" charset="0"/>
              </a:rPr>
              <a:t> BNN </a:t>
            </a:r>
            <a:r>
              <a:rPr lang="en-US" sz="2400" dirty="0" err="1">
                <a:solidFill>
                  <a:srgbClr val="FF0000"/>
                </a:solidFill>
                <a:latin typeface="Arial" panose="020B0604020202020204" pitchFamily="34" charset="0"/>
                <a:cs typeface="Arial" panose="020B0604020202020204" pitchFamily="34" charset="0"/>
              </a:rPr>
              <a:t>liên</a:t>
            </a:r>
            <a:r>
              <a:rPr lang="en-US" sz="2400" dirty="0">
                <a:solidFill>
                  <a:srgbClr val="FF0000"/>
                </a:solidFill>
                <a:latin typeface="Arial" panose="020B0604020202020204" pitchFamily="34" charset="0"/>
                <a:cs typeface="Arial" panose="020B0604020202020204" pitchFamily="34" charset="0"/>
              </a:rPr>
              <a:t> </a:t>
            </a:r>
            <a:r>
              <a:rPr lang="en-US" sz="2400" dirty="0" err="1">
                <a:solidFill>
                  <a:srgbClr val="FF0000"/>
                </a:solidFill>
                <a:latin typeface="Arial" panose="020B0604020202020204" pitchFamily="34" charset="0"/>
                <a:cs typeface="Arial" panose="020B0604020202020204" pitchFamily="34" charset="0"/>
              </a:rPr>
              <a:t>tục</a:t>
            </a:r>
            <a:endParaRPr lang="en-US" sz="2400"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44949FD-F082-A3A0-5BFF-D09BE59B0EC0}"/>
                  </a:ext>
                </a:extLst>
              </p:cNvPr>
              <p:cNvSpPr/>
              <p:nvPr/>
            </p:nvSpPr>
            <p:spPr>
              <a:xfrm>
                <a:off x="3835501" y="3412931"/>
                <a:ext cx="3150515" cy="11912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cs typeface="Times New Roman" panose="02020603050405020304" pitchFamily="18" charset="0"/>
                          <a:sym typeface="Varela Round"/>
                        </a:rPr>
                        <m:t>𝐸</m:t>
                      </m:r>
                      <m:d>
                        <m:dPr>
                          <m:ctrlPr>
                            <a:rPr lang="en-US" sz="2400" i="1">
                              <a:solidFill>
                                <a:srgbClr val="002060"/>
                              </a:solidFill>
                              <a:latin typeface="Cambria Math" panose="02040503050406030204" pitchFamily="18" charset="0"/>
                              <a:cs typeface="Times New Roman" panose="02020603050405020304" pitchFamily="18" charset="0"/>
                              <a:sym typeface="Varela Round"/>
                            </a:rPr>
                          </m:ctrlPr>
                        </m:dPr>
                        <m:e>
                          <m:r>
                            <a:rPr lang="en-US" sz="2400" i="1">
                              <a:solidFill>
                                <a:srgbClr val="002060"/>
                              </a:solidFill>
                              <a:latin typeface="Cambria Math" panose="02040503050406030204" pitchFamily="18" charset="0"/>
                              <a:cs typeface="Times New Roman" panose="02020603050405020304" pitchFamily="18" charset="0"/>
                              <a:sym typeface="Varela Round"/>
                            </a:rPr>
                            <m:t>𝑋</m:t>
                          </m:r>
                        </m:e>
                      </m:d>
                      <m:r>
                        <a:rPr lang="en-US" sz="2400" i="1">
                          <a:solidFill>
                            <a:srgbClr val="002060"/>
                          </a:solidFill>
                          <a:latin typeface="Cambria Math" panose="02040503050406030204" pitchFamily="18" charset="0"/>
                          <a:cs typeface="Times New Roman" panose="02020603050405020304" pitchFamily="18" charset="0"/>
                          <a:sym typeface="Varela Round"/>
                        </a:rPr>
                        <m:t>=</m:t>
                      </m:r>
                      <m:nary>
                        <m:naryPr>
                          <m:limLoc m:val="undOvr"/>
                          <m:ctrlPr>
                            <a:rPr lang="en-US" sz="2400" i="1" smtClean="0">
                              <a:solidFill>
                                <a:srgbClr val="002060"/>
                              </a:solidFill>
                              <a:latin typeface="Cambria Math" panose="02040503050406030204" pitchFamily="18" charset="0"/>
                              <a:cs typeface="Times New Roman" panose="02020603050405020304" pitchFamily="18" charset="0"/>
                              <a:sym typeface="Varela Round"/>
                            </a:rPr>
                          </m:ctrlPr>
                        </m:naryPr>
                        <m:sub>
                          <m:r>
                            <m:rPr>
                              <m:brk m:alnAt="24"/>
                            </m:rPr>
                            <a:rPr lang="vi-VN" sz="2400" b="0" i="1" smtClean="0">
                              <a:solidFill>
                                <a:srgbClr val="002060"/>
                              </a:solidFill>
                              <a:latin typeface="Cambria Math" panose="02040503050406030204" pitchFamily="18" charset="0"/>
                              <a:cs typeface="Times New Roman" panose="02020603050405020304" pitchFamily="18" charset="0"/>
                              <a:sym typeface="Varela Round"/>
                            </a:rPr>
                            <m:t>−</m:t>
                          </m:r>
                          <m:r>
                            <a:rPr lang="vi-V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sym typeface="Varela Round"/>
                            </a:rPr>
                            <m:t>∞</m:t>
                          </m:r>
                        </m:sub>
                        <m:sup>
                          <m:r>
                            <a:rPr lang="vi-VN" sz="2400" b="0" i="1" smtClean="0">
                              <a:solidFill>
                                <a:srgbClr val="002060"/>
                              </a:solidFill>
                              <a:latin typeface="Cambria Math" panose="02040503050406030204" pitchFamily="18" charset="0"/>
                              <a:cs typeface="Times New Roman" panose="02020603050405020304" pitchFamily="18" charset="0"/>
                              <a:sym typeface="Varela Round"/>
                            </a:rPr>
                            <m:t>+</m:t>
                          </m:r>
                          <m:r>
                            <a:rPr lang="vi-V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sym typeface="Varela Round"/>
                            </a:rPr>
                            <m:t>∞</m:t>
                          </m:r>
                        </m:sup>
                        <m:e>
                          <m:r>
                            <a:rPr lang="en-US" sz="2400" i="1">
                              <a:solidFill>
                                <a:srgbClr val="002060"/>
                              </a:solidFill>
                              <a:latin typeface="Cambria Math" panose="02040503050406030204" pitchFamily="18" charset="0"/>
                              <a:cs typeface="Times New Roman" panose="02020603050405020304" pitchFamily="18" charset="0"/>
                              <a:sym typeface="Varela Round"/>
                            </a:rPr>
                            <m:t>𝑥</m:t>
                          </m:r>
                          <m:r>
                            <a:rPr lang="vi-VN" sz="2400" b="0" i="1" smtClean="0">
                              <a:solidFill>
                                <a:srgbClr val="002060"/>
                              </a:solidFill>
                              <a:latin typeface="Cambria Math" panose="02040503050406030204" pitchFamily="18" charset="0"/>
                              <a:cs typeface="Times New Roman" panose="02020603050405020304" pitchFamily="18" charset="0"/>
                              <a:sym typeface="Varela Round"/>
                            </a:rPr>
                            <m:t>.</m:t>
                          </m:r>
                          <m:r>
                            <a:rPr lang="en-US" sz="2400" i="1">
                              <a:solidFill>
                                <a:srgbClr val="002060"/>
                              </a:solidFill>
                              <a:latin typeface="Cambria Math" panose="02040503050406030204" pitchFamily="18" charset="0"/>
                              <a:cs typeface="Times New Roman" panose="02020603050405020304" pitchFamily="18" charset="0"/>
                              <a:sym typeface="Varela Round"/>
                            </a:rPr>
                            <m:t>𝑓</m:t>
                          </m:r>
                          <m:r>
                            <a:rPr lang="vi-VN" sz="2400" b="0" i="1" smtClean="0">
                              <a:solidFill>
                                <a:srgbClr val="002060"/>
                              </a:solidFill>
                              <a:latin typeface="Cambria Math" panose="02040503050406030204" pitchFamily="18" charset="0"/>
                              <a:cs typeface="Times New Roman" panose="02020603050405020304" pitchFamily="18" charset="0"/>
                              <a:sym typeface="Varela Round"/>
                            </a:rPr>
                            <m:t>(</m:t>
                          </m:r>
                          <m:r>
                            <a:rPr lang="vi-VN" sz="2400" i="1">
                              <a:solidFill>
                                <a:srgbClr val="002060"/>
                              </a:solidFill>
                              <a:latin typeface="Cambria Math" panose="02040503050406030204" pitchFamily="18" charset="0"/>
                              <a:cs typeface="Times New Roman" panose="02020603050405020304" pitchFamily="18" charset="0"/>
                              <a:sym typeface="Varela Round"/>
                            </a:rPr>
                            <m:t>𝑥</m:t>
                          </m:r>
                          <m:r>
                            <a:rPr lang="vi-VN" sz="2400" b="0" i="1" smtClean="0">
                              <a:solidFill>
                                <a:srgbClr val="002060"/>
                              </a:solidFill>
                              <a:latin typeface="Cambria Math" panose="02040503050406030204" pitchFamily="18" charset="0"/>
                              <a:cs typeface="Times New Roman" panose="02020603050405020304" pitchFamily="18" charset="0"/>
                              <a:sym typeface="Varela Round"/>
                            </a:rPr>
                            <m:t>)</m:t>
                          </m:r>
                          <m:r>
                            <a:rPr lang="vi-VN" sz="2400" i="1">
                              <a:solidFill>
                                <a:srgbClr val="002060"/>
                              </a:solidFill>
                              <a:latin typeface="Cambria Math" panose="02040503050406030204" pitchFamily="18" charset="0"/>
                              <a:cs typeface="Times New Roman" panose="02020603050405020304" pitchFamily="18" charset="0"/>
                              <a:sym typeface="Varela Round"/>
                            </a:rPr>
                            <m:t>𝑑𝑥</m:t>
                          </m:r>
                        </m:e>
                      </m:nary>
                    </m:oMath>
                  </m:oMathPara>
                </a14:m>
                <a:endParaRPr lang="en-US" sz="2400" i="1" dirty="0">
                  <a:solidFill>
                    <a:srgbClr val="002060"/>
                  </a:solidFill>
                </a:endParaRPr>
              </a:p>
            </p:txBody>
          </p:sp>
        </mc:Choice>
        <mc:Fallback xmlns="">
          <p:sp>
            <p:nvSpPr>
              <p:cNvPr id="8" name="Rectangle 7">
                <a:extLst>
                  <a:ext uri="{FF2B5EF4-FFF2-40B4-BE49-F238E27FC236}">
                    <a16:creationId xmlns:a16="http://schemas.microsoft.com/office/drawing/2014/main" id="{144949FD-F082-A3A0-5BFF-D09BE59B0EC0}"/>
                  </a:ext>
                </a:extLst>
              </p:cNvPr>
              <p:cNvSpPr>
                <a:spLocks noRot="1" noChangeAspect="1" noMove="1" noResize="1" noEditPoints="1" noAdjustHandles="1" noChangeArrowheads="1" noChangeShapeType="1" noTextEdit="1"/>
              </p:cNvSpPr>
              <p:nvPr/>
            </p:nvSpPr>
            <p:spPr>
              <a:xfrm>
                <a:off x="3835501" y="3412931"/>
                <a:ext cx="3150515" cy="1191288"/>
              </a:xfrm>
              <a:prstGeom prst="rect">
                <a:avLst/>
              </a:prstGeom>
              <a:blipFill>
                <a:blip r:embed="rId6"/>
                <a:stretch>
                  <a:fillRect t="-110309" b="-167010"/>
                </a:stretch>
              </a:blipFill>
            </p:spPr>
            <p:txBody>
              <a:bodyPr/>
              <a:lstStyle/>
              <a:p>
                <a:r>
                  <a:rPr lang="en-VN">
                    <a:noFill/>
                  </a:rPr>
                  <a:t> </a:t>
                </a:r>
              </a:p>
            </p:txBody>
          </p:sp>
        </mc:Fallback>
      </mc:AlternateContent>
    </p:spTree>
    <p:extLst>
      <p:ext uri="{BB962C8B-B14F-4D97-AF65-F5344CB8AC3E}">
        <p14:creationId xmlns:p14="http://schemas.microsoft.com/office/powerpoint/2010/main" val="445753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a:xfrm>
            <a:off x="2609064" y="59057"/>
            <a:ext cx="3925872" cy="716692"/>
          </a:xfrm>
        </p:spPr>
        <p:txBody>
          <a:bodyPr/>
          <a:lstStyle/>
          <a:p>
            <a:r>
              <a:rPr lang="en-US" sz="3600" spc="-5" dirty="0" err="1">
                <a:solidFill>
                  <a:srgbClr val="002060"/>
                </a:solidFill>
                <a:latin typeface="Arial" panose="020B0604020202020204" pitchFamily="34" charset="0"/>
                <a:cs typeface="Arial" panose="020B0604020202020204" pitchFamily="34" charset="0"/>
              </a:rPr>
              <a:t>Kỳ</a:t>
            </a:r>
            <a:r>
              <a:rPr lang="en-US" sz="3600" spc="-5" dirty="0">
                <a:solidFill>
                  <a:srgbClr val="002060"/>
                </a:solidFill>
                <a:latin typeface="Arial" panose="020B0604020202020204" pitchFamily="34" charset="0"/>
                <a:cs typeface="Arial" panose="020B0604020202020204" pitchFamily="34" charset="0"/>
              </a:rPr>
              <a:t> </a:t>
            </a:r>
            <a:r>
              <a:rPr lang="en-US" sz="3600" spc="-5" dirty="0" err="1">
                <a:solidFill>
                  <a:srgbClr val="002060"/>
                </a:solidFill>
                <a:latin typeface="Arial" panose="020B0604020202020204" pitchFamily="34" charset="0"/>
                <a:cs typeface="Arial" panose="020B0604020202020204" pitchFamily="34" charset="0"/>
              </a:rPr>
              <a:t>vọng</a:t>
            </a:r>
            <a:endParaRPr lang="en-US" sz="3600" dirty="0">
              <a:solidFill>
                <a:srgbClr val="002060"/>
              </a:solidFill>
              <a:latin typeface="Arial" panose="020B0604020202020204" pitchFamily="34" charset="0"/>
              <a:cs typeface="Arial" panose="020B0604020202020204" pitchFamily="34" charset="0"/>
            </a:endParaRPr>
          </a:p>
        </p:txBody>
      </p:sp>
      <p:pic>
        <p:nvPicPr>
          <p:cNvPr id="3" name="Picture 2" descr="Dai Nam [PPT] Template 11.png">
            <a:extLst>
              <a:ext uri="{FF2B5EF4-FFF2-40B4-BE49-F238E27FC236}">
                <a16:creationId xmlns:a16="http://schemas.microsoft.com/office/drawing/2014/main" id="{A8ADF085-6594-4FF5-CC18-F5ECC62780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graphicFrame>
        <p:nvGraphicFramePr>
          <p:cNvPr id="2" name="Table 1">
            <a:extLst>
              <a:ext uri="{FF2B5EF4-FFF2-40B4-BE49-F238E27FC236}">
                <a16:creationId xmlns:a16="http://schemas.microsoft.com/office/drawing/2014/main" id="{42AC6222-06B0-30AD-AEFB-334A1694762C}"/>
              </a:ext>
            </a:extLst>
          </p:cNvPr>
          <p:cNvGraphicFramePr>
            <a:graphicFrameLocks noGrp="1"/>
          </p:cNvGraphicFramePr>
          <p:nvPr>
            <p:extLst>
              <p:ext uri="{D42A27DB-BD31-4B8C-83A1-F6EECF244321}">
                <p14:modId xmlns:p14="http://schemas.microsoft.com/office/powerpoint/2010/main" val="629077320"/>
              </p:ext>
            </p:extLst>
          </p:nvPr>
        </p:nvGraphicFramePr>
        <p:xfrm>
          <a:off x="868362" y="2259108"/>
          <a:ext cx="7407276" cy="1219200"/>
        </p:xfrm>
        <a:graphic>
          <a:graphicData uri="http://schemas.openxmlformats.org/drawingml/2006/table">
            <a:tbl>
              <a:tblPr>
                <a:tableStyleId>{775DCB02-9BB8-47FD-8907-85C794F793BA}</a:tableStyleId>
              </a:tblPr>
              <a:tblGrid>
                <a:gridCol w="2469092">
                  <a:extLst>
                    <a:ext uri="{9D8B030D-6E8A-4147-A177-3AD203B41FA5}">
                      <a16:colId xmlns:a16="http://schemas.microsoft.com/office/drawing/2014/main" val="2676483273"/>
                    </a:ext>
                  </a:extLst>
                </a:gridCol>
                <a:gridCol w="2469092">
                  <a:extLst>
                    <a:ext uri="{9D8B030D-6E8A-4147-A177-3AD203B41FA5}">
                      <a16:colId xmlns:a16="http://schemas.microsoft.com/office/drawing/2014/main" val="717647186"/>
                    </a:ext>
                  </a:extLst>
                </a:gridCol>
                <a:gridCol w="2469092">
                  <a:extLst>
                    <a:ext uri="{9D8B030D-6E8A-4147-A177-3AD203B41FA5}">
                      <a16:colId xmlns:a16="http://schemas.microsoft.com/office/drawing/2014/main" val="391141186"/>
                    </a:ext>
                  </a:extLst>
                </a:gridCol>
              </a:tblGrid>
              <a:tr h="304800">
                <a:tc>
                  <a:txBody>
                    <a:bodyPr/>
                    <a:lstStyle/>
                    <a:p>
                      <a:pPr>
                        <a:buNone/>
                      </a:pPr>
                      <a:r>
                        <a:rPr lang="en-US" sz="1400"/>
                        <a:t>Món ăn</a:t>
                      </a:r>
                    </a:p>
                  </a:txBody>
                  <a:tcPr anchor="ctr"/>
                </a:tc>
                <a:tc>
                  <a:txBody>
                    <a:bodyPr/>
                    <a:lstStyle/>
                    <a:p>
                      <a:pPr>
                        <a:buNone/>
                      </a:pPr>
                      <a:r>
                        <a:rPr lang="en-US" sz="1400" dirty="0" err="1"/>
                        <a:t>Giá</a:t>
                      </a:r>
                      <a:r>
                        <a:rPr lang="en-US" sz="1400" dirty="0"/>
                        <a:t> (</a:t>
                      </a:r>
                      <a:r>
                        <a:rPr lang="en-US" sz="1400" dirty="0" err="1"/>
                        <a:t>nghìn</a:t>
                      </a:r>
                      <a:r>
                        <a:rPr lang="en-US" sz="1400" dirty="0"/>
                        <a:t> </a:t>
                      </a:r>
                      <a:r>
                        <a:rPr lang="en-US" sz="1400" dirty="0" err="1"/>
                        <a:t>đồng</a:t>
                      </a:r>
                      <a:r>
                        <a:rPr lang="en-US" sz="1400" dirty="0"/>
                        <a:t>)</a:t>
                      </a:r>
                    </a:p>
                  </a:txBody>
                  <a:tcPr anchor="ctr"/>
                </a:tc>
                <a:tc>
                  <a:txBody>
                    <a:bodyPr/>
                    <a:lstStyle/>
                    <a:p>
                      <a:pPr>
                        <a:buNone/>
                      </a:pPr>
                      <a:r>
                        <a:rPr lang="en-US" sz="1400"/>
                        <a:t>Xác suất bạn chọn</a:t>
                      </a:r>
                    </a:p>
                  </a:txBody>
                  <a:tcPr anchor="ctr"/>
                </a:tc>
                <a:extLst>
                  <a:ext uri="{0D108BD9-81ED-4DB2-BD59-A6C34878D82A}">
                    <a16:rowId xmlns:a16="http://schemas.microsoft.com/office/drawing/2014/main" val="2523562099"/>
                  </a:ext>
                </a:extLst>
              </a:tr>
              <a:tr h="304800">
                <a:tc>
                  <a:txBody>
                    <a:bodyPr/>
                    <a:lstStyle/>
                    <a:p>
                      <a:pPr>
                        <a:buNone/>
                      </a:pPr>
                      <a:r>
                        <a:rPr lang="en-US" sz="1400"/>
                        <a:t>Bánh mì</a:t>
                      </a:r>
                    </a:p>
                  </a:txBody>
                  <a:tcPr anchor="ctr"/>
                </a:tc>
                <a:tc>
                  <a:txBody>
                    <a:bodyPr/>
                    <a:lstStyle/>
                    <a:p>
                      <a:pPr>
                        <a:buNone/>
                      </a:pPr>
                      <a:r>
                        <a:rPr lang="en-VN" sz="1400"/>
                        <a:t>15</a:t>
                      </a:r>
                    </a:p>
                  </a:txBody>
                  <a:tcPr anchor="ctr"/>
                </a:tc>
                <a:tc>
                  <a:txBody>
                    <a:bodyPr/>
                    <a:lstStyle/>
                    <a:p>
                      <a:pPr>
                        <a:buNone/>
                      </a:pPr>
                      <a:r>
                        <a:rPr lang="en-VN" sz="1400"/>
                        <a:t>0.4</a:t>
                      </a:r>
                    </a:p>
                  </a:txBody>
                  <a:tcPr anchor="ctr"/>
                </a:tc>
                <a:extLst>
                  <a:ext uri="{0D108BD9-81ED-4DB2-BD59-A6C34878D82A}">
                    <a16:rowId xmlns:a16="http://schemas.microsoft.com/office/drawing/2014/main" val="1051679133"/>
                  </a:ext>
                </a:extLst>
              </a:tr>
              <a:tr h="304800">
                <a:tc>
                  <a:txBody>
                    <a:bodyPr/>
                    <a:lstStyle/>
                    <a:p>
                      <a:pPr>
                        <a:buNone/>
                      </a:pPr>
                      <a:r>
                        <a:rPr lang="en-US" sz="1400"/>
                        <a:t>Xôi</a:t>
                      </a:r>
                    </a:p>
                  </a:txBody>
                  <a:tcPr anchor="ctr"/>
                </a:tc>
                <a:tc>
                  <a:txBody>
                    <a:bodyPr/>
                    <a:lstStyle/>
                    <a:p>
                      <a:pPr>
                        <a:buNone/>
                      </a:pPr>
                      <a:r>
                        <a:rPr lang="en-VN" sz="1400"/>
                        <a:t>10</a:t>
                      </a:r>
                    </a:p>
                  </a:txBody>
                  <a:tcPr anchor="ctr"/>
                </a:tc>
                <a:tc>
                  <a:txBody>
                    <a:bodyPr/>
                    <a:lstStyle/>
                    <a:p>
                      <a:pPr>
                        <a:buNone/>
                      </a:pPr>
                      <a:r>
                        <a:rPr lang="en-VN" sz="1400"/>
                        <a:t>0.3</a:t>
                      </a:r>
                    </a:p>
                  </a:txBody>
                  <a:tcPr anchor="ctr"/>
                </a:tc>
                <a:extLst>
                  <a:ext uri="{0D108BD9-81ED-4DB2-BD59-A6C34878D82A}">
                    <a16:rowId xmlns:a16="http://schemas.microsoft.com/office/drawing/2014/main" val="75716530"/>
                  </a:ext>
                </a:extLst>
              </a:tr>
              <a:tr h="304800">
                <a:tc>
                  <a:txBody>
                    <a:bodyPr/>
                    <a:lstStyle/>
                    <a:p>
                      <a:pPr>
                        <a:buNone/>
                      </a:pPr>
                      <a:r>
                        <a:rPr lang="en-US" sz="1400"/>
                        <a:t>Nhịn ăn (không ăn)</a:t>
                      </a:r>
                    </a:p>
                  </a:txBody>
                  <a:tcPr anchor="ctr"/>
                </a:tc>
                <a:tc>
                  <a:txBody>
                    <a:bodyPr/>
                    <a:lstStyle/>
                    <a:p>
                      <a:pPr>
                        <a:buNone/>
                      </a:pPr>
                      <a:r>
                        <a:rPr lang="en-VN" sz="1400" dirty="0"/>
                        <a:t>0</a:t>
                      </a:r>
                    </a:p>
                  </a:txBody>
                  <a:tcPr anchor="ctr"/>
                </a:tc>
                <a:tc>
                  <a:txBody>
                    <a:bodyPr/>
                    <a:lstStyle/>
                    <a:p>
                      <a:pPr>
                        <a:buNone/>
                      </a:pPr>
                      <a:r>
                        <a:rPr lang="en-VN" sz="1400" dirty="0"/>
                        <a:t>0.3</a:t>
                      </a:r>
                    </a:p>
                  </a:txBody>
                  <a:tcPr anchor="ctr"/>
                </a:tc>
                <a:extLst>
                  <a:ext uri="{0D108BD9-81ED-4DB2-BD59-A6C34878D82A}">
                    <a16:rowId xmlns:a16="http://schemas.microsoft.com/office/drawing/2014/main" val="4069419978"/>
                  </a:ext>
                </a:extLst>
              </a:tr>
            </a:tbl>
          </a:graphicData>
        </a:graphic>
      </p:graphicFrame>
      <p:sp>
        <p:nvSpPr>
          <p:cNvPr id="4" name="Rectangle 1">
            <a:extLst>
              <a:ext uri="{FF2B5EF4-FFF2-40B4-BE49-F238E27FC236}">
                <a16:creationId xmlns:a16="http://schemas.microsoft.com/office/drawing/2014/main" id="{FCD20C74-6503-4E65-E5B6-F4CBC856B5C8}"/>
              </a:ext>
            </a:extLst>
          </p:cNvPr>
          <p:cNvSpPr>
            <a:spLocks noChangeArrowheads="1"/>
          </p:cNvSpPr>
          <p:nvPr/>
        </p:nvSpPr>
        <p:spPr bwMode="auto">
          <a:xfrm>
            <a:off x="868363" y="974928"/>
            <a:ext cx="588494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VN" altLang="en-VN" sz="1800" b="0" i="0" u="none" strike="noStrike" cap="none" normalizeH="0" baseline="0" dirty="0">
                <a:ln>
                  <a:noFill/>
                </a:ln>
                <a:solidFill>
                  <a:schemeClr val="tx1"/>
                </a:solidFill>
                <a:effectLst/>
                <a:latin typeface="Arial" panose="020B0604020202020204" pitchFamily="34" charset="0"/>
              </a:rPr>
              <a:t>Một sinh viên có 3 lựa chọn ăn sáng mỗi ngày:</a:t>
            </a:r>
          </a:p>
          <a:p>
            <a:pPr marL="0" marR="0" lvl="0" indent="0" algn="l" defTabSz="914400" rtl="0" eaLnBrk="0" fontAlgn="base" latinLnBrk="0" hangingPunct="0">
              <a:lnSpc>
                <a:spcPct val="100000"/>
              </a:lnSpc>
              <a:spcBef>
                <a:spcPct val="0"/>
              </a:spcBef>
              <a:spcAft>
                <a:spcPct val="0"/>
              </a:spcAft>
              <a:buClrTx/>
              <a:buSzTx/>
              <a:buFontTx/>
              <a:buNone/>
              <a:tabLst/>
            </a:pPr>
            <a:r>
              <a:rPr kumimoji="0" lang="en-VN" altLang="en-VN" sz="1800" b="0" i="0" u="none" strike="noStrike" cap="none" normalizeH="0" baseline="0" dirty="0">
                <a:ln>
                  <a:noFill/>
                </a:ln>
                <a:solidFill>
                  <a:schemeClr val="tx1"/>
                </a:solidFill>
                <a:effectLst/>
                <a:latin typeface="Arial" panose="020B0604020202020204" pitchFamily="34" charset="0"/>
              </a:rPr>
              <a:t>Gọi X = </a:t>
            </a:r>
            <a:r>
              <a:rPr kumimoji="0" lang="en-VN" altLang="en-VN" sz="1800" b="1" i="0" u="none" strike="noStrike" cap="none" normalizeH="0" baseline="0" dirty="0">
                <a:ln>
                  <a:noFill/>
                </a:ln>
                <a:solidFill>
                  <a:schemeClr val="tx1"/>
                </a:solidFill>
                <a:effectLst/>
                <a:latin typeface="Arial" panose="020B0604020202020204" pitchFamily="34" charset="0"/>
              </a:rPr>
              <a:t>số tiền bạn chi cho bữa sáng trong 1 ngày</a:t>
            </a:r>
            <a:r>
              <a:rPr kumimoji="0" lang="en-VN" altLang="en-VN"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VN" altLang="en-VN" sz="1800" b="1" i="0" u="none" strike="noStrike" cap="none" normalizeH="0" baseline="0" dirty="0">
                <a:ln>
                  <a:noFill/>
                </a:ln>
                <a:solidFill>
                  <a:schemeClr val="tx1"/>
                </a:solidFill>
                <a:effectLst/>
                <a:latin typeface="Arial" panose="020B0604020202020204" pitchFamily="34" charset="0"/>
              </a:rPr>
              <a:t>Hãy tính kỳ vọng E(X).</a:t>
            </a:r>
            <a:endParaRPr kumimoji="0" lang="en-VN" altLang="en-V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9804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6F94754-2D0B-EA4C-A401-64C80710B4E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DBE3D8-CE76-74D3-1221-A806F2EC4B09}"/>
              </a:ext>
            </a:extLst>
          </p:cNvPr>
          <p:cNvSpPr>
            <a:spLocks noGrp="1"/>
          </p:cNvSpPr>
          <p:nvPr>
            <p:ph type="title"/>
          </p:nvPr>
        </p:nvSpPr>
        <p:spPr>
          <a:xfrm>
            <a:off x="2609064" y="59057"/>
            <a:ext cx="3925872" cy="716692"/>
          </a:xfrm>
        </p:spPr>
        <p:txBody>
          <a:bodyPr/>
          <a:lstStyle/>
          <a:p>
            <a:r>
              <a:rPr lang="en-US" sz="3600" spc="-5" dirty="0" err="1">
                <a:solidFill>
                  <a:srgbClr val="002060"/>
                </a:solidFill>
                <a:latin typeface="Arial" panose="020B0604020202020204" pitchFamily="34" charset="0"/>
                <a:cs typeface="Arial" panose="020B0604020202020204" pitchFamily="34" charset="0"/>
              </a:rPr>
              <a:t>Kỳ</a:t>
            </a:r>
            <a:r>
              <a:rPr lang="en-US" sz="3600" spc="-5" dirty="0">
                <a:solidFill>
                  <a:srgbClr val="002060"/>
                </a:solidFill>
                <a:latin typeface="Arial" panose="020B0604020202020204" pitchFamily="34" charset="0"/>
                <a:cs typeface="Arial" panose="020B0604020202020204" pitchFamily="34" charset="0"/>
              </a:rPr>
              <a:t> </a:t>
            </a:r>
            <a:r>
              <a:rPr lang="en-US" sz="3600" spc="-5" dirty="0" err="1">
                <a:solidFill>
                  <a:srgbClr val="002060"/>
                </a:solidFill>
                <a:latin typeface="Arial" panose="020B0604020202020204" pitchFamily="34" charset="0"/>
                <a:cs typeface="Arial" panose="020B0604020202020204" pitchFamily="34" charset="0"/>
              </a:rPr>
              <a:t>vọng</a:t>
            </a:r>
            <a:endParaRPr lang="en-US" sz="3600" dirty="0">
              <a:solidFill>
                <a:srgbClr val="002060"/>
              </a:solidFill>
              <a:latin typeface="Arial" panose="020B0604020202020204" pitchFamily="34" charset="0"/>
              <a:cs typeface="Arial" panose="020B0604020202020204" pitchFamily="34" charset="0"/>
            </a:endParaRPr>
          </a:p>
        </p:txBody>
      </p:sp>
      <p:pic>
        <p:nvPicPr>
          <p:cNvPr id="3" name="Picture 2" descr="Dai Nam [PPT] Template 11.png">
            <a:extLst>
              <a:ext uri="{FF2B5EF4-FFF2-40B4-BE49-F238E27FC236}">
                <a16:creationId xmlns:a16="http://schemas.microsoft.com/office/drawing/2014/main" id="{5FD8F74B-525D-76DD-9620-BC1B6ADC47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
        <p:nvSpPr>
          <p:cNvPr id="10" name="TextBox 9">
            <a:extLst>
              <a:ext uri="{FF2B5EF4-FFF2-40B4-BE49-F238E27FC236}">
                <a16:creationId xmlns:a16="http://schemas.microsoft.com/office/drawing/2014/main" id="{A7CC7366-13AD-8A56-B4C9-5D93542DEFB5}"/>
              </a:ext>
            </a:extLst>
          </p:cNvPr>
          <p:cNvSpPr txBox="1"/>
          <p:nvPr/>
        </p:nvSpPr>
        <p:spPr>
          <a:xfrm>
            <a:off x="274320" y="1063500"/>
            <a:ext cx="8300720" cy="3244093"/>
          </a:xfrm>
          <a:prstGeom prst="rect">
            <a:avLst/>
          </a:prstGeom>
          <a:noFill/>
        </p:spPr>
        <p:txBody>
          <a:bodyPr wrap="square">
            <a:spAutoFit/>
          </a:bodyPr>
          <a:lstStyle/>
          <a:p>
            <a:pPr algn="just">
              <a:lnSpc>
                <a:spcPct val="150000"/>
              </a:lnSpc>
            </a:pPr>
            <a:r>
              <a:rPr lang="vi-VN" sz="2800" dirty="0">
                <a:solidFill>
                  <a:srgbClr val="002060"/>
                </a:solidFill>
                <a:effectLst/>
                <a:latin typeface="Arial" panose="020B0604020202020204" pitchFamily="34" charset="0"/>
                <a:cs typeface="Arial" panose="020B0604020202020204" pitchFamily="34" charset="0"/>
              </a:rPr>
              <a:t>Một công nhân phụ trách 3 máy dệt tự động. Trong một giờ, xác suất các máy cần sự điều chỉnh là 0.1, 0.2 và 0.3. Gọi X là số máy cần sự điều chỉnh trong một giờ. Lập bảng phân bố xác suất của X. Tính kỳ vọng của X. </a:t>
            </a:r>
            <a:endParaRPr lang="vi-VN" sz="28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5109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24</a:t>
            </a:fld>
            <a:endParaRPr lang="en"/>
          </a:p>
        </p:txBody>
      </p:sp>
      <p:sp>
        <p:nvSpPr>
          <p:cNvPr id="5" name="Title 1"/>
          <p:cNvSpPr>
            <a:spLocks noGrp="1"/>
          </p:cNvSpPr>
          <p:nvPr>
            <p:ph type="title"/>
          </p:nvPr>
        </p:nvSpPr>
        <p:spPr>
          <a:xfrm>
            <a:off x="2793427" y="82296"/>
            <a:ext cx="3557146" cy="640080"/>
          </a:xfrm>
        </p:spPr>
        <p:txBody>
          <a:bodyPr/>
          <a:lstStyle/>
          <a:p>
            <a:r>
              <a:rPr lang="en-US" sz="3200" spc="-5" dirty="0" err="1">
                <a:solidFill>
                  <a:srgbClr val="002060"/>
                </a:solidFill>
                <a:latin typeface="Arial" panose="020B0604020202020204" pitchFamily="34" charset="0"/>
                <a:cs typeface="Arial" panose="020B0604020202020204" pitchFamily="34" charset="0"/>
              </a:rPr>
              <a:t>Kỳ</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vọng</a:t>
            </a:r>
            <a:endParaRPr lang="en-US" sz="3200"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Google Shape;278;p20"/>
              <p:cNvSpPr txBox="1">
                <a:spLocks/>
              </p:cNvSpPr>
              <p:nvPr/>
            </p:nvSpPr>
            <p:spPr>
              <a:xfrm>
                <a:off x="786384" y="1049901"/>
                <a:ext cx="6885071" cy="22846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60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1pPr>
                <a:lvl2pPr marL="914400" marR="0" lvl="1"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2pPr>
                <a:lvl3pPr marL="1371600" marR="0" lvl="2"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3pPr>
                <a:lvl4pPr marL="1828800" marR="0" lvl="3"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4pPr>
                <a:lvl5pPr marL="2286000" marR="0" lvl="4"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5pPr>
                <a:lvl6pPr marL="2743200" marR="0" lvl="5"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6pPr>
                <a:lvl7pPr marL="3200400" marR="0" lvl="6"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7pPr>
                <a:lvl8pPr marL="3657600" marR="0" lvl="7"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8pPr>
                <a:lvl9pPr marL="4114800" marR="0" lvl="8"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9pPr>
              </a:lstStyle>
              <a:p>
                <a:pPr marL="0" indent="0" algn="just">
                  <a:lnSpc>
                    <a:spcPct val="120000"/>
                  </a:lnSpc>
                  <a:spcBef>
                    <a:spcPts val="0"/>
                  </a:spcBef>
                  <a:buFont typeface="Varela Round"/>
                  <a:buNone/>
                </a:pPr>
                <a:r>
                  <a:rPr lang="en-US" sz="2000" b="1" dirty="0">
                    <a:solidFill>
                      <a:srgbClr val="002060"/>
                    </a:solidFill>
                    <a:latin typeface="Arial" panose="020B0604020202020204" pitchFamily="34" charset="0"/>
                    <a:cs typeface="Arial" panose="020B0604020202020204" pitchFamily="34" charset="0"/>
                  </a:rPr>
                  <a:t>Tính </a:t>
                </a:r>
                <a:r>
                  <a:rPr lang="en-US" sz="2000" b="1" dirty="0" err="1">
                    <a:solidFill>
                      <a:srgbClr val="002060"/>
                    </a:solidFill>
                    <a:latin typeface="Arial" panose="020B0604020202020204" pitchFamily="34" charset="0"/>
                    <a:cs typeface="Arial" panose="020B0604020202020204" pitchFamily="34" charset="0"/>
                  </a:rPr>
                  <a:t>chất</a:t>
                </a:r>
                <a:endParaRPr lang="en-US" sz="2000" b="1" dirty="0">
                  <a:solidFill>
                    <a:srgbClr val="002060"/>
                  </a:solidFill>
                  <a:latin typeface="Arial" panose="020B0604020202020204" pitchFamily="34" charset="0"/>
                  <a:cs typeface="Arial" panose="020B0604020202020204" pitchFamily="34" charset="0"/>
                </a:endParaRPr>
              </a:p>
              <a:p>
                <a:pPr marL="800100" lvl="2" indent="-342900" algn="just">
                  <a:lnSpc>
                    <a:spcPct val="120000"/>
                  </a:lnSpc>
                </a:pPr>
                <a14:m>
                  <m:oMath xmlns:m="http://schemas.openxmlformats.org/officeDocument/2006/math">
                    <m:r>
                      <a:rPr lang="en-US" sz="2000" b="0" i="1" dirty="0" smtClean="0">
                        <a:solidFill>
                          <a:srgbClr val="002060"/>
                        </a:solidFill>
                        <a:latin typeface="Cambria Math" panose="02040503050406030204" pitchFamily="18" charset="0"/>
                        <a:cs typeface="Times New Roman" panose="02020603050405020304" pitchFamily="18" charset="0"/>
                      </a:rPr>
                      <m:t>𝐸</m:t>
                    </m:r>
                    <m:d>
                      <m:dPr>
                        <m:ctrlPr>
                          <a:rPr lang="en-US" sz="2000" b="0" i="1" dirty="0" smtClean="0">
                            <a:solidFill>
                              <a:srgbClr val="002060"/>
                            </a:solidFill>
                            <a:latin typeface="Cambria Math" panose="02040503050406030204" pitchFamily="18" charset="0"/>
                            <a:cs typeface="Times New Roman" panose="02020603050405020304" pitchFamily="18" charset="0"/>
                          </a:rPr>
                        </m:ctrlPr>
                      </m:dPr>
                      <m:e>
                        <m:r>
                          <m:rPr>
                            <m:sty m:val="p"/>
                          </m:rPr>
                          <a:rPr lang="en-US" sz="2000" i="1" dirty="0">
                            <a:solidFill>
                              <a:srgbClr val="002060"/>
                            </a:solidFill>
                            <a:latin typeface="Cambria Math" panose="02040503050406030204" pitchFamily="18" charset="0"/>
                            <a:cs typeface="Times New Roman" panose="02020603050405020304" pitchFamily="18" charset="0"/>
                          </a:rPr>
                          <m:t>c</m:t>
                        </m:r>
                      </m:e>
                    </m:d>
                    <m:r>
                      <a:rPr lang="en-US" sz="2000" b="0" i="1" dirty="0" smtClean="0">
                        <a:solidFill>
                          <a:srgbClr val="002060"/>
                        </a:solidFill>
                        <a:latin typeface="Cambria Math" panose="02040503050406030204" pitchFamily="18" charset="0"/>
                        <a:cs typeface="Times New Roman" panose="02020603050405020304" pitchFamily="18" charset="0"/>
                      </a:rPr>
                      <m:t>=</m:t>
                    </m:r>
                    <m:r>
                      <m:rPr>
                        <m:sty m:val="p"/>
                      </m:rPr>
                      <a:rPr lang="en-US" sz="2000" i="1" dirty="0">
                        <a:solidFill>
                          <a:srgbClr val="002060"/>
                        </a:solidFill>
                        <a:latin typeface="Cambria Math" panose="02040503050406030204" pitchFamily="18" charset="0"/>
                        <a:cs typeface="Times New Roman" panose="02020603050405020304" pitchFamily="18" charset="0"/>
                      </a:rPr>
                      <m:t>c</m:t>
                    </m:r>
                    <m:r>
                      <a:rPr lang="en-US" sz="2000" b="0" i="1" dirty="0" smtClean="0">
                        <a:solidFill>
                          <a:srgbClr val="002060"/>
                        </a:solidFill>
                        <a:latin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cs typeface="Times New Roman" panose="02020603050405020304" pitchFamily="18" charset="0"/>
                      </a:rPr>
                      <m:t>𝐸</m:t>
                    </m:r>
                    <m:d>
                      <m:dPr>
                        <m:ctrlPr>
                          <a:rPr lang="en-US" sz="2000" i="1" dirty="0">
                            <a:solidFill>
                              <a:srgbClr val="002060"/>
                            </a:solidFill>
                            <a:latin typeface="Cambria Math" panose="02040503050406030204" pitchFamily="18" charset="0"/>
                            <a:cs typeface="Times New Roman" panose="02020603050405020304" pitchFamily="18" charset="0"/>
                          </a:rPr>
                        </m:ctrlPr>
                      </m:dPr>
                      <m:e>
                        <m:r>
                          <a:rPr lang="en-US" sz="2000" i="1" dirty="0">
                            <a:solidFill>
                              <a:srgbClr val="002060"/>
                            </a:solidFill>
                            <a:latin typeface="Cambria Math" panose="02040503050406030204" pitchFamily="18" charset="0"/>
                            <a:cs typeface="Times New Roman" panose="02020603050405020304" pitchFamily="18" charset="0"/>
                          </a:rPr>
                          <m:t>𝑐</m:t>
                        </m:r>
                        <m:r>
                          <a:rPr lang="en-US" sz="2000" b="0" i="1" dirty="0" smtClean="0">
                            <a:solidFill>
                              <a:srgbClr val="002060"/>
                            </a:solidFill>
                            <a:latin typeface="Cambria Math" panose="02040503050406030204" pitchFamily="18" charset="0"/>
                            <a:cs typeface="Times New Roman" panose="02020603050405020304" pitchFamily="18" charset="0"/>
                          </a:rPr>
                          <m:t>𝑋</m:t>
                        </m:r>
                      </m:e>
                    </m:d>
                    <m:r>
                      <a:rPr lang="en-US" sz="2000" i="1" dirty="0">
                        <a:solidFill>
                          <a:srgbClr val="002060"/>
                        </a:solidFill>
                        <a:latin typeface="Cambria Math" panose="02040503050406030204" pitchFamily="18" charset="0"/>
                        <a:cs typeface="Times New Roman" panose="02020603050405020304" pitchFamily="18" charset="0"/>
                      </a:rPr>
                      <m:t>=</m:t>
                    </m:r>
                    <m:r>
                      <a:rPr lang="en-US" sz="2000" i="1" dirty="0">
                        <a:solidFill>
                          <a:srgbClr val="002060"/>
                        </a:solidFill>
                        <a:latin typeface="Cambria Math" panose="02040503050406030204" pitchFamily="18" charset="0"/>
                        <a:cs typeface="Times New Roman" panose="02020603050405020304" pitchFamily="18" charset="0"/>
                      </a:rPr>
                      <m:t>𝑐𝐸</m:t>
                    </m:r>
                    <m:r>
                      <a:rPr lang="en-US" sz="2000" b="0" i="1" dirty="0" smtClean="0">
                        <a:solidFill>
                          <a:srgbClr val="002060"/>
                        </a:solidFill>
                        <a:latin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cs typeface="Times New Roman" panose="02020603050405020304" pitchFamily="18" charset="0"/>
                      </a:rPr>
                      <m:t>𝑋</m:t>
                    </m:r>
                    <m:r>
                      <a:rPr lang="en-US" sz="2000" b="0" i="1" dirty="0" smtClean="0">
                        <a:solidFill>
                          <a:srgbClr val="002060"/>
                        </a:solidFill>
                        <a:latin typeface="Cambria Math" panose="02040503050406030204" pitchFamily="18" charset="0"/>
                        <a:cs typeface="Times New Roman" panose="02020603050405020304" pitchFamily="18" charset="0"/>
                      </a:rPr>
                      <m:t>)</m:t>
                    </m:r>
                  </m:oMath>
                </a14:m>
                <a:r>
                  <a:rPr lang="en-US" sz="2000" b="0" i="1"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với</a:t>
                </a:r>
                <a:r>
                  <a:rPr lang="en-US" sz="2000" b="0" dirty="0">
                    <a:solidFill>
                      <a:srgbClr val="002060"/>
                    </a:solidFill>
                    <a:latin typeface="Arial" panose="020B0604020202020204" pitchFamily="34" charset="0"/>
                    <a:cs typeface="Arial" panose="020B0604020202020204" pitchFamily="34" charset="0"/>
                  </a:rPr>
                  <a:t> C </a:t>
                </a:r>
                <a:r>
                  <a:rPr lang="en-US" sz="2000" b="0" dirty="0" err="1">
                    <a:solidFill>
                      <a:srgbClr val="002060"/>
                    </a:solidFill>
                    <a:latin typeface="Arial" panose="020B0604020202020204" pitchFamily="34" charset="0"/>
                    <a:cs typeface="Arial" panose="020B0604020202020204" pitchFamily="34" charset="0"/>
                  </a:rPr>
                  <a:t>là</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hằng</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số</a:t>
                </a:r>
                <a:endParaRPr lang="en-US" sz="2000" b="0" dirty="0">
                  <a:solidFill>
                    <a:srgbClr val="002060"/>
                  </a:solidFill>
                  <a:latin typeface="Arial" panose="020B0604020202020204" pitchFamily="34" charset="0"/>
                  <a:cs typeface="Arial" panose="020B0604020202020204" pitchFamily="34" charset="0"/>
                </a:endParaRPr>
              </a:p>
              <a:p>
                <a:pPr marL="800100" lvl="2" indent="-342900" algn="just">
                  <a:lnSpc>
                    <a:spcPct val="120000"/>
                  </a:lnSpc>
                </a:pPr>
                <a14:m>
                  <m:oMath xmlns:m="http://schemas.openxmlformats.org/officeDocument/2006/math">
                    <m:r>
                      <a:rPr lang="en-US" sz="2000" b="0" i="1" dirty="0" smtClean="0">
                        <a:solidFill>
                          <a:srgbClr val="002060"/>
                        </a:solidFill>
                        <a:latin typeface="Cambria Math" panose="02040503050406030204" pitchFamily="18" charset="0"/>
                        <a:cs typeface="Times New Roman" panose="02020603050405020304" pitchFamily="18" charset="0"/>
                      </a:rPr>
                      <m:t>𝐸</m:t>
                    </m:r>
                    <m:d>
                      <m:dPr>
                        <m:ctrlPr>
                          <a:rPr lang="en-US" sz="2000" i="1" dirty="0">
                            <a:solidFill>
                              <a:srgbClr val="002060"/>
                            </a:solidFill>
                            <a:latin typeface="Cambria Math" panose="02040503050406030204" pitchFamily="18" charset="0"/>
                            <a:cs typeface="Times New Roman" panose="02020603050405020304" pitchFamily="18" charset="0"/>
                          </a:rPr>
                        </m:ctrlPr>
                      </m:dPr>
                      <m:e>
                        <m:r>
                          <a:rPr lang="en-US" sz="2000" b="0" i="1" dirty="0" smtClean="0">
                            <a:solidFill>
                              <a:srgbClr val="002060"/>
                            </a:solidFill>
                            <a:latin typeface="Cambria Math" panose="02040503050406030204" pitchFamily="18" charset="0"/>
                            <a:cs typeface="Times New Roman" panose="02020603050405020304" pitchFamily="18" charset="0"/>
                          </a:rPr>
                          <m:t>𝑋</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𝑌</m:t>
                        </m:r>
                      </m:e>
                    </m:d>
                    <m:r>
                      <a:rPr lang="en-US" sz="2000" i="1" dirty="0">
                        <a:solidFill>
                          <a:srgbClr val="002060"/>
                        </a:solidFill>
                        <a:latin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cs typeface="Times New Roman" panose="02020603050405020304" pitchFamily="18" charset="0"/>
                      </a:rPr>
                      <m:t>𝐸</m:t>
                    </m:r>
                    <m:r>
                      <a:rPr lang="en-US" sz="2000" b="0" i="1" dirty="0" smtClean="0">
                        <a:solidFill>
                          <a:srgbClr val="002060"/>
                        </a:solidFill>
                        <a:latin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cs typeface="Times New Roman" panose="02020603050405020304" pitchFamily="18" charset="0"/>
                      </a:rPr>
                      <m:t>𝑋</m:t>
                    </m:r>
                    <m:r>
                      <a:rPr lang="en-US" sz="2000" b="0" i="1" dirty="0" smtClean="0">
                        <a:solidFill>
                          <a:srgbClr val="002060"/>
                        </a:solidFill>
                        <a:latin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𝐸</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𝑌</m:t>
                    </m:r>
                    <m:r>
                      <a:rPr lang="en-US" sz="20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000" b="0" i="1" dirty="0">
                  <a:solidFill>
                    <a:srgbClr val="002060"/>
                  </a:solidFill>
                  <a:latin typeface="Arial" panose="020B0604020202020204" pitchFamily="34" charset="0"/>
                  <a:cs typeface="Arial" panose="020B0604020202020204" pitchFamily="34" charset="0"/>
                </a:endParaRPr>
              </a:p>
              <a:p>
                <a:pPr marL="800100" lvl="2" indent="-342900" algn="just">
                  <a:lnSpc>
                    <a:spcPct val="120000"/>
                  </a:lnSpc>
                </a:pPr>
                <a14:m>
                  <m:oMath xmlns:m="http://schemas.openxmlformats.org/officeDocument/2006/math">
                    <m:r>
                      <a:rPr lang="en-US" sz="2000" b="0" i="1" dirty="0" smtClean="0">
                        <a:solidFill>
                          <a:srgbClr val="002060"/>
                        </a:solidFill>
                        <a:latin typeface="Cambria Math" panose="02040503050406030204" pitchFamily="18" charset="0"/>
                        <a:cs typeface="Times New Roman" panose="02020603050405020304" pitchFamily="18" charset="0"/>
                      </a:rPr>
                      <m:t>𝐸</m:t>
                    </m:r>
                    <m:d>
                      <m:dPr>
                        <m:ctrlPr>
                          <a:rPr lang="en-US" sz="2000" b="0" i="1" dirty="0">
                            <a:solidFill>
                              <a:srgbClr val="002060"/>
                            </a:solidFill>
                            <a:latin typeface="Cambria Math" panose="02040503050406030204" pitchFamily="18" charset="0"/>
                            <a:cs typeface="Times New Roman" panose="02020603050405020304" pitchFamily="18" charset="0"/>
                          </a:rPr>
                        </m:ctrlPr>
                      </m:dPr>
                      <m:e>
                        <m:r>
                          <a:rPr lang="en-US" sz="2000" b="0" i="1" dirty="0" smtClean="0">
                            <a:solidFill>
                              <a:srgbClr val="002060"/>
                            </a:solidFill>
                            <a:latin typeface="Cambria Math" panose="02040503050406030204" pitchFamily="18" charset="0"/>
                            <a:cs typeface="Times New Roman" panose="02020603050405020304" pitchFamily="18" charset="0"/>
                          </a:rPr>
                          <m:t>𝑋𝑌</m:t>
                        </m:r>
                      </m:e>
                    </m:d>
                    <m:r>
                      <a:rPr lang="en-US" sz="2000" i="1" dirty="0">
                        <a:solidFill>
                          <a:srgbClr val="002060"/>
                        </a:solidFill>
                        <a:latin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cs typeface="Times New Roman" panose="02020603050405020304" pitchFamily="18" charset="0"/>
                      </a:rPr>
                      <m:t>𝐸</m:t>
                    </m:r>
                    <m:d>
                      <m:dPr>
                        <m:ctrlPr>
                          <a:rPr lang="en-US" sz="2000" b="0" i="1" dirty="0" smtClean="0">
                            <a:solidFill>
                              <a:srgbClr val="002060"/>
                            </a:solidFill>
                            <a:latin typeface="Cambria Math" panose="02040503050406030204" pitchFamily="18" charset="0"/>
                            <a:cs typeface="Times New Roman" panose="02020603050405020304" pitchFamily="18" charset="0"/>
                          </a:rPr>
                        </m:ctrlPr>
                      </m:dPr>
                      <m:e>
                        <m:r>
                          <a:rPr lang="en-US" sz="2000" b="0" i="1" dirty="0" smtClean="0">
                            <a:solidFill>
                              <a:srgbClr val="002060"/>
                            </a:solidFill>
                            <a:latin typeface="Cambria Math" panose="02040503050406030204" pitchFamily="18" charset="0"/>
                            <a:cs typeface="Times New Roman" panose="02020603050405020304" pitchFamily="18" charset="0"/>
                          </a:rPr>
                          <m:t>𝑋</m:t>
                        </m:r>
                      </m:e>
                    </m:d>
                    <m:r>
                      <a:rPr lang="en-US" sz="2000" b="0" i="1" dirty="0" smtClean="0">
                        <a:solidFill>
                          <a:srgbClr val="002060"/>
                        </a:solidFill>
                        <a:latin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cs typeface="Times New Roman" panose="02020603050405020304" pitchFamily="18" charset="0"/>
                      </a:rPr>
                      <m:t>𝐸</m:t>
                    </m:r>
                    <m:r>
                      <a:rPr lang="en-US" sz="2000" b="0" i="1" dirty="0" smtClean="0">
                        <a:solidFill>
                          <a:srgbClr val="002060"/>
                        </a:solidFill>
                        <a:latin typeface="Cambria Math" panose="02040503050406030204" pitchFamily="18" charset="0"/>
                        <a:cs typeface="Times New Roman" panose="02020603050405020304" pitchFamily="18" charset="0"/>
                      </a:rPr>
                      <m:t>(</m:t>
                    </m:r>
                    <m:r>
                      <a:rPr lang="en-US" sz="2000" b="0" i="1" dirty="0" smtClean="0">
                        <a:solidFill>
                          <a:srgbClr val="002060"/>
                        </a:solidFill>
                        <a:latin typeface="Cambria Math" panose="02040503050406030204" pitchFamily="18" charset="0"/>
                        <a:cs typeface="Times New Roman" panose="02020603050405020304" pitchFamily="18" charset="0"/>
                      </a:rPr>
                      <m:t>𝑌</m:t>
                    </m:r>
                    <m:r>
                      <a:rPr lang="en-US" sz="2000" b="0" i="1" dirty="0" smtClean="0">
                        <a:solidFill>
                          <a:srgbClr val="002060"/>
                        </a:solidFill>
                        <a:latin typeface="Cambria Math" panose="02040503050406030204" pitchFamily="18" charset="0"/>
                        <a:cs typeface="Times New Roman" panose="02020603050405020304" pitchFamily="18" charset="0"/>
                      </a:rPr>
                      <m:t>)</m:t>
                    </m:r>
                  </m:oMath>
                </a14:m>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nếu</a:t>
                </a:r>
                <a:r>
                  <a:rPr lang="en-US" sz="2000" dirty="0">
                    <a:solidFill>
                      <a:srgbClr val="002060"/>
                    </a:solidFill>
                    <a:latin typeface="Arial" panose="020B0604020202020204" pitchFamily="34" charset="0"/>
                    <a:cs typeface="Arial" panose="020B0604020202020204" pitchFamily="34" charset="0"/>
                  </a:rPr>
                  <a:t> </a:t>
                </a:r>
                <a:r>
                  <a:rPr lang="en-US" sz="2000" i="1" dirty="0">
                    <a:solidFill>
                      <a:srgbClr val="002060"/>
                    </a:solidFill>
                    <a:latin typeface="Arial" panose="020B0604020202020204" pitchFamily="34" charset="0"/>
                    <a:cs typeface="Arial" panose="020B0604020202020204" pitchFamily="34" charset="0"/>
                  </a:rPr>
                  <a:t>X, Y </a:t>
                </a:r>
                <a:r>
                  <a:rPr lang="en-US" sz="2000" dirty="0" err="1">
                    <a:solidFill>
                      <a:srgbClr val="002060"/>
                    </a:solidFill>
                    <a:latin typeface="Arial" panose="020B0604020202020204" pitchFamily="34" charset="0"/>
                    <a:cs typeface="Arial" panose="020B0604020202020204" pitchFamily="34" charset="0"/>
                  </a:rPr>
                  <a:t>là</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hai</a:t>
                </a:r>
                <a:r>
                  <a:rPr lang="en-US" sz="2000" dirty="0">
                    <a:solidFill>
                      <a:srgbClr val="002060"/>
                    </a:solidFill>
                    <a:latin typeface="Arial" panose="020B0604020202020204" pitchFamily="34" charset="0"/>
                    <a:cs typeface="Arial" panose="020B0604020202020204" pitchFamily="34" charset="0"/>
                  </a:rPr>
                  <a:t> BNN </a:t>
                </a:r>
                <a:r>
                  <a:rPr lang="en-US" sz="2000" dirty="0" err="1">
                    <a:solidFill>
                      <a:srgbClr val="002060"/>
                    </a:solidFill>
                    <a:latin typeface="Arial" panose="020B0604020202020204" pitchFamily="34" charset="0"/>
                    <a:cs typeface="Arial" panose="020B0604020202020204" pitchFamily="34" charset="0"/>
                  </a:rPr>
                  <a:t>độc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lập</a:t>
                </a:r>
                <a:endParaRPr lang="en-US" sz="2000" dirty="0">
                  <a:solidFill>
                    <a:srgbClr val="002060"/>
                  </a:solidFill>
                  <a:latin typeface="Arial" panose="020B0604020202020204" pitchFamily="34" charset="0"/>
                  <a:cs typeface="Arial" panose="020B0604020202020204" pitchFamily="34" charset="0"/>
                </a:endParaRPr>
              </a:p>
            </p:txBody>
          </p:sp>
        </mc:Choice>
        <mc:Fallback xmlns="">
          <p:sp>
            <p:nvSpPr>
              <p:cNvPr id="6" name="Google Shape;278;p20"/>
              <p:cNvSpPr txBox="1">
                <a:spLocks noRot="1" noChangeAspect="1" noMove="1" noResize="1" noEditPoints="1" noAdjustHandles="1" noChangeArrowheads="1" noChangeShapeType="1" noTextEdit="1"/>
              </p:cNvSpPr>
              <p:nvPr/>
            </p:nvSpPr>
            <p:spPr>
              <a:xfrm>
                <a:off x="786384" y="1049901"/>
                <a:ext cx="6885071" cy="2284643"/>
              </a:xfrm>
              <a:prstGeom prst="rect">
                <a:avLst/>
              </a:prstGeom>
              <a:blipFill>
                <a:blip r:embed="rId2"/>
                <a:stretch>
                  <a:fillRect l="-921"/>
                </a:stretch>
              </a:blipFill>
              <a:ln>
                <a:noFill/>
              </a:ln>
            </p:spPr>
            <p:txBody>
              <a:bodyPr/>
              <a:lstStyle/>
              <a:p>
                <a:r>
                  <a:rPr lang="en-VN">
                    <a:noFill/>
                  </a:rPr>
                  <a:t> </a:t>
                </a:r>
              </a:p>
            </p:txBody>
          </p:sp>
        </mc:Fallback>
      </mc:AlternateContent>
      <p:pic>
        <p:nvPicPr>
          <p:cNvPr id="2" name="Picture 1" descr="Dai Nam [PPT] Template 11.png">
            <a:extLst>
              <a:ext uri="{FF2B5EF4-FFF2-40B4-BE49-F238E27FC236}">
                <a16:creationId xmlns:a16="http://schemas.microsoft.com/office/drawing/2014/main" id="{CCB65DAA-24DA-BEBC-38ED-038AD2CEC2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
        <p:nvSpPr>
          <p:cNvPr id="3" name="Google Shape;278;p20">
            <a:extLst>
              <a:ext uri="{FF2B5EF4-FFF2-40B4-BE49-F238E27FC236}">
                <a16:creationId xmlns:a16="http://schemas.microsoft.com/office/drawing/2014/main" id="{7EC1BD23-8FD6-88A3-7B82-766F23771318}"/>
              </a:ext>
            </a:extLst>
          </p:cNvPr>
          <p:cNvSpPr txBox="1">
            <a:spLocks/>
          </p:cNvSpPr>
          <p:nvPr/>
        </p:nvSpPr>
        <p:spPr>
          <a:xfrm>
            <a:off x="786384" y="2924278"/>
            <a:ext cx="7717536" cy="12778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60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1pPr>
            <a:lvl2pPr marL="914400" marR="0" lvl="1"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2pPr>
            <a:lvl3pPr marL="1371600" marR="0" lvl="2"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3pPr>
            <a:lvl4pPr marL="1828800" marR="0" lvl="3"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4pPr>
            <a:lvl5pPr marL="2286000" marR="0" lvl="4"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5pPr>
            <a:lvl6pPr marL="2743200" marR="0" lvl="5"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6pPr>
            <a:lvl7pPr marL="3200400" marR="0" lvl="6"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7pPr>
            <a:lvl8pPr marL="3657600" marR="0" lvl="7"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8pPr>
            <a:lvl9pPr marL="4114800" marR="0" lvl="8"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9pPr>
          </a:lstStyle>
          <a:p>
            <a:pPr marL="0" indent="0" algn="just">
              <a:lnSpc>
                <a:spcPct val="120000"/>
              </a:lnSpc>
              <a:spcBef>
                <a:spcPts val="0"/>
              </a:spcBef>
              <a:buFont typeface="Varela Round"/>
              <a:buNone/>
            </a:pPr>
            <a:r>
              <a:rPr lang="en-US" sz="2000" b="1" dirty="0" err="1">
                <a:solidFill>
                  <a:srgbClr val="002060"/>
                </a:solidFill>
                <a:latin typeface="Arial" panose="020B0604020202020204" pitchFamily="34" charset="0"/>
                <a:cs typeface="Arial" panose="020B0604020202020204" pitchFamily="34" charset="0"/>
              </a:rPr>
              <a:t>Ý</a:t>
            </a:r>
            <a:r>
              <a:rPr lang="en-US" sz="2000" b="1" dirty="0">
                <a:solidFill>
                  <a:srgbClr val="002060"/>
                </a:solidFill>
                <a:latin typeface="Arial" panose="020B0604020202020204" pitchFamily="34" charset="0"/>
                <a:cs typeface="Arial" panose="020B0604020202020204" pitchFamily="34" charset="0"/>
              </a:rPr>
              <a:t> </a:t>
            </a:r>
            <a:r>
              <a:rPr lang="en-US" sz="2000" b="1" dirty="0" err="1">
                <a:solidFill>
                  <a:srgbClr val="002060"/>
                </a:solidFill>
                <a:latin typeface="Arial" panose="020B0604020202020204" pitchFamily="34" charset="0"/>
                <a:cs typeface="Arial" panose="020B0604020202020204" pitchFamily="34" charset="0"/>
              </a:rPr>
              <a:t>nghĩa</a:t>
            </a:r>
            <a:endParaRPr lang="en-US" sz="2000" b="1" dirty="0">
              <a:solidFill>
                <a:srgbClr val="002060"/>
              </a:solidFill>
              <a:latin typeface="Arial" panose="020B0604020202020204" pitchFamily="34" charset="0"/>
              <a:cs typeface="Arial" panose="020B0604020202020204" pitchFamily="34" charset="0"/>
            </a:endParaRPr>
          </a:p>
          <a:p>
            <a:pPr marL="800100" lvl="2" indent="-342900" algn="just">
              <a:lnSpc>
                <a:spcPct val="120000"/>
              </a:lnSpc>
            </a:pPr>
            <a:r>
              <a:rPr lang="en-US" sz="2000" b="0" dirty="0" err="1">
                <a:solidFill>
                  <a:srgbClr val="002060"/>
                </a:solidFill>
                <a:latin typeface="Arial" panose="020B0604020202020204" pitchFamily="34" charset="0"/>
                <a:cs typeface="Arial" panose="020B0604020202020204" pitchFamily="34" charset="0"/>
              </a:rPr>
              <a:t>Kỳ</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vọng</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của</a:t>
            </a:r>
            <a:r>
              <a:rPr lang="en-US" sz="2000" b="0" dirty="0">
                <a:solidFill>
                  <a:srgbClr val="002060"/>
                </a:solidFill>
                <a:latin typeface="Arial" panose="020B0604020202020204" pitchFamily="34" charset="0"/>
                <a:cs typeface="Arial" panose="020B0604020202020204" pitchFamily="34" charset="0"/>
              </a:rPr>
              <a:t> BNN </a:t>
            </a:r>
            <a:r>
              <a:rPr lang="en-US" sz="2000" b="0" dirty="0" err="1">
                <a:solidFill>
                  <a:srgbClr val="002060"/>
                </a:solidFill>
                <a:latin typeface="Arial" panose="020B0604020202020204" pitchFamily="34" charset="0"/>
                <a:cs typeface="Arial" panose="020B0604020202020204" pitchFamily="34" charset="0"/>
              </a:rPr>
              <a:t>phản</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ánh</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giá</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trị</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trung</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bình</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của</a:t>
            </a:r>
            <a:r>
              <a:rPr lang="en-US" sz="2000" b="0" dirty="0">
                <a:solidFill>
                  <a:srgbClr val="002060"/>
                </a:solidFill>
                <a:latin typeface="Arial" panose="020B0604020202020204" pitchFamily="34" charset="0"/>
                <a:cs typeface="Arial" panose="020B0604020202020204" pitchFamily="34" charset="0"/>
              </a:rPr>
              <a:t> BNN, </a:t>
            </a:r>
            <a:r>
              <a:rPr lang="en-US" sz="2000" b="0" dirty="0" err="1">
                <a:solidFill>
                  <a:srgbClr val="002060"/>
                </a:solidFill>
                <a:latin typeface="Arial" panose="020B0604020202020204" pitchFamily="34" charset="0"/>
                <a:cs typeface="Arial" panose="020B0604020202020204" pitchFamily="34" charset="0"/>
              </a:rPr>
              <a:t>đặc</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trưng</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cho</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giá</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trị</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trung</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tâm</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của</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phân</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phối</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xác</a:t>
            </a:r>
            <a:r>
              <a:rPr lang="en-US" sz="2000" b="0" dirty="0">
                <a:solidFill>
                  <a:srgbClr val="002060"/>
                </a:solidFill>
                <a:latin typeface="Arial" panose="020B0604020202020204" pitchFamily="34" charset="0"/>
                <a:cs typeface="Arial" panose="020B0604020202020204" pitchFamily="34" charset="0"/>
              </a:rPr>
              <a:t> </a:t>
            </a:r>
            <a:r>
              <a:rPr lang="en-US" sz="2000" b="0" dirty="0" err="1">
                <a:solidFill>
                  <a:srgbClr val="002060"/>
                </a:solidFill>
                <a:latin typeface="Arial" panose="020B0604020202020204" pitchFamily="34" charset="0"/>
                <a:cs typeface="Arial" panose="020B0604020202020204" pitchFamily="34" charset="0"/>
              </a:rPr>
              <a:t>suất</a:t>
            </a:r>
            <a:r>
              <a:rPr lang="en-US" sz="2000" b="0" dirty="0">
                <a:solidFill>
                  <a:srgbClr val="00206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184955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25</a:t>
            </a:fld>
            <a:endParaRPr lang="en"/>
          </a:p>
        </p:txBody>
      </p:sp>
      <p:pic>
        <p:nvPicPr>
          <p:cNvPr id="10" name="Picture 9" descr="Dai Nam [PPT] Template 11.png">
            <a:extLst>
              <a:ext uri="{FF2B5EF4-FFF2-40B4-BE49-F238E27FC236}">
                <a16:creationId xmlns:a16="http://schemas.microsoft.com/office/drawing/2014/main" id="{A2BC820A-5880-EEBC-2D63-363770148D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
        <p:nvSpPr>
          <p:cNvPr id="12" name="TextBox 11">
            <a:extLst>
              <a:ext uri="{FF2B5EF4-FFF2-40B4-BE49-F238E27FC236}">
                <a16:creationId xmlns:a16="http://schemas.microsoft.com/office/drawing/2014/main" id="{4153EFC0-29C0-820A-CC39-E0966631D092}"/>
              </a:ext>
            </a:extLst>
          </p:cNvPr>
          <p:cNvSpPr txBox="1"/>
          <p:nvPr/>
        </p:nvSpPr>
        <p:spPr>
          <a:xfrm>
            <a:off x="540172" y="3166325"/>
            <a:ext cx="8315793" cy="1420261"/>
          </a:xfrm>
          <a:prstGeom prst="rect">
            <a:avLst/>
          </a:prstGeom>
          <a:noFill/>
        </p:spPr>
        <p:txBody>
          <a:bodyPr wrap="square">
            <a:spAutoFit/>
          </a:bodyPr>
          <a:lstStyle/>
          <a:p>
            <a:pPr>
              <a:lnSpc>
                <a:spcPct val="150000"/>
              </a:lnSpc>
            </a:pPr>
            <a:r>
              <a:rPr lang="en-VN" sz="2000" dirty="0">
                <a:solidFill>
                  <a:srgbClr val="002060"/>
                </a:solidFill>
              </a:rPr>
              <a:t>Phân phối rời rạc với kỳ vọng bằng nhau nhưng độ phân tán khác nhau.</a:t>
            </a:r>
          </a:p>
          <a:p>
            <a:pPr>
              <a:lnSpc>
                <a:spcPct val="150000"/>
              </a:lnSpc>
            </a:pPr>
            <a:r>
              <a:rPr lang="vi-VN" sz="2000" dirty="0">
                <a:solidFill>
                  <a:srgbClr val="002060"/>
                </a:solidFill>
              </a:rPr>
              <a:t>⇒ Cần xác định mức độ phân tán của các giá trị của biến ngẫu nhiên xung quanh giá trị trung bình của nó.</a:t>
            </a:r>
            <a:endParaRPr lang="en-VN" sz="2000" dirty="0">
              <a:solidFill>
                <a:srgbClr val="002060"/>
              </a:solidFill>
            </a:endParaRPr>
          </a:p>
        </p:txBody>
      </p:sp>
      <p:graphicFrame>
        <p:nvGraphicFramePr>
          <p:cNvPr id="2" name="Table 1">
            <a:extLst>
              <a:ext uri="{FF2B5EF4-FFF2-40B4-BE49-F238E27FC236}">
                <a16:creationId xmlns:a16="http://schemas.microsoft.com/office/drawing/2014/main" id="{5C28CCEE-116C-084B-8615-11E8E7C7594A}"/>
              </a:ext>
            </a:extLst>
          </p:cNvPr>
          <p:cNvGraphicFramePr>
            <a:graphicFrameLocks noGrp="1"/>
          </p:cNvGraphicFramePr>
          <p:nvPr>
            <p:extLst>
              <p:ext uri="{D42A27DB-BD31-4B8C-83A1-F6EECF244321}">
                <p14:modId xmlns:p14="http://schemas.microsoft.com/office/powerpoint/2010/main" val="1141631797"/>
              </p:ext>
            </p:extLst>
          </p:nvPr>
        </p:nvGraphicFramePr>
        <p:xfrm>
          <a:off x="1142712" y="890657"/>
          <a:ext cx="7407276" cy="2194560"/>
        </p:xfrm>
        <a:graphic>
          <a:graphicData uri="http://schemas.openxmlformats.org/drawingml/2006/table">
            <a:tbl>
              <a:tblPr>
                <a:tableStyleId>{69C7853C-536D-4A76-A0AE-DD22124D55A5}</a:tableStyleId>
              </a:tblPr>
              <a:tblGrid>
                <a:gridCol w="2469092">
                  <a:extLst>
                    <a:ext uri="{9D8B030D-6E8A-4147-A177-3AD203B41FA5}">
                      <a16:colId xmlns:a16="http://schemas.microsoft.com/office/drawing/2014/main" val="3170401617"/>
                    </a:ext>
                  </a:extLst>
                </a:gridCol>
                <a:gridCol w="2469092">
                  <a:extLst>
                    <a:ext uri="{9D8B030D-6E8A-4147-A177-3AD203B41FA5}">
                      <a16:colId xmlns:a16="http://schemas.microsoft.com/office/drawing/2014/main" val="495500926"/>
                    </a:ext>
                  </a:extLst>
                </a:gridCol>
                <a:gridCol w="2469092">
                  <a:extLst>
                    <a:ext uri="{9D8B030D-6E8A-4147-A177-3AD203B41FA5}">
                      <a16:colId xmlns:a16="http://schemas.microsoft.com/office/drawing/2014/main" val="1104264499"/>
                    </a:ext>
                  </a:extLst>
                </a:gridCol>
              </a:tblGrid>
              <a:tr h="304800">
                <a:tc>
                  <a:txBody>
                    <a:bodyPr/>
                    <a:lstStyle/>
                    <a:p>
                      <a:pPr>
                        <a:buNone/>
                      </a:pPr>
                      <a:r>
                        <a:rPr lang="en-US" sz="1800"/>
                        <a:t>Môn học</a:t>
                      </a:r>
                    </a:p>
                  </a:txBody>
                  <a:tcPr anchor="ctr"/>
                </a:tc>
                <a:tc>
                  <a:txBody>
                    <a:bodyPr/>
                    <a:lstStyle/>
                    <a:p>
                      <a:pPr>
                        <a:buNone/>
                      </a:pPr>
                      <a:r>
                        <a:rPr lang="en-US" sz="1800"/>
                        <a:t>Sinh viên C</a:t>
                      </a:r>
                    </a:p>
                  </a:txBody>
                  <a:tcPr anchor="ctr"/>
                </a:tc>
                <a:tc>
                  <a:txBody>
                    <a:bodyPr/>
                    <a:lstStyle/>
                    <a:p>
                      <a:pPr>
                        <a:buNone/>
                      </a:pPr>
                      <a:r>
                        <a:rPr lang="en-US" sz="1800"/>
                        <a:t>Sinh viên D</a:t>
                      </a:r>
                    </a:p>
                  </a:txBody>
                  <a:tcPr anchor="ctr"/>
                </a:tc>
                <a:extLst>
                  <a:ext uri="{0D108BD9-81ED-4DB2-BD59-A6C34878D82A}">
                    <a16:rowId xmlns:a16="http://schemas.microsoft.com/office/drawing/2014/main" val="441203684"/>
                  </a:ext>
                </a:extLst>
              </a:tr>
              <a:tr h="304800">
                <a:tc>
                  <a:txBody>
                    <a:bodyPr/>
                    <a:lstStyle/>
                    <a:p>
                      <a:pPr>
                        <a:buNone/>
                      </a:pPr>
                      <a:r>
                        <a:rPr lang="en-US" sz="1800"/>
                        <a:t>Giải tích</a:t>
                      </a:r>
                    </a:p>
                  </a:txBody>
                  <a:tcPr anchor="ctr"/>
                </a:tc>
                <a:tc>
                  <a:txBody>
                    <a:bodyPr/>
                    <a:lstStyle/>
                    <a:p>
                      <a:pPr>
                        <a:buNone/>
                      </a:pPr>
                      <a:r>
                        <a:rPr lang="en-VN" sz="1800"/>
                        <a:t>8</a:t>
                      </a:r>
                    </a:p>
                  </a:txBody>
                  <a:tcPr anchor="ctr"/>
                </a:tc>
                <a:tc>
                  <a:txBody>
                    <a:bodyPr/>
                    <a:lstStyle/>
                    <a:p>
                      <a:pPr>
                        <a:buNone/>
                      </a:pPr>
                      <a:r>
                        <a:rPr lang="en-VN" sz="1800"/>
                        <a:t>0</a:t>
                      </a:r>
                    </a:p>
                  </a:txBody>
                  <a:tcPr anchor="ctr"/>
                </a:tc>
                <a:extLst>
                  <a:ext uri="{0D108BD9-81ED-4DB2-BD59-A6C34878D82A}">
                    <a16:rowId xmlns:a16="http://schemas.microsoft.com/office/drawing/2014/main" val="3973709532"/>
                  </a:ext>
                </a:extLst>
              </a:tr>
              <a:tr h="304800">
                <a:tc>
                  <a:txBody>
                    <a:bodyPr/>
                    <a:lstStyle/>
                    <a:p>
                      <a:pPr>
                        <a:buNone/>
                      </a:pPr>
                      <a:r>
                        <a:rPr lang="en-US" sz="1800"/>
                        <a:t>Đại số tuyến tính</a:t>
                      </a:r>
                    </a:p>
                  </a:txBody>
                  <a:tcPr anchor="ctr"/>
                </a:tc>
                <a:tc>
                  <a:txBody>
                    <a:bodyPr/>
                    <a:lstStyle/>
                    <a:p>
                      <a:pPr>
                        <a:buNone/>
                      </a:pPr>
                      <a:r>
                        <a:rPr lang="en-VN" sz="1800"/>
                        <a:t>8</a:t>
                      </a:r>
                    </a:p>
                  </a:txBody>
                  <a:tcPr anchor="ctr"/>
                </a:tc>
                <a:tc>
                  <a:txBody>
                    <a:bodyPr/>
                    <a:lstStyle/>
                    <a:p>
                      <a:pPr>
                        <a:buNone/>
                      </a:pPr>
                      <a:r>
                        <a:rPr lang="en-VN" sz="1800"/>
                        <a:t>10</a:t>
                      </a:r>
                    </a:p>
                  </a:txBody>
                  <a:tcPr anchor="ctr"/>
                </a:tc>
                <a:extLst>
                  <a:ext uri="{0D108BD9-81ED-4DB2-BD59-A6C34878D82A}">
                    <a16:rowId xmlns:a16="http://schemas.microsoft.com/office/drawing/2014/main" val="2074223843"/>
                  </a:ext>
                </a:extLst>
              </a:tr>
              <a:tr h="304800">
                <a:tc>
                  <a:txBody>
                    <a:bodyPr/>
                    <a:lstStyle/>
                    <a:p>
                      <a:pPr>
                        <a:buNone/>
                      </a:pPr>
                      <a:r>
                        <a:rPr lang="en-US" sz="1800"/>
                        <a:t>Xác suất – Thống kê</a:t>
                      </a:r>
                    </a:p>
                  </a:txBody>
                  <a:tcPr anchor="ctr"/>
                </a:tc>
                <a:tc>
                  <a:txBody>
                    <a:bodyPr/>
                    <a:lstStyle/>
                    <a:p>
                      <a:pPr>
                        <a:buNone/>
                      </a:pPr>
                      <a:r>
                        <a:rPr lang="en-VN" sz="1800"/>
                        <a:t>8</a:t>
                      </a:r>
                    </a:p>
                  </a:txBody>
                  <a:tcPr anchor="ctr"/>
                </a:tc>
                <a:tc>
                  <a:txBody>
                    <a:bodyPr/>
                    <a:lstStyle/>
                    <a:p>
                      <a:pPr>
                        <a:buNone/>
                      </a:pPr>
                      <a:r>
                        <a:rPr lang="en-VN" sz="1800"/>
                        <a:t>6</a:t>
                      </a:r>
                    </a:p>
                  </a:txBody>
                  <a:tcPr anchor="ctr"/>
                </a:tc>
                <a:extLst>
                  <a:ext uri="{0D108BD9-81ED-4DB2-BD59-A6C34878D82A}">
                    <a16:rowId xmlns:a16="http://schemas.microsoft.com/office/drawing/2014/main" val="1601586811"/>
                  </a:ext>
                </a:extLst>
              </a:tr>
              <a:tr h="304800">
                <a:tc>
                  <a:txBody>
                    <a:bodyPr/>
                    <a:lstStyle/>
                    <a:p>
                      <a:pPr>
                        <a:buNone/>
                      </a:pPr>
                      <a:r>
                        <a:rPr lang="en-US" sz="1800"/>
                        <a:t>Cấu trúc dữ liệu</a:t>
                      </a:r>
                    </a:p>
                  </a:txBody>
                  <a:tcPr anchor="ctr"/>
                </a:tc>
                <a:tc>
                  <a:txBody>
                    <a:bodyPr/>
                    <a:lstStyle/>
                    <a:p>
                      <a:pPr>
                        <a:buNone/>
                      </a:pPr>
                      <a:r>
                        <a:rPr lang="en-VN" sz="1800"/>
                        <a:t>8</a:t>
                      </a:r>
                    </a:p>
                  </a:txBody>
                  <a:tcPr anchor="ctr"/>
                </a:tc>
                <a:tc>
                  <a:txBody>
                    <a:bodyPr/>
                    <a:lstStyle/>
                    <a:p>
                      <a:pPr>
                        <a:buNone/>
                      </a:pPr>
                      <a:r>
                        <a:rPr lang="en-VN" sz="1800"/>
                        <a:t>9</a:t>
                      </a:r>
                    </a:p>
                  </a:txBody>
                  <a:tcPr anchor="ctr"/>
                </a:tc>
                <a:extLst>
                  <a:ext uri="{0D108BD9-81ED-4DB2-BD59-A6C34878D82A}">
                    <a16:rowId xmlns:a16="http://schemas.microsoft.com/office/drawing/2014/main" val="895268001"/>
                  </a:ext>
                </a:extLst>
              </a:tr>
              <a:tr h="304800">
                <a:tc>
                  <a:txBody>
                    <a:bodyPr/>
                    <a:lstStyle/>
                    <a:p>
                      <a:pPr>
                        <a:buNone/>
                      </a:pPr>
                      <a:r>
                        <a:rPr lang="en-US" sz="1800"/>
                        <a:t>Mạng máy tính</a:t>
                      </a:r>
                    </a:p>
                  </a:txBody>
                  <a:tcPr anchor="ctr"/>
                </a:tc>
                <a:tc>
                  <a:txBody>
                    <a:bodyPr/>
                    <a:lstStyle/>
                    <a:p>
                      <a:pPr>
                        <a:buNone/>
                      </a:pPr>
                      <a:r>
                        <a:rPr lang="en-VN" sz="1800"/>
                        <a:t>8</a:t>
                      </a:r>
                    </a:p>
                  </a:txBody>
                  <a:tcPr anchor="ctr"/>
                </a:tc>
                <a:tc>
                  <a:txBody>
                    <a:bodyPr/>
                    <a:lstStyle/>
                    <a:p>
                      <a:pPr>
                        <a:buNone/>
                      </a:pPr>
                      <a:r>
                        <a:rPr lang="en-VN" sz="1800" dirty="0"/>
                        <a:t>5</a:t>
                      </a:r>
                    </a:p>
                  </a:txBody>
                  <a:tcPr anchor="ctr"/>
                </a:tc>
                <a:extLst>
                  <a:ext uri="{0D108BD9-81ED-4DB2-BD59-A6C34878D82A}">
                    <a16:rowId xmlns:a16="http://schemas.microsoft.com/office/drawing/2014/main" val="3164858882"/>
                  </a:ext>
                </a:extLst>
              </a:tr>
            </a:tbl>
          </a:graphicData>
        </a:graphic>
      </p:graphicFrame>
    </p:spTree>
    <p:extLst>
      <p:ext uri="{BB962C8B-B14F-4D97-AF65-F5344CB8AC3E}">
        <p14:creationId xmlns:p14="http://schemas.microsoft.com/office/powerpoint/2010/main" val="24568226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a:xfrm>
            <a:off x="2578172" y="3551"/>
            <a:ext cx="3987655" cy="794383"/>
          </a:xfrm>
        </p:spPr>
        <p:txBody>
          <a:bodyPr/>
          <a:lstStyle/>
          <a:p>
            <a:r>
              <a:rPr lang="en-US" sz="3200" spc="-5" dirty="0" err="1">
                <a:solidFill>
                  <a:srgbClr val="002060"/>
                </a:solidFill>
                <a:latin typeface="Arial" panose="020B0604020202020204" pitchFamily="34" charset="0"/>
                <a:cs typeface="Arial" panose="020B0604020202020204" pitchFamily="34" charset="0"/>
              </a:rPr>
              <a:t>Phương</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sai</a:t>
            </a:r>
            <a:endParaRPr lang="en-US" sz="3200"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Google Shape;278;p20"/>
              <p:cNvSpPr txBox="1">
                <a:spLocks noGrp="1"/>
              </p:cNvSpPr>
              <p:nvPr>
                <p:ph type="body" idx="1"/>
              </p:nvPr>
            </p:nvSpPr>
            <p:spPr>
              <a:xfrm>
                <a:off x="409356" y="792701"/>
                <a:ext cx="8636489" cy="1886733"/>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2400" b="1" dirty="0" err="1">
                    <a:solidFill>
                      <a:srgbClr val="002060"/>
                    </a:solidFill>
                    <a:latin typeface="Arial" panose="020B0604020202020204" pitchFamily="34" charset="0"/>
                    <a:cs typeface="Arial" panose="020B0604020202020204" pitchFamily="34" charset="0"/>
                  </a:rPr>
                  <a:t>Định</a:t>
                </a:r>
                <a:r>
                  <a:rPr lang="en-US" sz="2400" b="1" dirty="0">
                    <a:solidFill>
                      <a:srgbClr val="002060"/>
                    </a:solidFill>
                    <a:latin typeface="Arial" panose="020B0604020202020204" pitchFamily="34" charset="0"/>
                    <a:cs typeface="Arial" panose="020B0604020202020204" pitchFamily="34" charset="0"/>
                  </a:rPr>
                  <a:t> </a:t>
                </a:r>
                <a:r>
                  <a:rPr lang="en-US" sz="2400" b="1" dirty="0" err="1">
                    <a:solidFill>
                      <a:srgbClr val="002060"/>
                    </a:solidFill>
                    <a:latin typeface="Arial" panose="020B0604020202020204" pitchFamily="34" charset="0"/>
                    <a:cs typeface="Arial" panose="020B0604020202020204" pitchFamily="34" charset="0"/>
                  </a:rPr>
                  <a:t>nghĩa</a:t>
                </a:r>
                <a:endParaRPr lang="en-US" sz="2400" b="1" dirty="0">
                  <a:solidFill>
                    <a:srgbClr val="002060"/>
                  </a:solidFill>
                  <a:latin typeface="Arial" panose="020B0604020202020204" pitchFamily="34" charset="0"/>
                  <a:cs typeface="Arial" panose="020B0604020202020204" pitchFamily="34" charset="0"/>
                </a:endParaRPr>
              </a:p>
              <a:p>
                <a:pPr marL="0" lvl="0" indent="0" algn="l" rtl="0">
                  <a:spcBef>
                    <a:spcPts val="600"/>
                  </a:spcBef>
                  <a:spcAft>
                    <a:spcPts val="0"/>
                  </a:spcAft>
                  <a:buNone/>
                </a:pPr>
                <a:r>
                  <a:rPr lang="en-US" sz="2400" dirty="0" err="1">
                    <a:solidFill>
                      <a:srgbClr val="002060"/>
                    </a:solidFill>
                    <a:latin typeface="Arial" panose="020B0604020202020204" pitchFamily="34" charset="0"/>
                    <a:cs typeface="Arial" panose="020B0604020202020204" pitchFamily="34" charset="0"/>
                  </a:rPr>
                  <a:t>Phương</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sai</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của</a:t>
                </a:r>
                <a:r>
                  <a:rPr lang="en-US" sz="2400" dirty="0">
                    <a:solidFill>
                      <a:srgbClr val="002060"/>
                    </a:solidFill>
                    <a:latin typeface="Arial" panose="020B0604020202020204" pitchFamily="34" charset="0"/>
                    <a:cs typeface="Arial" panose="020B0604020202020204" pitchFamily="34" charset="0"/>
                  </a:rPr>
                  <a:t> BNN </a:t>
                </a:r>
                <a:r>
                  <a:rPr lang="en-US" sz="2400" i="1" dirty="0">
                    <a:solidFill>
                      <a:srgbClr val="002060"/>
                    </a:solidFill>
                    <a:latin typeface="Arial" panose="020B0604020202020204" pitchFamily="34" charset="0"/>
                    <a:cs typeface="Arial" panose="020B0604020202020204" pitchFamily="34" charset="0"/>
                  </a:rPr>
                  <a:t>X</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kí</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hiệu</a:t>
                </a:r>
                <a:r>
                  <a:rPr lang="en-US" sz="2400" dirty="0">
                    <a:solidFill>
                      <a:srgbClr val="002060"/>
                    </a:solidFill>
                    <a:latin typeface="Arial" panose="020B0604020202020204" pitchFamily="34" charset="0"/>
                    <a:cs typeface="Arial" panose="020B0604020202020204" pitchFamily="34" charset="0"/>
                  </a:rPr>
                  <a:t> </a:t>
                </a:r>
                <a14:m>
                  <m:oMath xmlns:m="http://schemas.openxmlformats.org/officeDocument/2006/math">
                    <m:r>
                      <a:rPr lang="en-US" sz="2400" b="0" i="1" dirty="0" smtClean="0">
                        <a:solidFill>
                          <a:srgbClr val="002060"/>
                        </a:solidFill>
                        <a:latin typeface="Cambria Math" panose="02040503050406030204" pitchFamily="18" charset="0"/>
                        <a:cs typeface="Times New Roman" panose="02020603050405020304" pitchFamily="18" charset="0"/>
                      </a:rPr>
                      <m:t>𝑉</m:t>
                    </m:r>
                    <m:r>
                      <a:rPr lang="en-US" sz="2400" i="1" dirty="0" smtClean="0">
                        <a:solidFill>
                          <a:srgbClr val="002060"/>
                        </a:solidFill>
                        <a:latin typeface="Cambria Math" panose="02040503050406030204" pitchFamily="18" charset="0"/>
                        <a:cs typeface="Times New Roman" panose="02020603050405020304" pitchFamily="18" charset="0"/>
                      </a:rPr>
                      <m:t>(</m:t>
                    </m:r>
                    <m:r>
                      <a:rPr lang="en-US" sz="2400" i="1" dirty="0" smtClean="0">
                        <a:solidFill>
                          <a:srgbClr val="002060"/>
                        </a:solidFill>
                        <a:latin typeface="Cambria Math" panose="02040503050406030204" pitchFamily="18" charset="0"/>
                        <a:cs typeface="Times New Roman" panose="02020603050405020304" pitchFamily="18" charset="0"/>
                      </a:rPr>
                      <m:t>𝑋</m:t>
                    </m:r>
                    <m:r>
                      <a:rPr lang="en-US" sz="2400" i="1" dirty="0" smtClean="0">
                        <a:solidFill>
                          <a:srgbClr val="002060"/>
                        </a:solidFill>
                        <a:latin typeface="Cambria Math" panose="02040503050406030204" pitchFamily="18" charset="0"/>
                        <a:cs typeface="Times New Roman" panose="02020603050405020304" pitchFamily="18" charset="0"/>
                      </a:rPr>
                      <m:t>)</m:t>
                    </m:r>
                  </m:oMath>
                </a14:m>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xác</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định</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bởi</a:t>
                </a:r>
                <a:endParaRPr lang="en-US" sz="2400" dirty="0">
                  <a:solidFill>
                    <a:srgbClr val="002060"/>
                  </a:solidFill>
                  <a:latin typeface="Arial" panose="020B0604020202020204" pitchFamily="34" charset="0"/>
                  <a:cs typeface="Arial" panose="020B0604020202020204" pitchFamily="34" charset="0"/>
                </a:endParaRPr>
              </a:p>
              <a:p>
                <a:pPr marL="457200" lvl="1" indent="0">
                  <a:buNone/>
                </a:pPr>
                <a:endParaRPr lang="en-US" sz="2400" b="0" i="1" dirty="0">
                  <a:solidFill>
                    <a:srgbClr val="002060"/>
                  </a:solidFill>
                  <a:latin typeface="Arial" panose="020B0604020202020204" pitchFamily="34" charset="0"/>
                  <a:cs typeface="Arial" panose="020B0604020202020204" pitchFamily="34" charset="0"/>
                </a:endParaRPr>
              </a:p>
              <a:p>
                <a:pPr marL="457200" lvl="1" indent="0">
                  <a:buNone/>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cs typeface="Times New Roman" panose="02020603050405020304" pitchFamily="18" charset="0"/>
                        </a:rPr>
                        <m:t>𝑉</m:t>
                      </m:r>
                      <m:d>
                        <m:dPr>
                          <m:ctrlPr>
                            <a:rPr lang="en-US" sz="2400" b="0" i="1" smtClean="0">
                              <a:solidFill>
                                <a:srgbClr val="002060"/>
                              </a:solidFill>
                              <a:latin typeface="Cambria Math" panose="02040503050406030204" pitchFamily="18" charset="0"/>
                              <a:cs typeface="Times New Roman" panose="02020603050405020304" pitchFamily="18" charset="0"/>
                            </a:rPr>
                          </m:ctrlPr>
                        </m:dPr>
                        <m:e>
                          <m:r>
                            <a:rPr lang="en-US" sz="2400" b="0" i="1" smtClean="0">
                              <a:solidFill>
                                <a:srgbClr val="002060"/>
                              </a:solidFill>
                              <a:latin typeface="Cambria Math" panose="02040503050406030204" pitchFamily="18" charset="0"/>
                              <a:cs typeface="Times New Roman" panose="02020603050405020304" pitchFamily="18" charset="0"/>
                            </a:rPr>
                            <m:t>𝑋</m:t>
                          </m:r>
                        </m:e>
                      </m:d>
                      <m:r>
                        <a:rPr lang="en-US" sz="2400" b="0" i="1" smtClean="0">
                          <a:solidFill>
                            <a:srgbClr val="002060"/>
                          </a:solidFill>
                          <a:latin typeface="Cambria Math" panose="02040503050406030204" pitchFamily="18" charset="0"/>
                          <a:cs typeface="Times New Roman" panose="02020603050405020304" pitchFamily="18" charset="0"/>
                        </a:rPr>
                        <m:t>=</m:t>
                      </m:r>
                      <m:r>
                        <a:rPr lang="en-US" sz="2400" i="1" dirty="0" smtClean="0">
                          <a:solidFill>
                            <a:srgbClr val="002060"/>
                          </a:solidFill>
                          <a:latin typeface="Cambria Math" panose="02040503050406030204" pitchFamily="18" charset="0"/>
                          <a:cs typeface="Times New Roman" panose="02020603050405020304" pitchFamily="18" charset="0"/>
                          <a:sym typeface="Arial"/>
                        </a:rPr>
                        <m:t>𝐸</m:t>
                      </m:r>
                      <m:sSup>
                        <m:sSupPr>
                          <m:ctrlPr>
                            <a:rPr lang="en-US" sz="2400" i="1" dirty="0">
                              <a:solidFill>
                                <a:srgbClr val="002060"/>
                              </a:solidFill>
                              <a:latin typeface="Cambria Math" panose="02040503050406030204" pitchFamily="18" charset="0"/>
                              <a:cs typeface="Times New Roman" panose="02020603050405020304" pitchFamily="18" charset="0"/>
                              <a:sym typeface="Arial"/>
                            </a:rPr>
                          </m:ctrlPr>
                        </m:sSupPr>
                        <m:e>
                          <m:d>
                            <m:dPr>
                              <m:begChr m:val="["/>
                              <m:endChr m:val="]"/>
                              <m:ctrlPr>
                                <a:rPr lang="en-US" sz="2400" i="1" dirty="0">
                                  <a:solidFill>
                                    <a:srgbClr val="002060"/>
                                  </a:solidFill>
                                  <a:latin typeface="Cambria Math" panose="02040503050406030204" pitchFamily="18" charset="0"/>
                                  <a:cs typeface="Times New Roman" panose="02020603050405020304" pitchFamily="18" charset="0"/>
                                  <a:sym typeface="Arial"/>
                                </a:rPr>
                              </m:ctrlPr>
                            </m:dPr>
                            <m:e>
                              <m:r>
                                <a:rPr lang="en-US" sz="2400" i="1" dirty="0">
                                  <a:solidFill>
                                    <a:srgbClr val="002060"/>
                                  </a:solidFill>
                                  <a:latin typeface="Cambria Math" panose="02040503050406030204" pitchFamily="18" charset="0"/>
                                  <a:cs typeface="Times New Roman" panose="02020603050405020304" pitchFamily="18" charset="0"/>
                                  <a:sym typeface="Arial"/>
                                </a:rPr>
                                <m:t>𝑋</m:t>
                              </m:r>
                              <m:r>
                                <a:rPr lang="en-US" sz="2400" i="1" dirty="0">
                                  <a:solidFill>
                                    <a:srgbClr val="002060"/>
                                  </a:solidFill>
                                  <a:latin typeface="Cambria Math" panose="02040503050406030204" pitchFamily="18" charset="0"/>
                                  <a:cs typeface="Times New Roman" panose="02020603050405020304" pitchFamily="18" charset="0"/>
                                  <a:sym typeface="Arial"/>
                                </a:rPr>
                                <m:t>−</m:t>
                              </m:r>
                              <m:r>
                                <a:rPr lang="en-US" sz="2400" i="1" dirty="0">
                                  <a:solidFill>
                                    <a:srgbClr val="002060"/>
                                  </a:solidFill>
                                  <a:latin typeface="Cambria Math" panose="02040503050406030204" pitchFamily="18" charset="0"/>
                                  <a:cs typeface="Times New Roman" panose="02020603050405020304" pitchFamily="18" charset="0"/>
                                  <a:sym typeface="Arial"/>
                                </a:rPr>
                                <m:t>𝐸</m:t>
                              </m:r>
                              <m:r>
                                <a:rPr lang="en-US" sz="2400" i="1" dirty="0">
                                  <a:solidFill>
                                    <a:srgbClr val="002060"/>
                                  </a:solidFill>
                                  <a:latin typeface="Cambria Math" panose="02040503050406030204" pitchFamily="18" charset="0"/>
                                  <a:cs typeface="Times New Roman" panose="02020603050405020304" pitchFamily="18" charset="0"/>
                                  <a:sym typeface="Arial"/>
                                </a:rPr>
                                <m:t>(</m:t>
                              </m:r>
                              <m:r>
                                <a:rPr lang="en-US" sz="2400" i="1" dirty="0">
                                  <a:solidFill>
                                    <a:srgbClr val="002060"/>
                                  </a:solidFill>
                                  <a:latin typeface="Cambria Math" panose="02040503050406030204" pitchFamily="18" charset="0"/>
                                  <a:cs typeface="Times New Roman" panose="02020603050405020304" pitchFamily="18" charset="0"/>
                                  <a:sym typeface="Arial"/>
                                </a:rPr>
                                <m:t>𝑋</m:t>
                              </m:r>
                              <m:r>
                                <a:rPr lang="en-US" sz="2400" i="1" dirty="0">
                                  <a:solidFill>
                                    <a:srgbClr val="002060"/>
                                  </a:solidFill>
                                  <a:latin typeface="Cambria Math" panose="02040503050406030204" pitchFamily="18" charset="0"/>
                                  <a:cs typeface="Times New Roman" panose="02020603050405020304" pitchFamily="18" charset="0"/>
                                  <a:sym typeface="Arial"/>
                                </a:rPr>
                                <m:t>)</m:t>
                              </m:r>
                            </m:e>
                          </m:d>
                        </m:e>
                        <m:sup>
                          <m:r>
                            <a:rPr lang="en-US" sz="2400" i="1" dirty="0">
                              <a:solidFill>
                                <a:srgbClr val="002060"/>
                              </a:solidFill>
                              <a:latin typeface="Cambria Math" panose="02040503050406030204" pitchFamily="18" charset="0"/>
                              <a:cs typeface="Times New Roman" panose="02020603050405020304" pitchFamily="18" charset="0"/>
                              <a:sym typeface="Arial"/>
                            </a:rPr>
                            <m:t>2</m:t>
                          </m:r>
                        </m:sup>
                      </m:sSup>
                    </m:oMath>
                  </m:oMathPara>
                </a14:m>
                <a:endParaRPr lang="en-US" sz="2400" dirty="0">
                  <a:solidFill>
                    <a:srgbClr val="002060"/>
                  </a:solidFill>
                  <a:latin typeface="Arial" panose="020B0604020202020204" pitchFamily="34" charset="0"/>
                  <a:cs typeface="Arial" panose="020B0604020202020204" pitchFamily="34" charset="0"/>
                </a:endParaRPr>
              </a:p>
            </p:txBody>
          </p:sp>
        </mc:Choice>
        <mc:Fallback xmlns="">
          <p:sp>
            <p:nvSpPr>
              <p:cNvPr id="6" name="Google Shape;278;p20"/>
              <p:cNvSpPr txBox="1">
                <a:spLocks noGrp="1" noRot="1" noChangeAspect="1" noMove="1" noResize="1" noEditPoints="1" noAdjustHandles="1" noChangeArrowheads="1" noChangeShapeType="1" noTextEdit="1"/>
              </p:cNvSpPr>
              <p:nvPr>
                <p:ph type="body" idx="1"/>
              </p:nvPr>
            </p:nvSpPr>
            <p:spPr>
              <a:xfrm>
                <a:off x="409356" y="792701"/>
                <a:ext cx="8636489" cy="1886733"/>
              </a:xfrm>
              <a:prstGeom prst="rect">
                <a:avLst/>
              </a:prstGeom>
              <a:blipFill>
                <a:blip r:embed="rId3"/>
                <a:stretch>
                  <a:fillRect l="-1175"/>
                </a:stretch>
              </a:blipFill>
            </p:spPr>
            <p:txBody>
              <a:bodyPr/>
              <a:lstStyle/>
              <a:p>
                <a:r>
                  <a:rPr lang="en-VN">
                    <a:noFill/>
                  </a:rPr>
                  <a:t> </a:t>
                </a:r>
              </a:p>
            </p:txBody>
          </p:sp>
        </mc:Fallback>
      </mc:AlternateContent>
      <p:sp>
        <p:nvSpPr>
          <p:cNvPr id="2" name="Rectangle 1"/>
          <p:cNvSpPr/>
          <p:nvPr/>
        </p:nvSpPr>
        <p:spPr>
          <a:xfrm>
            <a:off x="508210" y="2773788"/>
            <a:ext cx="2786340" cy="461665"/>
          </a:xfrm>
          <a:prstGeom prst="rect">
            <a:avLst/>
          </a:prstGeom>
        </p:spPr>
        <p:txBody>
          <a:bodyPr wrap="none">
            <a:spAutoFit/>
          </a:bodyPr>
          <a:lstStyle/>
          <a:p>
            <a:r>
              <a:rPr lang="en-US" sz="2400" dirty="0" err="1">
                <a:solidFill>
                  <a:srgbClr val="002060"/>
                </a:solidFill>
                <a:latin typeface="Arial" panose="020B0604020202020204" pitchFamily="34" charset="0"/>
                <a:cs typeface="Arial" panose="020B0604020202020204" pitchFamily="34" charset="0"/>
                <a:sym typeface="Varela Round"/>
              </a:rPr>
              <a:t>Chứng</a:t>
            </a:r>
            <a:r>
              <a:rPr lang="en-US" sz="2400" dirty="0">
                <a:solidFill>
                  <a:srgbClr val="002060"/>
                </a:solidFill>
                <a:latin typeface="Arial" panose="020B0604020202020204" pitchFamily="34" charset="0"/>
                <a:cs typeface="Arial" panose="020B0604020202020204" pitchFamily="34" charset="0"/>
                <a:sym typeface="Varela Round"/>
              </a:rPr>
              <a:t> </a:t>
            </a:r>
            <a:r>
              <a:rPr lang="en-US" sz="2400" dirty="0" err="1">
                <a:solidFill>
                  <a:srgbClr val="002060"/>
                </a:solidFill>
                <a:latin typeface="Arial" panose="020B0604020202020204" pitchFamily="34" charset="0"/>
                <a:cs typeface="Arial" panose="020B0604020202020204" pitchFamily="34" charset="0"/>
                <a:sym typeface="Varela Round"/>
              </a:rPr>
              <a:t>minh</a:t>
            </a:r>
            <a:r>
              <a:rPr lang="en-US" sz="2400" dirty="0">
                <a:solidFill>
                  <a:srgbClr val="002060"/>
                </a:solidFill>
                <a:latin typeface="Arial" panose="020B0604020202020204" pitchFamily="34" charset="0"/>
                <a:cs typeface="Arial" panose="020B0604020202020204" pitchFamily="34" charset="0"/>
                <a:sym typeface="Varela Round"/>
              </a:rPr>
              <a:t> </a:t>
            </a:r>
            <a:r>
              <a:rPr lang="en-US" sz="2400" dirty="0" err="1">
                <a:solidFill>
                  <a:srgbClr val="002060"/>
                </a:solidFill>
                <a:latin typeface="Arial" panose="020B0604020202020204" pitchFamily="34" charset="0"/>
                <a:cs typeface="Arial" panose="020B0604020202020204" pitchFamily="34" charset="0"/>
                <a:sym typeface="Varela Round"/>
              </a:rPr>
              <a:t>được</a:t>
            </a:r>
            <a:r>
              <a:rPr lang="en-US" sz="2400" dirty="0">
                <a:solidFill>
                  <a:srgbClr val="002060"/>
                </a:solidFill>
                <a:latin typeface="Arial" panose="020B0604020202020204" pitchFamily="34" charset="0"/>
                <a:cs typeface="Arial" panose="020B0604020202020204" pitchFamily="34" charset="0"/>
                <a:sym typeface="Varela Round"/>
              </a:rPr>
              <a:t> </a:t>
            </a:r>
            <a:endParaRPr lang="en-US"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Rectangle 2"/>
              <p:cNvSpPr/>
              <p:nvPr/>
            </p:nvSpPr>
            <p:spPr>
              <a:xfrm>
                <a:off x="3368690" y="2773788"/>
                <a:ext cx="3540906" cy="461665"/>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cs typeface="Times New Roman" panose="02020603050405020304" pitchFamily="18" charset="0"/>
                          <a:sym typeface="Varela Round"/>
                        </a:rPr>
                        <m:t>𝑉</m:t>
                      </m:r>
                      <m:d>
                        <m:dPr>
                          <m:ctrlPr>
                            <a:rPr lang="en-US" sz="2400" i="1">
                              <a:solidFill>
                                <a:srgbClr val="C00000"/>
                              </a:solidFill>
                              <a:latin typeface="Cambria Math" panose="02040503050406030204" pitchFamily="18" charset="0"/>
                              <a:cs typeface="Times New Roman" panose="02020603050405020304" pitchFamily="18" charset="0"/>
                              <a:sym typeface="Varela Round"/>
                            </a:rPr>
                          </m:ctrlPr>
                        </m:dPr>
                        <m:e>
                          <m:r>
                            <a:rPr lang="en-US" sz="2400" i="1">
                              <a:solidFill>
                                <a:srgbClr val="C00000"/>
                              </a:solidFill>
                              <a:latin typeface="Cambria Math" panose="02040503050406030204" pitchFamily="18" charset="0"/>
                              <a:cs typeface="Times New Roman" panose="02020603050405020304" pitchFamily="18" charset="0"/>
                              <a:sym typeface="Varela Round"/>
                            </a:rPr>
                            <m:t>𝑋</m:t>
                          </m:r>
                        </m:e>
                      </m:d>
                      <m:r>
                        <a:rPr lang="en-US" sz="2400" i="1">
                          <a:solidFill>
                            <a:srgbClr val="C00000"/>
                          </a:solidFill>
                          <a:latin typeface="Cambria Math" panose="02040503050406030204" pitchFamily="18" charset="0"/>
                          <a:cs typeface="Times New Roman" panose="02020603050405020304" pitchFamily="18" charset="0"/>
                          <a:sym typeface="Varela Round"/>
                        </a:rPr>
                        <m:t>=</m:t>
                      </m:r>
                      <m:r>
                        <a:rPr lang="en-US" sz="2400" i="1" dirty="0">
                          <a:solidFill>
                            <a:srgbClr val="C00000"/>
                          </a:solidFill>
                          <a:latin typeface="Cambria Math" panose="02040503050406030204" pitchFamily="18" charset="0"/>
                          <a:cs typeface="Times New Roman" panose="02020603050405020304" pitchFamily="18" charset="0"/>
                        </a:rPr>
                        <m:t>𝐸</m:t>
                      </m:r>
                      <m:d>
                        <m:dPr>
                          <m:ctrlPr>
                            <a:rPr lang="en-US" sz="2400" i="1" dirty="0" smtClean="0">
                              <a:solidFill>
                                <a:srgbClr val="C00000"/>
                              </a:solidFill>
                              <a:latin typeface="Cambria Math" panose="02040503050406030204" pitchFamily="18" charset="0"/>
                              <a:cs typeface="Times New Roman" panose="02020603050405020304" pitchFamily="18" charset="0"/>
                            </a:rPr>
                          </m:ctrlPr>
                        </m:dPr>
                        <m:e>
                          <m:sSup>
                            <m:sSupPr>
                              <m:ctrlPr>
                                <a:rPr lang="en-US" sz="2400" i="1" dirty="0" smtClean="0">
                                  <a:solidFill>
                                    <a:srgbClr val="C00000"/>
                                  </a:solidFill>
                                  <a:latin typeface="Cambria Math" panose="02040503050406030204" pitchFamily="18" charset="0"/>
                                  <a:cs typeface="Times New Roman" panose="02020603050405020304" pitchFamily="18" charset="0"/>
                                </a:rPr>
                              </m:ctrlPr>
                            </m:sSupPr>
                            <m:e>
                              <m:r>
                                <a:rPr lang="en-US" sz="2400" b="0" i="1" dirty="0" smtClean="0">
                                  <a:solidFill>
                                    <a:srgbClr val="C00000"/>
                                  </a:solidFill>
                                  <a:latin typeface="Cambria Math" panose="02040503050406030204" pitchFamily="18" charset="0"/>
                                  <a:cs typeface="Times New Roman" panose="02020603050405020304" pitchFamily="18" charset="0"/>
                                </a:rPr>
                                <m:t>𝑋</m:t>
                              </m:r>
                            </m:e>
                            <m:sup>
                              <m:r>
                                <a:rPr lang="en-US" sz="2400" b="0" i="1" dirty="0" smtClean="0">
                                  <a:solidFill>
                                    <a:srgbClr val="C00000"/>
                                  </a:solidFill>
                                  <a:latin typeface="Cambria Math" panose="02040503050406030204" pitchFamily="18" charset="0"/>
                                  <a:cs typeface="Times New Roman" panose="02020603050405020304" pitchFamily="18" charset="0"/>
                                </a:rPr>
                                <m:t>2</m:t>
                              </m:r>
                            </m:sup>
                          </m:sSup>
                        </m:e>
                      </m:d>
                      <m:r>
                        <a:rPr lang="en-US" sz="2400" b="0" i="1" dirty="0" smtClean="0">
                          <a:solidFill>
                            <a:srgbClr val="C00000"/>
                          </a:solidFill>
                          <a:latin typeface="Cambria Math" panose="02040503050406030204" pitchFamily="18" charset="0"/>
                          <a:cs typeface="Times New Roman" panose="02020603050405020304" pitchFamily="18" charset="0"/>
                        </a:rPr>
                        <m:t>−</m:t>
                      </m:r>
                      <m:sSup>
                        <m:sSupPr>
                          <m:ctrlPr>
                            <a:rPr lang="en-US" sz="2400" b="0" i="1" dirty="0" smtClean="0">
                              <a:solidFill>
                                <a:srgbClr val="C00000"/>
                              </a:solidFill>
                              <a:latin typeface="Cambria Math" panose="02040503050406030204" pitchFamily="18" charset="0"/>
                              <a:cs typeface="Times New Roman" panose="02020603050405020304" pitchFamily="18" charset="0"/>
                            </a:rPr>
                          </m:ctrlPr>
                        </m:sSupPr>
                        <m:e>
                          <m:d>
                            <m:dPr>
                              <m:begChr m:val="["/>
                              <m:endChr m:val="]"/>
                              <m:ctrlPr>
                                <a:rPr lang="en-US" sz="2400" i="1" dirty="0">
                                  <a:solidFill>
                                    <a:srgbClr val="C00000"/>
                                  </a:solidFill>
                                  <a:latin typeface="Cambria Math" panose="02040503050406030204" pitchFamily="18" charset="0"/>
                                  <a:cs typeface="Times New Roman" panose="02020603050405020304" pitchFamily="18" charset="0"/>
                                </a:rPr>
                              </m:ctrlPr>
                            </m:dPr>
                            <m:e>
                              <m:r>
                                <a:rPr lang="en-US" sz="2400" i="1" dirty="0">
                                  <a:solidFill>
                                    <a:srgbClr val="C00000"/>
                                  </a:solidFill>
                                  <a:latin typeface="Cambria Math" panose="02040503050406030204" pitchFamily="18" charset="0"/>
                                  <a:cs typeface="Times New Roman" panose="02020603050405020304" pitchFamily="18" charset="0"/>
                                </a:rPr>
                                <m:t>𝐸</m:t>
                              </m:r>
                              <m:r>
                                <a:rPr lang="en-US" sz="2400" i="1" dirty="0">
                                  <a:solidFill>
                                    <a:srgbClr val="C00000"/>
                                  </a:solidFill>
                                  <a:latin typeface="Cambria Math" panose="02040503050406030204" pitchFamily="18" charset="0"/>
                                  <a:cs typeface="Times New Roman" panose="02020603050405020304" pitchFamily="18" charset="0"/>
                                </a:rPr>
                                <m:t>(</m:t>
                              </m:r>
                              <m:r>
                                <a:rPr lang="en-US" sz="2400" i="1" dirty="0">
                                  <a:solidFill>
                                    <a:srgbClr val="C00000"/>
                                  </a:solidFill>
                                  <a:latin typeface="Cambria Math" panose="02040503050406030204" pitchFamily="18" charset="0"/>
                                  <a:cs typeface="Times New Roman" panose="02020603050405020304" pitchFamily="18" charset="0"/>
                                </a:rPr>
                                <m:t>𝑋</m:t>
                              </m:r>
                              <m:r>
                                <a:rPr lang="en-US" sz="2400" i="1" dirty="0">
                                  <a:solidFill>
                                    <a:srgbClr val="C00000"/>
                                  </a:solidFill>
                                  <a:latin typeface="Cambria Math" panose="02040503050406030204" pitchFamily="18" charset="0"/>
                                  <a:cs typeface="Times New Roman" panose="02020603050405020304" pitchFamily="18" charset="0"/>
                                </a:rPr>
                                <m:t>)</m:t>
                              </m:r>
                            </m:e>
                          </m:d>
                        </m:e>
                        <m:sup>
                          <m:r>
                            <a:rPr lang="en-US" sz="2400" b="0" i="1" dirty="0" smtClean="0">
                              <a:solidFill>
                                <a:srgbClr val="C00000"/>
                              </a:solidFill>
                              <a:latin typeface="Cambria Math" panose="02040503050406030204" pitchFamily="18" charset="0"/>
                              <a:cs typeface="Times New Roman" panose="02020603050405020304" pitchFamily="18" charset="0"/>
                            </a:rPr>
                            <m:t>2</m:t>
                          </m:r>
                        </m:sup>
                      </m:sSup>
                    </m:oMath>
                  </m:oMathPara>
                </a14:m>
                <a:endParaRPr lang="en-US">
                  <a:solidFill>
                    <a:srgbClr val="C0000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368690" y="2773788"/>
                <a:ext cx="3540906" cy="461665"/>
              </a:xfrm>
              <a:prstGeom prst="rect">
                <a:avLst/>
              </a:prstGeom>
              <a:blipFill>
                <a:blip r:embed="rId4"/>
                <a:stretch>
                  <a:fillRect b="-1538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458534" y="3618335"/>
                <a:ext cx="2206566" cy="8376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2060"/>
                          </a:solidFill>
                          <a:latin typeface="Cambria Math" panose="02040503050406030204" pitchFamily="18" charset="0"/>
                          <a:cs typeface="Times New Roman" panose="02020603050405020304" pitchFamily="18" charset="0"/>
                          <a:sym typeface="Varela Round"/>
                        </a:rPr>
                        <m:t>𝐸</m:t>
                      </m:r>
                      <m:d>
                        <m:dPr>
                          <m:ctrlPr>
                            <a:rPr lang="en-US" sz="2000" b="0" i="1" smtClean="0">
                              <a:solidFill>
                                <a:srgbClr val="002060"/>
                              </a:solidFill>
                              <a:latin typeface="Cambria Math" panose="02040503050406030204" pitchFamily="18" charset="0"/>
                              <a:cs typeface="Times New Roman" panose="02020603050405020304" pitchFamily="18" charset="0"/>
                              <a:sym typeface="Varela Round"/>
                            </a:rPr>
                          </m:ctrlPr>
                        </m:dPr>
                        <m:e>
                          <m:sSup>
                            <m:sSupPr>
                              <m:ctrlPr>
                                <a:rPr lang="en-US" sz="2000" b="0" i="1" smtClean="0">
                                  <a:solidFill>
                                    <a:srgbClr val="002060"/>
                                  </a:solidFill>
                                  <a:latin typeface="Cambria Math" panose="02040503050406030204" pitchFamily="18" charset="0"/>
                                  <a:cs typeface="Times New Roman" panose="02020603050405020304" pitchFamily="18" charset="0"/>
                                  <a:sym typeface="Varela Round"/>
                                </a:rPr>
                              </m:ctrlPr>
                            </m:sSupPr>
                            <m:e>
                              <m:r>
                                <a:rPr lang="en-US" sz="2000" b="0" i="1" smtClean="0">
                                  <a:solidFill>
                                    <a:srgbClr val="002060"/>
                                  </a:solidFill>
                                  <a:latin typeface="Cambria Math" panose="02040503050406030204" pitchFamily="18" charset="0"/>
                                  <a:cs typeface="Times New Roman" panose="02020603050405020304" pitchFamily="18" charset="0"/>
                                  <a:sym typeface="Varela Round"/>
                                </a:rPr>
                                <m:t>𝑋</m:t>
                              </m:r>
                            </m:e>
                            <m:sup>
                              <m:r>
                                <a:rPr lang="en-US" sz="2000" b="0" i="1" smtClean="0">
                                  <a:solidFill>
                                    <a:srgbClr val="002060"/>
                                  </a:solidFill>
                                  <a:latin typeface="Cambria Math" panose="02040503050406030204" pitchFamily="18" charset="0"/>
                                  <a:cs typeface="Times New Roman" panose="02020603050405020304" pitchFamily="18" charset="0"/>
                                  <a:sym typeface="Varela Round"/>
                                </a:rPr>
                                <m:t>2</m:t>
                              </m:r>
                            </m:sup>
                          </m:sSup>
                        </m:e>
                      </m:d>
                      <m:r>
                        <a:rPr lang="en-US" sz="2000" b="0" i="1" smtClean="0">
                          <a:solidFill>
                            <a:srgbClr val="002060"/>
                          </a:solidFill>
                          <a:latin typeface="Cambria Math" panose="02040503050406030204" pitchFamily="18" charset="0"/>
                          <a:cs typeface="Times New Roman" panose="02020603050405020304" pitchFamily="18" charset="0"/>
                          <a:sym typeface="Varela Round"/>
                        </a:rPr>
                        <m:t>=</m:t>
                      </m:r>
                      <m:nary>
                        <m:naryPr>
                          <m:chr m:val="∑"/>
                          <m:subHide m:val="on"/>
                          <m:supHide m:val="on"/>
                          <m:ctrlPr>
                            <a:rPr lang="en-US" sz="2000" i="1">
                              <a:solidFill>
                                <a:srgbClr val="002060"/>
                              </a:solidFill>
                              <a:latin typeface="Cambria Math" panose="02040503050406030204" pitchFamily="18" charset="0"/>
                              <a:cs typeface="Times New Roman" panose="02020603050405020304" pitchFamily="18" charset="0"/>
                              <a:sym typeface="Varela Round"/>
                            </a:rPr>
                          </m:ctrlPr>
                        </m:naryPr>
                        <m:sub/>
                        <m:sup/>
                        <m:e>
                          <m:sSup>
                            <m:sSupPr>
                              <m:ctrlPr>
                                <a:rPr lang="en-US" sz="2000" i="1" smtClean="0">
                                  <a:solidFill>
                                    <a:srgbClr val="002060"/>
                                  </a:solidFill>
                                  <a:latin typeface="Cambria Math" panose="02040503050406030204" pitchFamily="18" charset="0"/>
                                  <a:cs typeface="Times New Roman" panose="02020603050405020304" pitchFamily="18" charset="0"/>
                                  <a:sym typeface="Varela Round"/>
                                </a:rPr>
                              </m:ctrlPr>
                            </m:sSupPr>
                            <m:e>
                              <m:sSub>
                                <m:sSubPr>
                                  <m:ctrlPr>
                                    <a:rPr lang="en-US" sz="2000" i="1">
                                      <a:solidFill>
                                        <a:srgbClr val="002060"/>
                                      </a:solidFill>
                                      <a:latin typeface="Cambria Math" panose="02040503050406030204" pitchFamily="18" charset="0"/>
                                      <a:cs typeface="Times New Roman" panose="02020603050405020304" pitchFamily="18" charset="0"/>
                                      <a:sym typeface="Varela Round"/>
                                    </a:rPr>
                                  </m:ctrlPr>
                                </m:sSubPr>
                                <m:e>
                                  <m:r>
                                    <a:rPr lang="en-US" sz="2000" i="1">
                                      <a:solidFill>
                                        <a:srgbClr val="002060"/>
                                      </a:solidFill>
                                      <a:latin typeface="Cambria Math" panose="02040503050406030204" pitchFamily="18" charset="0"/>
                                      <a:cs typeface="Times New Roman" panose="02020603050405020304" pitchFamily="18" charset="0"/>
                                      <a:sym typeface="Varela Round"/>
                                    </a:rPr>
                                    <m:t>𝑥</m:t>
                                  </m:r>
                                </m:e>
                                <m:sub>
                                  <m:r>
                                    <a:rPr lang="en-US" sz="2000" i="1">
                                      <a:solidFill>
                                        <a:srgbClr val="002060"/>
                                      </a:solidFill>
                                      <a:latin typeface="Cambria Math" panose="02040503050406030204" pitchFamily="18" charset="0"/>
                                      <a:cs typeface="Times New Roman" panose="02020603050405020304" pitchFamily="18" charset="0"/>
                                      <a:sym typeface="Varela Round"/>
                                    </a:rPr>
                                    <m:t>𝑖</m:t>
                                  </m:r>
                                </m:sub>
                              </m:sSub>
                            </m:e>
                            <m:sup>
                              <m:r>
                                <a:rPr lang="en-US" sz="2000" b="0" i="1" smtClean="0">
                                  <a:solidFill>
                                    <a:srgbClr val="002060"/>
                                  </a:solidFill>
                                  <a:latin typeface="Cambria Math" panose="02040503050406030204" pitchFamily="18" charset="0"/>
                                  <a:cs typeface="Times New Roman" panose="02020603050405020304" pitchFamily="18" charset="0"/>
                                  <a:sym typeface="Varela Round"/>
                                </a:rPr>
                                <m:t>2</m:t>
                              </m:r>
                            </m:sup>
                          </m:sSup>
                          <m:sSub>
                            <m:sSubPr>
                              <m:ctrlPr>
                                <a:rPr lang="en-US" sz="2000" i="1">
                                  <a:solidFill>
                                    <a:srgbClr val="002060"/>
                                  </a:solidFill>
                                  <a:latin typeface="Cambria Math" panose="02040503050406030204" pitchFamily="18" charset="0"/>
                                  <a:cs typeface="Times New Roman" panose="02020603050405020304" pitchFamily="18" charset="0"/>
                                  <a:sym typeface="Varela Round"/>
                                </a:rPr>
                              </m:ctrlPr>
                            </m:sSubPr>
                            <m:e>
                              <m:r>
                                <a:rPr lang="en-US" sz="2000" i="1">
                                  <a:solidFill>
                                    <a:srgbClr val="002060"/>
                                  </a:solidFill>
                                  <a:latin typeface="Cambria Math" panose="02040503050406030204" pitchFamily="18" charset="0"/>
                                  <a:cs typeface="Times New Roman" panose="02020603050405020304" pitchFamily="18" charset="0"/>
                                  <a:sym typeface="Varela Round"/>
                                </a:rPr>
                                <m:t>𝑝</m:t>
                              </m:r>
                            </m:e>
                            <m:sub>
                              <m:r>
                                <a:rPr lang="en-US" sz="2000" i="1">
                                  <a:solidFill>
                                    <a:srgbClr val="002060"/>
                                  </a:solidFill>
                                  <a:latin typeface="Cambria Math" panose="02040503050406030204" pitchFamily="18" charset="0"/>
                                  <a:cs typeface="Times New Roman" panose="02020603050405020304" pitchFamily="18" charset="0"/>
                                  <a:sym typeface="Varela Round"/>
                                </a:rPr>
                                <m:t>𝑖</m:t>
                              </m:r>
                            </m:sub>
                          </m:sSub>
                        </m:e>
                      </m:nary>
                    </m:oMath>
                  </m:oMathPara>
                </a14:m>
                <a:endParaRPr lang="en-US" sz="2000" dirty="0">
                  <a:solidFill>
                    <a:srgbClr val="00206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1458534" y="3618335"/>
                <a:ext cx="2206566" cy="837602"/>
              </a:xfrm>
              <a:prstGeom prst="rect">
                <a:avLst/>
              </a:prstGeom>
              <a:blipFill>
                <a:blip r:embed="rId5"/>
                <a:stretch>
                  <a:fillRect t="-127273" b="-177273"/>
                </a:stretch>
              </a:blipFill>
            </p:spPr>
            <p:txBody>
              <a:bodyPr/>
              <a:lstStyle/>
              <a:p>
                <a:r>
                  <a:rPr lang="en-VN">
                    <a:noFill/>
                  </a:rPr>
                  <a:t> </a:t>
                </a:r>
              </a:p>
            </p:txBody>
          </p:sp>
        </mc:Fallback>
      </mc:AlternateContent>
      <p:pic>
        <p:nvPicPr>
          <p:cNvPr id="11" name="Picture 10" descr="Dai Nam [PPT] Template 11.png">
            <a:extLst>
              <a:ext uri="{FF2B5EF4-FFF2-40B4-BE49-F238E27FC236}">
                <a16:creationId xmlns:a16="http://schemas.microsoft.com/office/drawing/2014/main" id="{90412E73-98CA-D49C-5DFF-87EF8E5A8C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1043B3-C659-BDAD-BED9-F7884FCB9502}"/>
                  </a:ext>
                </a:extLst>
              </p:cNvPr>
              <p:cNvSpPr txBox="1"/>
              <p:nvPr/>
            </p:nvSpPr>
            <p:spPr>
              <a:xfrm>
                <a:off x="4966977" y="3533023"/>
                <a:ext cx="3540905" cy="10082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002060"/>
                          </a:solidFill>
                          <a:latin typeface="Cambria Math" panose="02040503050406030204" pitchFamily="18" charset="0"/>
                          <a:cs typeface="Times New Roman" panose="02020603050405020304" pitchFamily="18" charset="0"/>
                          <a:sym typeface="Varela Round"/>
                        </a:rPr>
                        <m:t>𝐸</m:t>
                      </m:r>
                      <m:d>
                        <m:dPr>
                          <m:ctrlPr>
                            <a:rPr lang="en-US" sz="2000" i="1">
                              <a:solidFill>
                                <a:srgbClr val="002060"/>
                              </a:solidFill>
                              <a:latin typeface="Cambria Math" panose="02040503050406030204" pitchFamily="18" charset="0"/>
                              <a:cs typeface="Times New Roman" panose="02020603050405020304" pitchFamily="18" charset="0"/>
                              <a:sym typeface="Varela Round"/>
                            </a:rPr>
                          </m:ctrlPr>
                        </m:dPr>
                        <m:e>
                          <m:sSup>
                            <m:sSupPr>
                              <m:ctrlPr>
                                <a:rPr lang="en-US" sz="2000" i="1" smtClean="0">
                                  <a:solidFill>
                                    <a:srgbClr val="002060"/>
                                  </a:solidFill>
                                  <a:latin typeface="Cambria Math" panose="02040503050406030204" pitchFamily="18" charset="0"/>
                                  <a:cs typeface="Times New Roman" panose="02020603050405020304" pitchFamily="18" charset="0"/>
                                  <a:sym typeface="Varela Round"/>
                                </a:rPr>
                              </m:ctrlPr>
                            </m:sSupPr>
                            <m:e>
                              <m:r>
                                <m:rPr>
                                  <m:sty m:val="p"/>
                                </m:rPr>
                                <a:rPr lang="en-US" sz="2000" i="1">
                                  <a:solidFill>
                                    <a:srgbClr val="002060"/>
                                  </a:solidFill>
                                  <a:latin typeface="Cambria Math" panose="02040503050406030204" pitchFamily="18" charset="0"/>
                                  <a:cs typeface="Times New Roman" panose="02020603050405020304" pitchFamily="18" charset="0"/>
                                  <a:sym typeface="Varela Round"/>
                                </a:rPr>
                                <m:t>X</m:t>
                              </m:r>
                            </m:e>
                            <m:sup>
                              <m:r>
                                <a:rPr lang="vi-VN" sz="2000" b="0" i="1" smtClean="0">
                                  <a:solidFill>
                                    <a:srgbClr val="002060"/>
                                  </a:solidFill>
                                  <a:latin typeface="Cambria Math" panose="02040503050406030204" pitchFamily="18" charset="0"/>
                                  <a:cs typeface="Times New Roman" panose="02020603050405020304" pitchFamily="18" charset="0"/>
                                  <a:sym typeface="Varela Round"/>
                                </a:rPr>
                                <m:t>2</m:t>
                              </m:r>
                            </m:sup>
                          </m:sSup>
                        </m:e>
                      </m:d>
                      <m:r>
                        <a:rPr lang="en-US" sz="2000" i="1">
                          <a:solidFill>
                            <a:srgbClr val="002060"/>
                          </a:solidFill>
                          <a:latin typeface="Cambria Math" panose="02040503050406030204" pitchFamily="18" charset="0"/>
                          <a:cs typeface="Times New Roman" panose="02020603050405020304" pitchFamily="18" charset="0"/>
                          <a:sym typeface="Varela Round"/>
                        </a:rPr>
                        <m:t>=</m:t>
                      </m:r>
                      <m:nary>
                        <m:naryPr>
                          <m:limLoc m:val="undOvr"/>
                          <m:ctrlPr>
                            <a:rPr lang="en-US" sz="2000" i="1" smtClean="0">
                              <a:solidFill>
                                <a:srgbClr val="002060"/>
                              </a:solidFill>
                              <a:latin typeface="Cambria Math" panose="02040503050406030204" pitchFamily="18" charset="0"/>
                              <a:cs typeface="Times New Roman" panose="02020603050405020304" pitchFamily="18" charset="0"/>
                              <a:sym typeface="Varela Round"/>
                            </a:rPr>
                          </m:ctrlPr>
                        </m:naryPr>
                        <m:sub>
                          <m:r>
                            <m:rPr>
                              <m:brk m:alnAt="24"/>
                            </m:rPr>
                            <a:rPr lang="vi-VN" sz="2000" b="0" i="1" smtClean="0">
                              <a:solidFill>
                                <a:srgbClr val="002060"/>
                              </a:solidFill>
                              <a:latin typeface="Cambria Math" panose="02040503050406030204" pitchFamily="18" charset="0"/>
                              <a:cs typeface="Times New Roman" panose="02020603050405020304" pitchFamily="18" charset="0"/>
                              <a:sym typeface="Varela Round"/>
                            </a:rPr>
                            <m:t>−</m:t>
                          </m:r>
                          <m:r>
                            <a:rPr lang="vi-VN" sz="20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sym typeface="Varela Round"/>
                            </a:rPr>
                            <m:t>∞</m:t>
                          </m:r>
                        </m:sub>
                        <m:sup>
                          <m:r>
                            <a:rPr lang="vi-VN" sz="2000" b="0" i="1" smtClean="0">
                              <a:solidFill>
                                <a:srgbClr val="002060"/>
                              </a:solidFill>
                              <a:latin typeface="Cambria Math" panose="02040503050406030204" pitchFamily="18" charset="0"/>
                              <a:cs typeface="Times New Roman" panose="02020603050405020304" pitchFamily="18" charset="0"/>
                              <a:sym typeface="Varela Round"/>
                            </a:rPr>
                            <m:t>+</m:t>
                          </m:r>
                          <m:r>
                            <a:rPr lang="vi-VN" sz="20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sym typeface="Varela Round"/>
                            </a:rPr>
                            <m:t>∞</m:t>
                          </m:r>
                        </m:sup>
                        <m:e>
                          <m:sSup>
                            <m:sSupPr>
                              <m:ctrlPr>
                                <a:rPr lang="en-US" sz="2000" i="1">
                                  <a:solidFill>
                                    <a:srgbClr val="002060"/>
                                  </a:solidFill>
                                  <a:latin typeface="Cambria Math" panose="02040503050406030204" pitchFamily="18" charset="0"/>
                                  <a:cs typeface="Times New Roman" panose="02020603050405020304" pitchFamily="18" charset="0"/>
                                  <a:sym typeface="Varela Round"/>
                                </a:rPr>
                              </m:ctrlPr>
                            </m:sSupPr>
                            <m:e>
                              <m:r>
                                <a:rPr lang="en-US" sz="2000" i="1" smtClean="0">
                                  <a:solidFill>
                                    <a:srgbClr val="002060"/>
                                  </a:solidFill>
                                  <a:latin typeface="Cambria Math" panose="02040503050406030204" pitchFamily="18" charset="0"/>
                                  <a:cs typeface="Times New Roman" panose="02020603050405020304" pitchFamily="18" charset="0"/>
                                  <a:sym typeface="Varela Round"/>
                                </a:rPr>
                                <m:t>𝑥</m:t>
                              </m:r>
                            </m:e>
                            <m:sup>
                              <m:r>
                                <a:rPr lang="vi-VN" sz="2000" i="1">
                                  <a:solidFill>
                                    <a:srgbClr val="002060"/>
                                  </a:solidFill>
                                  <a:latin typeface="Cambria Math" panose="02040503050406030204" pitchFamily="18" charset="0"/>
                                  <a:cs typeface="Times New Roman" panose="02020603050405020304" pitchFamily="18" charset="0"/>
                                  <a:sym typeface="Varela Round"/>
                                </a:rPr>
                                <m:t>2</m:t>
                              </m:r>
                            </m:sup>
                          </m:sSup>
                          <m:r>
                            <a:rPr lang="vi-VN" sz="2000" b="0" i="1" smtClean="0">
                              <a:solidFill>
                                <a:srgbClr val="002060"/>
                              </a:solidFill>
                              <a:latin typeface="Cambria Math" panose="02040503050406030204" pitchFamily="18" charset="0"/>
                              <a:cs typeface="Times New Roman" panose="02020603050405020304" pitchFamily="18" charset="0"/>
                              <a:sym typeface="Varela Round"/>
                            </a:rPr>
                            <m:t>.</m:t>
                          </m:r>
                          <m:r>
                            <a:rPr lang="en-US" sz="2000" i="1">
                              <a:solidFill>
                                <a:srgbClr val="002060"/>
                              </a:solidFill>
                              <a:latin typeface="Cambria Math" panose="02040503050406030204" pitchFamily="18" charset="0"/>
                              <a:cs typeface="Times New Roman" panose="02020603050405020304" pitchFamily="18" charset="0"/>
                              <a:sym typeface="Varela Round"/>
                            </a:rPr>
                            <m:t>𝑓</m:t>
                          </m:r>
                          <m:r>
                            <a:rPr lang="vi-VN" sz="2000" b="0" i="1" smtClean="0">
                              <a:solidFill>
                                <a:srgbClr val="002060"/>
                              </a:solidFill>
                              <a:latin typeface="Cambria Math" panose="02040503050406030204" pitchFamily="18" charset="0"/>
                              <a:cs typeface="Times New Roman" panose="02020603050405020304" pitchFamily="18" charset="0"/>
                              <a:sym typeface="Varela Round"/>
                            </a:rPr>
                            <m:t>(</m:t>
                          </m:r>
                          <m:r>
                            <a:rPr lang="vi-VN" sz="2000" i="1">
                              <a:solidFill>
                                <a:srgbClr val="002060"/>
                              </a:solidFill>
                              <a:latin typeface="Cambria Math" panose="02040503050406030204" pitchFamily="18" charset="0"/>
                              <a:cs typeface="Times New Roman" panose="02020603050405020304" pitchFamily="18" charset="0"/>
                              <a:sym typeface="Varela Round"/>
                            </a:rPr>
                            <m:t>𝑥</m:t>
                          </m:r>
                          <m:r>
                            <a:rPr lang="vi-VN" sz="2000" b="0" i="1" smtClean="0">
                              <a:solidFill>
                                <a:srgbClr val="002060"/>
                              </a:solidFill>
                              <a:latin typeface="Cambria Math" panose="02040503050406030204" pitchFamily="18" charset="0"/>
                              <a:cs typeface="Times New Roman" panose="02020603050405020304" pitchFamily="18" charset="0"/>
                              <a:sym typeface="Varela Round"/>
                            </a:rPr>
                            <m:t>)</m:t>
                          </m:r>
                          <m:r>
                            <a:rPr lang="vi-VN" sz="2000" i="1">
                              <a:solidFill>
                                <a:srgbClr val="002060"/>
                              </a:solidFill>
                              <a:latin typeface="Cambria Math" panose="02040503050406030204" pitchFamily="18" charset="0"/>
                              <a:cs typeface="Times New Roman" panose="02020603050405020304" pitchFamily="18" charset="0"/>
                              <a:sym typeface="Varela Round"/>
                            </a:rPr>
                            <m:t>𝑑𝑥</m:t>
                          </m:r>
                        </m:e>
                      </m:nary>
                    </m:oMath>
                  </m:oMathPara>
                </a14:m>
                <a:endParaRPr lang="en-VN" sz="2000" dirty="0"/>
              </a:p>
            </p:txBody>
          </p:sp>
        </mc:Choice>
        <mc:Fallback xmlns="">
          <p:sp>
            <p:nvSpPr>
              <p:cNvPr id="7" name="TextBox 6">
                <a:extLst>
                  <a:ext uri="{FF2B5EF4-FFF2-40B4-BE49-F238E27FC236}">
                    <a16:creationId xmlns:a16="http://schemas.microsoft.com/office/drawing/2014/main" id="{0D1043B3-C659-BDAD-BED9-F7884FCB9502}"/>
                  </a:ext>
                </a:extLst>
              </p:cNvPr>
              <p:cNvSpPr txBox="1">
                <a:spLocks noRot="1" noChangeAspect="1" noMove="1" noResize="1" noEditPoints="1" noAdjustHandles="1" noChangeArrowheads="1" noChangeShapeType="1" noTextEdit="1"/>
              </p:cNvSpPr>
              <p:nvPr/>
            </p:nvSpPr>
            <p:spPr>
              <a:xfrm>
                <a:off x="4966977" y="3533023"/>
                <a:ext cx="3540905" cy="1008225"/>
              </a:xfrm>
              <a:prstGeom prst="rect">
                <a:avLst/>
              </a:prstGeom>
              <a:blipFill>
                <a:blip r:embed="rId7"/>
                <a:stretch>
                  <a:fillRect t="-108750" b="-168750"/>
                </a:stretch>
              </a:blipFill>
            </p:spPr>
            <p:txBody>
              <a:bodyPr/>
              <a:lstStyle/>
              <a:p>
                <a:r>
                  <a:rPr lang="en-VN">
                    <a:noFill/>
                  </a:rPr>
                  <a:t> </a:t>
                </a:r>
              </a:p>
            </p:txBody>
          </p:sp>
        </mc:Fallback>
      </mc:AlternateContent>
    </p:spTree>
    <p:extLst>
      <p:ext uri="{BB962C8B-B14F-4D97-AF65-F5344CB8AC3E}">
        <p14:creationId xmlns:p14="http://schemas.microsoft.com/office/powerpoint/2010/main" val="3568183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27</a:t>
            </a:fld>
            <a:endParaRPr lang="en"/>
          </a:p>
        </p:txBody>
      </p:sp>
      <p:sp>
        <p:nvSpPr>
          <p:cNvPr id="5" name="Title 1"/>
          <p:cNvSpPr>
            <a:spLocks noGrp="1"/>
          </p:cNvSpPr>
          <p:nvPr>
            <p:ph type="title"/>
          </p:nvPr>
        </p:nvSpPr>
        <p:spPr>
          <a:xfrm>
            <a:off x="2642457" y="52362"/>
            <a:ext cx="4407785" cy="580136"/>
          </a:xfrm>
        </p:spPr>
        <p:txBody>
          <a:bodyPr/>
          <a:lstStyle/>
          <a:p>
            <a:r>
              <a:rPr lang="en-US" sz="3200" spc="-5" dirty="0" err="1">
                <a:solidFill>
                  <a:srgbClr val="002060"/>
                </a:solidFill>
                <a:latin typeface="Arial" panose="020B0604020202020204" pitchFamily="34" charset="0"/>
                <a:cs typeface="Arial" panose="020B0604020202020204" pitchFamily="34" charset="0"/>
              </a:rPr>
              <a:t>Phương</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sai</a:t>
            </a:r>
            <a:endParaRPr lang="en-US" sz="3200" dirty="0">
              <a:solidFill>
                <a:srgbClr val="002060"/>
              </a:solidFill>
              <a:latin typeface="Arial" panose="020B0604020202020204" pitchFamily="34" charset="0"/>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025673988"/>
              </p:ext>
            </p:extLst>
          </p:nvPr>
        </p:nvGraphicFramePr>
        <p:xfrm>
          <a:off x="1524000" y="1505045"/>
          <a:ext cx="6096000" cy="914400"/>
        </p:xfrm>
        <a:graphic>
          <a:graphicData uri="http://schemas.openxmlformats.org/drawingml/2006/table">
            <a:tbl>
              <a:tblPr firstRow="1" bandRow="1">
                <a:tableStyleId>{238068B5-05EC-40D0-BF61-CF48C4B65AA2}</a:tableStyleId>
              </a:tblPr>
              <a:tblGrid>
                <a:gridCol w="1524000">
                  <a:extLst>
                    <a:ext uri="{9D8B030D-6E8A-4147-A177-3AD203B41FA5}">
                      <a16:colId xmlns:a16="http://schemas.microsoft.com/office/drawing/2014/main" val="1368921100"/>
                    </a:ext>
                  </a:extLst>
                </a:gridCol>
                <a:gridCol w="1524000">
                  <a:extLst>
                    <a:ext uri="{9D8B030D-6E8A-4147-A177-3AD203B41FA5}">
                      <a16:colId xmlns:a16="http://schemas.microsoft.com/office/drawing/2014/main" val="1431253928"/>
                    </a:ext>
                  </a:extLst>
                </a:gridCol>
                <a:gridCol w="1524000">
                  <a:extLst>
                    <a:ext uri="{9D8B030D-6E8A-4147-A177-3AD203B41FA5}">
                      <a16:colId xmlns:a16="http://schemas.microsoft.com/office/drawing/2014/main" val="4076088317"/>
                    </a:ext>
                  </a:extLst>
                </a:gridCol>
                <a:gridCol w="1524000">
                  <a:extLst>
                    <a:ext uri="{9D8B030D-6E8A-4147-A177-3AD203B41FA5}">
                      <a16:colId xmlns:a16="http://schemas.microsoft.com/office/drawing/2014/main" val="3096774215"/>
                    </a:ext>
                  </a:extLst>
                </a:gridCol>
              </a:tblGrid>
              <a:tr h="370840">
                <a:tc>
                  <a:txBody>
                    <a:bodyPr/>
                    <a:lstStyle/>
                    <a:p>
                      <a:pPr algn="ctr"/>
                      <a:r>
                        <a:rPr lang="en-US" sz="2400">
                          <a:solidFill>
                            <a:srgbClr val="002060"/>
                          </a:solidFill>
                          <a:latin typeface="Arial" panose="020B0604020202020204" pitchFamily="34" charset="0"/>
                          <a:cs typeface="Arial" panose="020B0604020202020204" pitchFamily="34" charset="0"/>
                        </a:rPr>
                        <a:t>X</a:t>
                      </a:r>
                    </a:p>
                  </a:txBody>
                  <a:tcPr/>
                </a:tc>
                <a:tc>
                  <a:txBody>
                    <a:bodyPr/>
                    <a:lstStyle/>
                    <a:p>
                      <a:pPr algn="ctr"/>
                      <a:r>
                        <a:rPr lang="en-US" sz="2400">
                          <a:solidFill>
                            <a:srgbClr val="002060"/>
                          </a:solidFill>
                          <a:latin typeface="Arial" panose="020B0604020202020204" pitchFamily="34" charset="0"/>
                          <a:cs typeface="Arial" panose="020B0604020202020204" pitchFamily="34" charset="0"/>
                        </a:rPr>
                        <a:t>0</a:t>
                      </a:r>
                    </a:p>
                  </a:txBody>
                  <a:tcPr/>
                </a:tc>
                <a:tc>
                  <a:txBody>
                    <a:bodyPr/>
                    <a:lstStyle/>
                    <a:p>
                      <a:pPr algn="ctr"/>
                      <a:r>
                        <a:rPr lang="en-US" sz="2400">
                          <a:solidFill>
                            <a:srgbClr val="002060"/>
                          </a:solidFill>
                          <a:latin typeface="Arial" panose="020B0604020202020204" pitchFamily="34" charset="0"/>
                          <a:cs typeface="Arial" panose="020B0604020202020204" pitchFamily="34" charset="0"/>
                        </a:rPr>
                        <a:t>1</a:t>
                      </a:r>
                    </a:p>
                  </a:txBody>
                  <a:tcPr/>
                </a:tc>
                <a:tc>
                  <a:txBody>
                    <a:bodyPr/>
                    <a:lstStyle/>
                    <a:p>
                      <a:pPr algn="ctr"/>
                      <a:r>
                        <a:rPr lang="en-US" sz="2400">
                          <a:solidFill>
                            <a:srgbClr val="002060"/>
                          </a:solidFill>
                          <a:latin typeface="Arial" panose="020B0604020202020204" pitchFamily="34" charset="0"/>
                          <a:cs typeface="Arial" panose="020B0604020202020204" pitchFamily="34" charset="0"/>
                        </a:rPr>
                        <a:t>2</a:t>
                      </a:r>
                    </a:p>
                  </a:txBody>
                  <a:tcPr/>
                </a:tc>
                <a:extLst>
                  <a:ext uri="{0D108BD9-81ED-4DB2-BD59-A6C34878D82A}">
                    <a16:rowId xmlns:a16="http://schemas.microsoft.com/office/drawing/2014/main" val="3521491516"/>
                  </a:ext>
                </a:extLst>
              </a:tr>
              <a:tr h="370840">
                <a:tc>
                  <a:txBody>
                    <a:bodyPr/>
                    <a:lstStyle/>
                    <a:p>
                      <a:pPr algn="ctr"/>
                      <a:r>
                        <a:rPr lang="en-US" sz="2400">
                          <a:solidFill>
                            <a:srgbClr val="002060"/>
                          </a:solidFill>
                          <a:latin typeface="Arial" panose="020B0604020202020204" pitchFamily="34" charset="0"/>
                          <a:cs typeface="Arial" panose="020B0604020202020204" pitchFamily="34" charset="0"/>
                        </a:rPr>
                        <a:t>P</a:t>
                      </a:r>
                    </a:p>
                  </a:txBody>
                  <a:tcPr/>
                </a:tc>
                <a:tc>
                  <a:txBody>
                    <a:bodyPr/>
                    <a:lstStyle/>
                    <a:p>
                      <a:pPr algn="ctr"/>
                      <a:r>
                        <a:rPr lang="en-US" sz="2400">
                          <a:solidFill>
                            <a:srgbClr val="002060"/>
                          </a:solidFill>
                          <a:latin typeface="Arial" panose="020B0604020202020204" pitchFamily="34" charset="0"/>
                          <a:cs typeface="Arial" panose="020B0604020202020204" pitchFamily="34" charset="0"/>
                        </a:rPr>
                        <a:t>0,25</a:t>
                      </a:r>
                    </a:p>
                  </a:txBody>
                  <a:tcPr/>
                </a:tc>
                <a:tc>
                  <a:txBody>
                    <a:bodyPr/>
                    <a:lstStyle/>
                    <a:p>
                      <a:pPr algn="ctr"/>
                      <a:r>
                        <a:rPr lang="en-US" sz="2400">
                          <a:solidFill>
                            <a:srgbClr val="002060"/>
                          </a:solidFill>
                          <a:latin typeface="Arial" panose="020B0604020202020204" pitchFamily="34" charset="0"/>
                          <a:cs typeface="Arial" panose="020B0604020202020204" pitchFamily="34" charset="0"/>
                        </a:rPr>
                        <a:t>0,5</a:t>
                      </a:r>
                    </a:p>
                  </a:txBody>
                  <a:tcPr/>
                </a:tc>
                <a:tc>
                  <a:txBody>
                    <a:bodyPr/>
                    <a:lstStyle/>
                    <a:p>
                      <a:pPr algn="ctr"/>
                      <a:r>
                        <a:rPr lang="en-US" sz="2400" dirty="0">
                          <a:solidFill>
                            <a:srgbClr val="002060"/>
                          </a:solidFill>
                          <a:latin typeface="Arial" panose="020B0604020202020204" pitchFamily="34" charset="0"/>
                          <a:cs typeface="Arial" panose="020B0604020202020204" pitchFamily="34" charset="0"/>
                        </a:rPr>
                        <a:t>0,25</a:t>
                      </a:r>
                    </a:p>
                  </a:txBody>
                  <a:tcPr/>
                </a:tc>
                <a:extLst>
                  <a:ext uri="{0D108BD9-81ED-4DB2-BD59-A6C34878D82A}">
                    <a16:rowId xmlns:a16="http://schemas.microsoft.com/office/drawing/2014/main" val="2276788744"/>
                  </a:ext>
                </a:extLst>
              </a:tr>
            </a:tbl>
          </a:graphicData>
        </a:graphic>
      </p:graphicFrame>
      <p:sp>
        <p:nvSpPr>
          <p:cNvPr id="7" name="Rectangle 6"/>
          <p:cNvSpPr/>
          <p:nvPr/>
        </p:nvSpPr>
        <p:spPr>
          <a:xfrm>
            <a:off x="779432" y="954459"/>
            <a:ext cx="7353917" cy="461665"/>
          </a:xfrm>
          <a:prstGeom prst="rect">
            <a:avLst/>
          </a:prstGeom>
        </p:spPr>
        <p:txBody>
          <a:bodyPr wrap="square">
            <a:spAutoFit/>
          </a:bodyPr>
          <a:lstStyle/>
          <a:p>
            <a:pPr>
              <a:buClrTx/>
              <a:buFontTx/>
              <a:buNone/>
            </a:pPr>
            <a:r>
              <a:rPr lang="en-US" sz="2400" b="1" kern="1200" dirty="0" err="1">
                <a:solidFill>
                  <a:srgbClr val="002060"/>
                </a:solidFill>
                <a:latin typeface="Arial" panose="020B0604020202020204" pitchFamily="34" charset="0"/>
                <a:ea typeface="+mn-ea"/>
                <a:cs typeface="Arial" panose="020B0604020202020204" pitchFamily="34" charset="0"/>
              </a:rPr>
              <a:t>Ví</a:t>
            </a:r>
            <a:r>
              <a:rPr lang="en-US" sz="2400" b="1" kern="1200" dirty="0">
                <a:solidFill>
                  <a:srgbClr val="002060"/>
                </a:solidFill>
                <a:latin typeface="Arial" panose="020B0604020202020204" pitchFamily="34" charset="0"/>
                <a:ea typeface="+mn-ea"/>
                <a:cs typeface="Arial" panose="020B0604020202020204" pitchFamily="34" charset="0"/>
              </a:rPr>
              <a:t> </a:t>
            </a:r>
            <a:r>
              <a:rPr lang="en-US" sz="2400" b="1" kern="1200" dirty="0" err="1">
                <a:solidFill>
                  <a:srgbClr val="002060"/>
                </a:solidFill>
                <a:latin typeface="Arial" panose="020B0604020202020204" pitchFamily="34" charset="0"/>
                <a:ea typeface="+mn-ea"/>
                <a:cs typeface="Arial" panose="020B0604020202020204" pitchFamily="34" charset="0"/>
              </a:rPr>
              <a:t>dụ</a:t>
            </a:r>
            <a:r>
              <a:rPr lang="en-US" sz="2400" b="1" kern="1200" dirty="0">
                <a:solidFill>
                  <a:srgbClr val="002060"/>
                </a:solidFill>
                <a:latin typeface="Arial" panose="020B0604020202020204" pitchFamily="34" charset="0"/>
                <a:ea typeface="+mn-ea"/>
                <a:cs typeface="Arial" panose="020B0604020202020204" pitchFamily="34" charset="0"/>
              </a:rPr>
              <a:t>: </a:t>
            </a:r>
            <a:r>
              <a:rPr lang="en-US" sz="2400" kern="1200" dirty="0">
                <a:solidFill>
                  <a:srgbClr val="002060"/>
                </a:solidFill>
                <a:latin typeface="Arial" panose="020B0604020202020204" pitchFamily="34" charset="0"/>
                <a:ea typeface="+mn-ea"/>
                <a:cs typeface="Arial" panose="020B0604020202020204" pitchFamily="34" charset="0"/>
              </a:rPr>
              <a:t>Cho BNN </a:t>
            </a:r>
            <a:r>
              <a:rPr lang="en-US" sz="2400" i="1" kern="1200" dirty="0">
                <a:solidFill>
                  <a:srgbClr val="002060"/>
                </a:solidFill>
                <a:latin typeface="Arial" panose="020B0604020202020204" pitchFamily="34" charset="0"/>
                <a:ea typeface="+mn-ea"/>
                <a:cs typeface="Arial" panose="020B0604020202020204" pitchFamily="34" charset="0"/>
              </a:rPr>
              <a:t>X</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có</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bảng</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phân</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phối</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xác</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suất</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sau</a:t>
            </a:r>
            <a:endParaRPr lang="en-US" sz="2400" kern="1200" dirty="0">
              <a:solidFill>
                <a:srgbClr val="002060"/>
              </a:solidFill>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8" name="Rectangle 7"/>
              <p:cNvSpPr/>
              <p:nvPr/>
            </p:nvSpPr>
            <p:spPr>
              <a:xfrm>
                <a:off x="110782" y="2556151"/>
                <a:ext cx="8022567" cy="461665"/>
              </a:xfrm>
              <a:prstGeom prst="rect">
                <a:avLst/>
              </a:prstGeom>
            </p:spPr>
            <p:txBody>
              <a:bodyPr wrap="square">
                <a:spAutoFit/>
              </a:bodyPr>
              <a:lstStyle/>
              <a:p>
                <a:pPr marL="342900" indent="-342900">
                  <a:buClrTx/>
                  <a:buFont typeface="Wingdings" panose="05000000000000000000" pitchFamily="2" charset="2"/>
                  <a:buChar char="Ø"/>
                </a:pP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Kỳ</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vọng</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của</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i="1" kern="1200" dirty="0">
                    <a:solidFill>
                      <a:srgbClr val="002060"/>
                    </a:solidFill>
                    <a:latin typeface="Arial" panose="020B0604020202020204" pitchFamily="34" charset="0"/>
                    <a:ea typeface="+mn-ea"/>
                    <a:cs typeface="Arial" panose="020B0604020202020204" pitchFamily="34" charset="0"/>
                  </a:rPr>
                  <a:t>X:  </a:t>
                </a:r>
                <a14:m>
                  <m:oMath xmlns:m="http://schemas.openxmlformats.org/officeDocument/2006/math">
                    <m:r>
                      <a:rPr lang="en-US" sz="2400" b="0" i="1" kern="1200" smtClean="0">
                        <a:solidFill>
                          <a:srgbClr val="002060"/>
                        </a:solidFill>
                        <a:latin typeface="Cambria Math" panose="02040503050406030204" pitchFamily="18" charset="0"/>
                        <a:ea typeface="+mn-ea"/>
                        <a:cs typeface="Times New Roman" panose="02020603050405020304" pitchFamily="18" charset="0"/>
                      </a:rPr>
                      <m:t>𝐸</m:t>
                    </m:r>
                    <m:d>
                      <m:dPr>
                        <m:ctrlPr>
                          <a:rPr lang="en-US" sz="2400" b="0" i="1" kern="1200" smtClean="0">
                            <a:solidFill>
                              <a:srgbClr val="002060"/>
                            </a:solidFill>
                            <a:latin typeface="Cambria Math" panose="02040503050406030204" pitchFamily="18" charset="0"/>
                            <a:ea typeface="+mn-ea"/>
                            <a:cs typeface="Times New Roman" panose="02020603050405020304" pitchFamily="18" charset="0"/>
                          </a:rPr>
                        </m:ctrlPr>
                      </m:dPr>
                      <m:e>
                        <m:r>
                          <a:rPr lang="en-US" sz="2400" b="0" i="1" kern="1200" smtClean="0">
                            <a:solidFill>
                              <a:srgbClr val="002060"/>
                            </a:solidFill>
                            <a:latin typeface="Cambria Math" panose="02040503050406030204" pitchFamily="18" charset="0"/>
                            <a:ea typeface="+mn-ea"/>
                            <a:cs typeface="Times New Roman" panose="02020603050405020304" pitchFamily="18" charset="0"/>
                          </a:rPr>
                          <m:t>𝑋</m:t>
                        </m:r>
                      </m:e>
                    </m:d>
                    <m:r>
                      <a:rPr lang="en-US" sz="2400" b="0" i="1" kern="1200" smtClean="0">
                        <a:solidFill>
                          <a:srgbClr val="002060"/>
                        </a:solidFill>
                        <a:latin typeface="Cambria Math" panose="02040503050406030204" pitchFamily="18" charset="0"/>
                        <a:ea typeface="+mn-ea"/>
                        <a:cs typeface="Times New Roman" panose="02020603050405020304" pitchFamily="18" charset="0"/>
                      </a:rPr>
                      <m:t>=1</m:t>
                    </m:r>
                  </m:oMath>
                </a14:m>
                <a:endParaRPr lang="en-US" sz="2400" kern="1200" dirty="0">
                  <a:solidFill>
                    <a:srgbClr val="002060"/>
                  </a:solidFill>
                  <a:latin typeface="Arial" panose="020B0604020202020204" pitchFamily="34" charset="0"/>
                  <a:ea typeface="+mn-ea"/>
                  <a:cs typeface="Arial" panose="020B0604020202020204" pitchFamily="34"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10782" y="2556151"/>
                <a:ext cx="8022567" cy="461665"/>
              </a:xfrm>
              <a:prstGeom prst="rect">
                <a:avLst/>
              </a:prstGeom>
              <a:blipFill>
                <a:blip r:embed="rId2"/>
                <a:stretch>
                  <a:fillRect l="-948" t="-10811" b="-2702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484456" y="2979428"/>
                <a:ext cx="7872984" cy="11306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kern="1200" smtClean="0">
                          <a:solidFill>
                            <a:srgbClr val="002060"/>
                          </a:solidFill>
                          <a:latin typeface="Cambria Math" panose="02040503050406030204" pitchFamily="18" charset="0"/>
                          <a:cs typeface="Times New Roman" panose="02020603050405020304" pitchFamily="18" charset="0"/>
                        </a:rPr>
                        <m:t>𝐸</m:t>
                      </m:r>
                      <m:d>
                        <m:dPr>
                          <m:ctrlPr>
                            <a:rPr lang="en-US" sz="2400" i="1" kern="1200">
                              <a:solidFill>
                                <a:srgbClr val="002060"/>
                              </a:solidFill>
                              <a:latin typeface="Cambria Math" panose="02040503050406030204" pitchFamily="18" charset="0"/>
                              <a:cs typeface="Times New Roman" panose="02020603050405020304" pitchFamily="18" charset="0"/>
                            </a:rPr>
                          </m:ctrlPr>
                        </m:dPr>
                        <m:e>
                          <m:sSup>
                            <m:sSupPr>
                              <m:ctrlPr>
                                <a:rPr lang="en-US" sz="2400" i="1" kern="1200">
                                  <a:solidFill>
                                    <a:srgbClr val="002060"/>
                                  </a:solidFill>
                                  <a:latin typeface="Cambria Math" panose="02040503050406030204" pitchFamily="18" charset="0"/>
                                  <a:cs typeface="Times New Roman" panose="02020603050405020304" pitchFamily="18" charset="0"/>
                                </a:rPr>
                              </m:ctrlPr>
                            </m:sSupPr>
                            <m:e>
                              <m:r>
                                <a:rPr lang="en-US" sz="2400" i="1" kern="1200">
                                  <a:solidFill>
                                    <a:srgbClr val="002060"/>
                                  </a:solidFill>
                                  <a:latin typeface="Cambria Math" panose="02040503050406030204" pitchFamily="18" charset="0"/>
                                  <a:cs typeface="Times New Roman" panose="02020603050405020304" pitchFamily="18" charset="0"/>
                                </a:rPr>
                                <m:t>𝑋</m:t>
                              </m:r>
                            </m:e>
                            <m:sup>
                              <m:r>
                                <a:rPr lang="en-US" sz="2400" i="1" kern="1200">
                                  <a:solidFill>
                                    <a:srgbClr val="002060"/>
                                  </a:solidFill>
                                  <a:latin typeface="Cambria Math" panose="02040503050406030204" pitchFamily="18" charset="0"/>
                                  <a:cs typeface="Times New Roman" panose="02020603050405020304" pitchFamily="18" charset="0"/>
                                </a:rPr>
                                <m:t>2</m:t>
                              </m:r>
                            </m:sup>
                          </m:sSup>
                        </m:e>
                      </m:d>
                      <m:r>
                        <a:rPr lang="en-US" sz="2400" i="1" kern="1200">
                          <a:solidFill>
                            <a:srgbClr val="002060"/>
                          </a:solidFill>
                          <a:latin typeface="Cambria Math" panose="02040503050406030204" pitchFamily="18" charset="0"/>
                          <a:cs typeface="Times New Roman" panose="02020603050405020304" pitchFamily="18" charset="0"/>
                        </a:rPr>
                        <m:t>=</m:t>
                      </m:r>
                      <m:nary>
                        <m:naryPr>
                          <m:chr m:val="∑"/>
                          <m:ctrlPr>
                            <a:rPr lang="en-US" sz="2400" i="1" kern="1200">
                              <a:solidFill>
                                <a:srgbClr val="002060"/>
                              </a:solidFill>
                              <a:latin typeface="Cambria Math" panose="02040503050406030204" pitchFamily="18" charset="0"/>
                              <a:cs typeface="Times New Roman" panose="02020603050405020304" pitchFamily="18" charset="0"/>
                            </a:rPr>
                          </m:ctrlPr>
                        </m:naryPr>
                        <m:sub>
                          <m:r>
                            <m:rPr>
                              <m:brk m:alnAt="23"/>
                            </m:rPr>
                            <a:rPr lang="en-US" sz="2400" i="1" kern="1200">
                              <a:solidFill>
                                <a:srgbClr val="002060"/>
                              </a:solidFill>
                              <a:latin typeface="Cambria Math" panose="02040503050406030204" pitchFamily="18" charset="0"/>
                              <a:cs typeface="Times New Roman" panose="02020603050405020304" pitchFamily="18" charset="0"/>
                            </a:rPr>
                            <m:t>𝑖</m:t>
                          </m:r>
                          <m:r>
                            <a:rPr lang="en-US" sz="2400" i="1" kern="1200">
                              <a:solidFill>
                                <a:srgbClr val="002060"/>
                              </a:solidFill>
                              <a:latin typeface="Cambria Math" panose="02040503050406030204" pitchFamily="18" charset="0"/>
                              <a:cs typeface="Times New Roman" panose="02020603050405020304" pitchFamily="18" charset="0"/>
                            </a:rPr>
                            <m:t>=1</m:t>
                          </m:r>
                        </m:sub>
                        <m:sup>
                          <m:r>
                            <a:rPr lang="en-US" sz="2400" i="1" kern="1200">
                              <a:solidFill>
                                <a:srgbClr val="002060"/>
                              </a:solidFill>
                              <a:latin typeface="Cambria Math" panose="02040503050406030204" pitchFamily="18" charset="0"/>
                              <a:cs typeface="Times New Roman" panose="02020603050405020304" pitchFamily="18" charset="0"/>
                            </a:rPr>
                            <m:t>3</m:t>
                          </m:r>
                        </m:sup>
                        <m:e>
                          <m:sSubSup>
                            <m:sSubSupPr>
                              <m:ctrlPr>
                                <a:rPr lang="en-US" sz="2400" i="1" kern="1200">
                                  <a:solidFill>
                                    <a:srgbClr val="002060"/>
                                  </a:solidFill>
                                  <a:latin typeface="Cambria Math" panose="02040503050406030204" pitchFamily="18" charset="0"/>
                                  <a:cs typeface="Times New Roman" panose="02020603050405020304" pitchFamily="18" charset="0"/>
                                </a:rPr>
                              </m:ctrlPr>
                            </m:sSubSupPr>
                            <m:e>
                              <m:r>
                                <a:rPr lang="en-US" sz="2400" i="1" kern="1200">
                                  <a:solidFill>
                                    <a:srgbClr val="002060"/>
                                  </a:solidFill>
                                  <a:latin typeface="Cambria Math" panose="02040503050406030204" pitchFamily="18" charset="0"/>
                                  <a:cs typeface="Times New Roman" panose="02020603050405020304" pitchFamily="18" charset="0"/>
                                </a:rPr>
                                <m:t>𝑥</m:t>
                              </m:r>
                            </m:e>
                            <m:sub>
                              <m:r>
                                <a:rPr lang="en-US" sz="2400" i="1" kern="1200">
                                  <a:solidFill>
                                    <a:srgbClr val="002060"/>
                                  </a:solidFill>
                                  <a:latin typeface="Cambria Math" panose="02040503050406030204" pitchFamily="18" charset="0"/>
                                  <a:cs typeface="Times New Roman" panose="02020603050405020304" pitchFamily="18" charset="0"/>
                                </a:rPr>
                                <m:t>𝑖</m:t>
                              </m:r>
                            </m:sub>
                            <m:sup>
                              <m:r>
                                <a:rPr lang="en-US" sz="2400" i="1" kern="1200">
                                  <a:solidFill>
                                    <a:srgbClr val="002060"/>
                                  </a:solidFill>
                                  <a:latin typeface="Cambria Math" panose="02040503050406030204" pitchFamily="18" charset="0"/>
                                  <a:cs typeface="Times New Roman" panose="02020603050405020304" pitchFamily="18" charset="0"/>
                                </a:rPr>
                                <m:t>2</m:t>
                              </m:r>
                            </m:sup>
                          </m:sSubSup>
                          <m:sSub>
                            <m:sSubPr>
                              <m:ctrlPr>
                                <a:rPr lang="en-US" sz="2400" i="1" kern="1200">
                                  <a:solidFill>
                                    <a:srgbClr val="002060"/>
                                  </a:solidFill>
                                  <a:latin typeface="Cambria Math" panose="02040503050406030204" pitchFamily="18" charset="0"/>
                                  <a:cs typeface="Times New Roman" panose="02020603050405020304" pitchFamily="18" charset="0"/>
                                </a:rPr>
                              </m:ctrlPr>
                            </m:sSubPr>
                            <m:e>
                              <m:r>
                                <a:rPr lang="en-US" sz="2400" i="1" kern="1200">
                                  <a:solidFill>
                                    <a:srgbClr val="002060"/>
                                  </a:solidFill>
                                  <a:latin typeface="Cambria Math" panose="02040503050406030204" pitchFamily="18" charset="0"/>
                                  <a:cs typeface="Times New Roman" panose="02020603050405020304" pitchFamily="18" charset="0"/>
                                </a:rPr>
                                <m:t>𝑝</m:t>
                              </m:r>
                            </m:e>
                            <m:sub>
                              <m:r>
                                <a:rPr lang="en-US" sz="2400" i="1" kern="1200">
                                  <a:solidFill>
                                    <a:srgbClr val="002060"/>
                                  </a:solidFill>
                                  <a:latin typeface="Cambria Math" panose="02040503050406030204" pitchFamily="18" charset="0"/>
                                  <a:cs typeface="Times New Roman" panose="02020603050405020304" pitchFamily="18" charset="0"/>
                                </a:rPr>
                                <m:t>𝑖</m:t>
                              </m:r>
                            </m:sub>
                          </m:sSub>
                          <m:r>
                            <a:rPr lang="en-US" sz="2400" i="1" kern="1200">
                              <a:solidFill>
                                <a:srgbClr val="002060"/>
                              </a:solidFill>
                              <a:latin typeface="Cambria Math" panose="02040503050406030204" pitchFamily="18" charset="0"/>
                              <a:cs typeface="Times New Roman" panose="02020603050405020304" pitchFamily="18" charset="0"/>
                            </a:rPr>
                            <m:t>=</m:t>
                          </m:r>
                          <m:sSup>
                            <m:sSupPr>
                              <m:ctrlPr>
                                <a:rPr lang="en-US" sz="2400" i="1" kern="1200">
                                  <a:solidFill>
                                    <a:srgbClr val="002060"/>
                                  </a:solidFill>
                                  <a:latin typeface="Cambria Math" panose="02040503050406030204" pitchFamily="18" charset="0"/>
                                  <a:cs typeface="Times New Roman" panose="02020603050405020304" pitchFamily="18" charset="0"/>
                                </a:rPr>
                              </m:ctrlPr>
                            </m:sSupPr>
                            <m:e>
                              <m:r>
                                <a:rPr lang="en-US" sz="2400" i="1" kern="1200">
                                  <a:solidFill>
                                    <a:srgbClr val="002060"/>
                                  </a:solidFill>
                                  <a:latin typeface="Cambria Math" panose="02040503050406030204" pitchFamily="18" charset="0"/>
                                  <a:cs typeface="Times New Roman" panose="02020603050405020304" pitchFamily="18" charset="0"/>
                                </a:rPr>
                                <m:t>0</m:t>
                              </m:r>
                            </m:e>
                            <m:sup>
                              <m:r>
                                <a:rPr lang="en-US" sz="2400" i="1" kern="1200">
                                  <a:solidFill>
                                    <a:srgbClr val="002060"/>
                                  </a:solidFill>
                                  <a:latin typeface="Cambria Math" panose="02040503050406030204" pitchFamily="18" charset="0"/>
                                  <a:cs typeface="Times New Roman" panose="02020603050405020304" pitchFamily="18" charset="0"/>
                                </a:rPr>
                                <m:t>2</m:t>
                              </m:r>
                            </m:sup>
                          </m:sSup>
                          <m:r>
                            <a:rPr lang="en-US" sz="2400" i="1" kern="1200">
                              <a:solidFill>
                                <a:srgbClr val="002060"/>
                              </a:solidFill>
                              <a:latin typeface="Cambria Math" panose="02040503050406030204" pitchFamily="18" charset="0"/>
                              <a:cs typeface="Times New Roman" panose="02020603050405020304" pitchFamily="18" charset="0"/>
                            </a:rPr>
                            <m:t>.0,25+</m:t>
                          </m:r>
                          <m:sSup>
                            <m:sSupPr>
                              <m:ctrlPr>
                                <a:rPr lang="en-US" sz="2400" i="1" kern="1200">
                                  <a:solidFill>
                                    <a:srgbClr val="002060"/>
                                  </a:solidFill>
                                  <a:latin typeface="Cambria Math" panose="02040503050406030204" pitchFamily="18" charset="0"/>
                                  <a:cs typeface="Times New Roman" panose="02020603050405020304" pitchFamily="18" charset="0"/>
                                </a:rPr>
                              </m:ctrlPr>
                            </m:sSupPr>
                            <m:e>
                              <m:r>
                                <a:rPr lang="en-US" sz="2400" i="1" kern="1200">
                                  <a:solidFill>
                                    <a:srgbClr val="002060"/>
                                  </a:solidFill>
                                  <a:latin typeface="Cambria Math" panose="02040503050406030204" pitchFamily="18" charset="0"/>
                                  <a:cs typeface="Times New Roman" panose="02020603050405020304" pitchFamily="18" charset="0"/>
                                </a:rPr>
                                <m:t>1</m:t>
                              </m:r>
                            </m:e>
                            <m:sup>
                              <m:r>
                                <a:rPr lang="en-US" sz="2400" i="1" kern="1200">
                                  <a:solidFill>
                                    <a:srgbClr val="002060"/>
                                  </a:solidFill>
                                  <a:latin typeface="Cambria Math" panose="02040503050406030204" pitchFamily="18" charset="0"/>
                                  <a:cs typeface="Times New Roman" panose="02020603050405020304" pitchFamily="18" charset="0"/>
                                </a:rPr>
                                <m:t>2</m:t>
                              </m:r>
                            </m:sup>
                          </m:sSup>
                          <m:r>
                            <a:rPr lang="en-US" sz="2400" i="1" kern="1200">
                              <a:solidFill>
                                <a:srgbClr val="002060"/>
                              </a:solidFill>
                              <a:latin typeface="Cambria Math" panose="02040503050406030204" pitchFamily="18" charset="0"/>
                              <a:cs typeface="Times New Roman" panose="02020603050405020304" pitchFamily="18" charset="0"/>
                            </a:rPr>
                            <m:t>.0,5+</m:t>
                          </m:r>
                          <m:sSup>
                            <m:sSupPr>
                              <m:ctrlPr>
                                <a:rPr lang="en-US" sz="2400" i="1" kern="1200">
                                  <a:solidFill>
                                    <a:srgbClr val="002060"/>
                                  </a:solidFill>
                                  <a:latin typeface="Cambria Math" panose="02040503050406030204" pitchFamily="18" charset="0"/>
                                  <a:cs typeface="Times New Roman" panose="02020603050405020304" pitchFamily="18" charset="0"/>
                                </a:rPr>
                              </m:ctrlPr>
                            </m:sSupPr>
                            <m:e>
                              <m:r>
                                <a:rPr lang="en-US" sz="2400" i="1" kern="1200">
                                  <a:solidFill>
                                    <a:srgbClr val="002060"/>
                                  </a:solidFill>
                                  <a:latin typeface="Cambria Math" panose="02040503050406030204" pitchFamily="18" charset="0"/>
                                  <a:cs typeface="Times New Roman" panose="02020603050405020304" pitchFamily="18" charset="0"/>
                                </a:rPr>
                                <m:t>2</m:t>
                              </m:r>
                            </m:e>
                            <m:sup>
                              <m:r>
                                <a:rPr lang="en-US" sz="2400" i="1" kern="1200">
                                  <a:solidFill>
                                    <a:srgbClr val="002060"/>
                                  </a:solidFill>
                                  <a:latin typeface="Cambria Math" panose="02040503050406030204" pitchFamily="18" charset="0"/>
                                  <a:cs typeface="Times New Roman" panose="02020603050405020304" pitchFamily="18" charset="0"/>
                                </a:rPr>
                                <m:t>2</m:t>
                              </m:r>
                            </m:sup>
                          </m:sSup>
                          <m:r>
                            <a:rPr lang="en-US" sz="2400" i="1" kern="1200">
                              <a:solidFill>
                                <a:srgbClr val="002060"/>
                              </a:solidFill>
                              <a:latin typeface="Cambria Math" panose="02040503050406030204" pitchFamily="18" charset="0"/>
                              <a:cs typeface="Times New Roman" panose="02020603050405020304" pitchFamily="18" charset="0"/>
                            </a:rPr>
                            <m:t>.0,25=1,5</m:t>
                          </m:r>
                        </m:e>
                      </m:nary>
                    </m:oMath>
                  </m:oMathPara>
                </a14:m>
                <a:endParaRPr lang="en-US" dirty="0">
                  <a:solidFill>
                    <a:srgbClr val="002060"/>
                  </a:solidFill>
                  <a:latin typeface="Arial" panose="020B060402020202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484456" y="2979428"/>
                <a:ext cx="7872984" cy="1130631"/>
              </a:xfrm>
              <a:prstGeom prst="rect">
                <a:avLst/>
              </a:prstGeom>
              <a:blipFill>
                <a:blip r:embed="rId3"/>
                <a:stretch>
                  <a:fillRect t="-101111" b="-15777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10782" y="4123403"/>
                <a:ext cx="9144000" cy="461665"/>
              </a:xfrm>
              <a:prstGeom prst="rect">
                <a:avLst/>
              </a:prstGeom>
            </p:spPr>
            <p:txBody>
              <a:bodyPr wrap="square">
                <a:spAutoFit/>
              </a:bodyPr>
              <a:lstStyle/>
              <a:p>
                <a:pPr marL="342900" indent="-342900">
                  <a:buClrTx/>
                  <a:buFont typeface="Wingdings" panose="05000000000000000000" pitchFamily="2" charset="2"/>
                  <a:buChar char="Ø"/>
                </a:pP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Phương</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sai</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của</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i="1" kern="1200" dirty="0">
                    <a:solidFill>
                      <a:srgbClr val="002060"/>
                    </a:solidFill>
                    <a:latin typeface="Arial" panose="020B0604020202020204" pitchFamily="34" charset="0"/>
                    <a:ea typeface="+mn-ea"/>
                    <a:cs typeface="Arial" panose="020B0604020202020204" pitchFamily="34" charset="0"/>
                  </a:rPr>
                  <a:t>X:  </a:t>
                </a:r>
                <a14:m>
                  <m:oMath xmlns:m="http://schemas.openxmlformats.org/officeDocument/2006/math">
                    <m:r>
                      <a:rPr lang="en-US" sz="2400" b="0" i="1" kern="1200" smtClean="0">
                        <a:solidFill>
                          <a:srgbClr val="002060"/>
                        </a:solidFill>
                        <a:latin typeface="Cambria Math" panose="02040503050406030204" pitchFamily="18" charset="0"/>
                        <a:ea typeface="+mn-ea"/>
                        <a:cs typeface="Times New Roman" panose="02020603050405020304" pitchFamily="18" charset="0"/>
                      </a:rPr>
                      <m:t>𝑉</m:t>
                    </m:r>
                    <m:d>
                      <m:dPr>
                        <m:ctrlPr>
                          <a:rPr lang="en-US" sz="2400" b="0" i="1" kern="1200" smtClean="0">
                            <a:solidFill>
                              <a:srgbClr val="002060"/>
                            </a:solidFill>
                            <a:latin typeface="Cambria Math" panose="02040503050406030204" pitchFamily="18" charset="0"/>
                            <a:ea typeface="+mn-ea"/>
                            <a:cs typeface="Times New Roman" panose="02020603050405020304" pitchFamily="18" charset="0"/>
                          </a:rPr>
                        </m:ctrlPr>
                      </m:dPr>
                      <m:e>
                        <m:r>
                          <a:rPr lang="en-US" sz="2400" b="0" i="1" kern="1200" smtClean="0">
                            <a:solidFill>
                              <a:srgbClr val="002060"/>
                            </a:solidFill>
                            <a:latin typeface="Cambria Math" panose="02040503050406030204" pitchFamily="18" charset="0"/>
                            <a:ea typeface="+mn-ea"/>
                            <a:cs typeface="Times New Roman" panose="02020603050405020304" pitchFamily="18" charset="0"/>
                          </a:rPr>
                          <m:t>𝑋</m:t>
                        </m:r>
                      </m:e>
                    </m:d>
                    <m:r>
                      <a:rPr lang="en-US" sz="2400" b="0" i="1" kern="1200" smtClean="0">
                        <a:solidFill>
                          <a:srgbClr val="002060"/>
                        </a:solidFill>
                        <a:latin typeface="Cambria Math" panose="02040503050406030204" pitchFamily="18" charset="0"/>
                        <a:ea typeface="+mn-ea"/>
                        <a:cs typeface="Times New Roman" panose="02020603050405020304" pitchFamily="18" charset="0"/>
                      </a:rPr>
                      <m:t>=</m:t>
                    </m:r>
                    <m:r>
                      <a:rPr lang="en-US" sz="2400" i="1" dirty="0" smtClean="0">
                        <a:solidFill>
                          <a:srgbClr val="002060"/>
                        </a:solidFill>
                        <a:latin typeface="Cambria Math" panose="02040503050406030204" pitchFamily="18" charset="0"/>
                        <a:cs typeface="Times New Roman" panose="02020603050405020304" pitchFamily="18" charset="0"/>
                      </a:rPr>
                      <m:t>𝐸</m:t>
                    </m:r>
                    <m:d>
                      <m:dPr>
                        <m:ctrlPr>
                          <a:rPr lang="en-US" sz="2400" i="1" dirty="0">
                            <a:solidFill>
                              <a:srgbClr val="002060"/>
                            </a:solidFill>
                            <a:latin typeface="Cambria Math" panose="02040503050406030204" pitchFamily="18" charset="0"/>
                            <a:cs typeface="Times New Roman" panose="02020603050405020304" pitchFamily="18" charset="0"/>
                          </a:rPr>
                        </m:ctrlPr>
                      </m:dPr>
                      <m:e>
                        <m:sSup>
                          <m:sSupPr>
                            <m:ctrlPr>
                              <a:rPr lang="en-US" sz="2400" i="1" dirty="0">
                                <a:solidFill>
                                  <a:srgbClr val="002060"/>
                                </a:solidFill>
                                <a:latin typeface="Cambria Math" panose="02040503050406030204" pitchFamily="18" charset="0"/>
                                <a:cs typeface="Times New Roman" panose="02020603050405020304" pitchFamily="18" charset="0"/>
                              </a:rPr>
                            </m:ctrlPr>
                          </m:sSupPr>
                          <m:e>
                            <m:r>
                              <a:rPr lang="en-US" sz="2400" i="1" dirty="0">
                                <a:solidFill>
                                  <a:srgbClr val="002060"/>
                                </a:solidFill>
                                <a:latin typeface="Cambria Math" panose="02040503050406030204" pitchFamily="18" charset="0"/>
                                <a:cs typeface="Times New Roman" panose="02020603050405020304" pitchFamily="18" charset="0"/>
                              </a:rPr>
                              <m:t>𝑋</m:t>
                            </m:r>
                          </m:e>
                          <m:sup>
                            <m:r>
                              <a:rPr lang="en-US" sz="2400" i="1" dirty="0">
                                <a:solidFill>
                                  <a:srgbClr val="002060"/>
                                </a:solidFill>
                                <a:latin typeface="Cambria Math" panose="02040503050406030204" pitchFamily="18" charset="0"/>
                                <a:cs typeface="Times New Roman" panose="02020603050405020304" pitchFamily="18" charset="0"/>
                              </a:rPr>
                              <m:t>2</m:t>
                            </m:r>
                          </m:sup>
                        </m:sSup>
                      </m:e>
                    </m:d>
                    <m:r>
                      <a:rPr lang="en-US" sz="2400" i="1" dirty="0">
                        <a:solidFill>
                          <a:srgbClr val="002060"/>
                        </a:solidFill>
                        <a:latin typeface="Cambria Math" panose="02040503050406030204" pitchFamily="18" charset="0"/>
                        <a:cs typeface="Times New Roman" panose="02020603050405020304" pitchFamily="18" charset="0"/>
                      </a:rPr>
                      <m:t>−</m:t>
                    </m:r>
                    <m:sSup>
                      <m:sSupPr>
                        <m:ctrlPr>
                          <a:rPr lang="en-US" sz="2400" i="1" dirty="0">
                            <a:solidFill>
                              <a:srgbClr val="002060"/>
                            </a:solidFill>
                            <a:latin typeface="Cambria Math" panose="02040503050406030204" pitchFamily="18" charset="0"/>
                            <a:cs typeface="Times New Roman" panose="02020603050405020304" pitchFamily="18" charset="0"/>
                          </a:rPr>
                        </m:ctrlPr>
                      </m:sSupPr>
                      <m:e>
                        <m:d>
                          <m:dPr>
                            <m:begChr m:val="["/>
                            <m:endChr m:val="]"/>
                            <m:ctrlPr>
                              <a:rPr lang="en-US" sz="2400" i="1" dirty="0">
                                <a:solidFill>
                                  <a:srgbClr val="002060"/>
                                </a:solidFill>
                                <a:latin typeface="Cambria Math" panose="02040503050406030204" pitchFamily="18" charset="0"/>
                                <a:cs typeface="Times New Roman" panose="02020603050405020304" pitchFamily="18" charset="0"/>
                              </a:rPr>
                            </m:ctrlPr>
                          </m:dPr>
                          <m:e>
                            <m:r>
                              <a:rPr lang="en-US" sz="2400" i="1" dirty="0">
                                <a:solidFill>
                                  <a:srgbClr val="002060"/>
                                </a:solidFill>
                                <a:latin typeface="Cambria Math" panose="02040503050406030204" pitchFamily="18" charset="0"/>
                                <a:cs typeface="Times New Roman" panose="02020603050405020304" pitchFamily="18" charset="0"/>
                              </a:rPr>
                              <m:t>𝐸</m:t>
                            </m:r>
                            <m:d>
                              <m:dPr>
                                <m:ctrlPr>
                                  <a:rPr lang="en-US" sz="2400" i="1" dirty="0">
                                    <a:solidFill>
                                      <a:srgbClr val="002060"/>
                                    </a:solidFill>
                                    <a:latin typeface="Cambria Math" panose="02040503050406030204" pitchFamily="18" charset="0"/>
                                    <a:cs typeface="Times New Roman" panose="02020603050405020304" pitchFamily="18" charset="0"/>
                                  </a:rPr>
                                </m:ctrlPr>
                              </m:dPr>
                              <m:e>
                                <m:r>
                                  <a:rPr lang="en-US" sz="2400" i="1" dirty="0">
                                    <a:solidFill>
                                      <a:srgbClr val="002060"/>
                                    </a:solidFill>
                                    <a:latin typeface="Cambria Math" panose="02040503050406030204" pitchFamily="18" charset="0"/>
                                    <a:cs typeface="Times New Roman" panose="02020603050405020304" pitchFamily="18" charset="0"/>
                                  </a:rPr>
                                  <m:t>𝑋</m:t>
                                </m:r>
                              </m:e>
                            </m:d>
                          </m:e>
                        </m:d>
                      </m:e>
                      <m:sup>
                        <m:r>
                          <a:rPr lang="en-US" sz="2400" i="1" dirty="0">
                            <a:solidFill>
                              <a:srgbClr val="002060"/>
                            </a:solidFill>
                            <a:latin typeface="Cambria Math" panose="02040503050406030204" pitchFamily="18" charset="0"/>
                            <a:cs typeface="Times New Roman" panose="02020603050405020304" pitchFamily="18" charset="0"/>
                          </a:rPr>
                          <m:t>2</m:t>
                        </m:r>
                      </m:sup>
                    </m:sSup>
                    <m:r>
                      <a:rPr lang="en-US" sz="2400" b="0" i="1" dirty="0" smtClean="0">
                        <a:solidFill>
                          <a:srgbClr val="002060"/>
                        </a:solidFill>
                        <a:latin typeface="Cambria Math" panose="02040503050406030204" pitchFamily="18" charset="0"/>
                        <a:cs typeface="Times New Roman" panose="02020603050405020304" pitchFamily="18" charset="0"/>
                      </a:rPr>
                      <m:t>=1,5−1=0,5</m:t>
                    </m:r>
                  </m:oMath>
                </a14:m>
                <a:endParaRPr lang="en-US" sz="2400" kern="1200" dirty="0">
                  <a:solidFill>
                    <a:srgbClr val="002060"/>
                  </a:solidFill>
                  <a:latin typeface="Arial" panose="020B0604020202020204" pitchFamily="34" charset="0"/>
                  <a:ea typeface="+mn-ea"/>
                  <a:cs typeface="Arial" panose="020B0604020202020204" pitchFamily="34"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110782" y="4123403"/>
                <a:ext cx="9144000" cy="461665"/>
              </a:xfrm>
              <a:prstGeom prst="rect">
                <a:avLst/>
              </a:prstGeom>
              <a:blipFill>
                <a:blip r:embed="rId4"/>
                <a:stretch>
                  <a:fillRect l="-832" t="-10811" b="-29730"/>
                </a:stretch>
              </a:blipFill>
            </p:spPr>
            <p:txBody>
              <a:bodyPr/>
              <a:lstStyle/>
              <a:p>
                <a:r>
                  <a:rPr lang="en-VN">
                    <a:noFill/>
                  </a:rPr>
                  <a:t> </a:t>
                </a:r>
              </a:p>
            </p:txBody>
          </p:sp>
        </mc:Fallback>
      </mc:AlternateContent>
      <p:pic>
        <p:nvPicPr>
          <p:cNvPr id="10" name="Picture 9" descr="Dai Nam [PPT] Template 11.png">
            <a:extLst>
              <a:ext uri="{FF2B5EF4-FFF2-40B4-BE49-F238E27FC236}">
                <a16:creationId xmlns:a16="http://schemas.microsoft.com/office/drawing/2014/main" id="{0E5398FD-41FC-FA0D-45A2-A9CD409FC6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153058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28</a:t>
            </a:fld>
            <a:endParaRPr lang="en"/>
          </a:p>
        </p:txBody>
      </p:sp>
      <p:sp>
        <p:nvSpPr>
          <p:cNvPr id="5" name="Title 1"/>
          <p:cNvSpPr>
            <a:spLocks noGrp="1"/>
          </p:cNvSpPr>
          <p:nvPr>
            <p:ph type="title"/>
          </p:nvPr>
        </p:nvSpPr>
        <p:spPr>
          <a:xfrm>
            <a:off x="2331036" y="115906"/>
            <a:ext cx="4481926" cy="661474"/>
          </a:xfrm>
        </p:spPr>
        <p:txBody>
          <a:bodyPr/>
          <a:lstStyle/>
          <a:p>
            <a:r>
              <a:rPr lang="en-US" sz="3200" spc="-5" dirty="0" err="1">
                <a:solidFill>
                  <a:srgbClr val="002060"/>
                </a:solidFill>
                <a:latin typeface="Arial" panose="020B0604020202020204" pitchFamily="34" charset="0"/>
                <a:cs typeface="Arial" panose="020B0604020202020204" pitchFamily="34" charset="0"/>
              </a:rPr>
              <a:t>Phương</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sai</a:t>
            </a:r>
            <a:endParaRPr lang="en-US" sz="3200"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Rectangle 6"/>
              <p:cNvSpPr/>
              <p:nvPr/>
            </p:nvSpPr>
            <p:spPr>
              <a:xfrm>
                <a:off x="895040" y="650511"/>
                <a:ext cx="7353917" cy="1882054"/>
              </a:xfrm>
              <a:prstGeom prst="rect">
                <a:avLst/>
              </a:prstGeom>
            </p:spPr>
            <p:txBody>
              <a:bodyPr wrap="square">
                <a:spAutoFit/>
              </a:bodyPr>
              <a:lstStyle/>
              <a:p>
                <a:pPr>
                  <a:lnSpc>
                    <a:spcPct val="150000"/>
                  </a:lnSpc>
                  <a:buClrTx/>
                  <a:buFontTx/>
                  <a:buNone/>
                </a:pPr>
                <a:r>
                  <a:rPr lang="en-US" sz="2400" b="1" kern="1200" dirty="0" err="1">
                    <a:solidFill>
                      <a:srgbClr val="002060"/>
                    </a:solidFill>
                    <a:latin typeface="Arial" panose="020B0604020202020204" pitchFamily="34" charset="0"/>
                    <a:ea typeface="+mn-ea"/>
                    <a:cs typeface="Arial" panose="020B0604020202020204" pitchFamily="34" charset="0"/>
                  </a:rPr>
                  <a:t>Ví</a:t>
                </a:r>
                <a:r>
                  <a:rPr lang="en-US" sz="2400" b="1" kern="1200" dirty="0">
                    <a:solidFill>
                      <a:srgbClr val="002060"/>
                    </a:solidFill>
                    <a:latin typeface="Arial" panose="020B0604020202020204" pitchFamily="34" charset="0"/>
                    <a:ea typeface="+mn-ea"/>
                    <a:cs typeface="Arial" panose="020B0604020202020204" pitchFamily="34" charset="0"/>
                  </a:rPr>
                  <a:t> </a:t>
                </a:r>
                <a:r>
                  <a:rPr lang="en-US" sz="2400" b="1" kern="1200" dirty="0" err="1">
                    <a:solidFill>
                      <a:srgbClr val="002060"/>
                    </a:solidFill>
                    <a:latin typeface="Arial" panose="020B0604020202020204" pitchFamily="34" charset="0"/>
                    <a:ea typeface="+mn-ea"/>
                    <a:cs typeface="Arial" panose="020B0604020202020204" pitchFamily="34" charset="0"/>
                  </a:rPr>
                  <a:t>dụ</a:t>
                </a:r>
                <a:r>
                  <a:rPr lang="en-US" sz="2400" b="1" kern="1200" dirty="0">
                    <a:solidFill>
                      <a:srgbClr val="002060"/>
                    </a:solidFill>
                    <a:latin typeface="Arial" panose="020B0604020202020204" pitchFamily="34" charset="0"/>
                    <a:ea typeface="+mn-ea"/>
                    <a:cs typeface="Arial" panose="020B0604020202020204" pitchFamily="34" charset="0"/>
                  </a:rPr>
                  <a:t>: </a:t>
                </a:r>
                <a:r>
                  <a:rPr lang="en-US" sz="2400" kern="1200" dirty="0">
                    <a:solidFill>
                      <a:srgbClr val="002060"/>
                    </a:solidFill>
                    <a:latin typeface="Arial" panose="020B0604020202020204" pitchFamily="34" charset="0"/>
                    <a:ea typeface="+mn-ea"/>
                    <a:cs typeface="Arial" panose="020B0604020202020204" pitchFamily="34" charset="0"/>
                  </a:rPr>
                  <a:t>Cho BNN </a:t>
                </a:r>
                <a:r>
                  <a:rPr lang="en-US" sz="2400" i="1" kern="1200" dirty="0">
                    <a:solidFill>
                      <a:srgbClr val="002060"/>
                    </a:solidFill>
                    <a:latin typeface="Arial" panose="020B0604020202020204" pitchFamily="34" charset="0"/>
                    <a:ea typeface="+mn-ea"/>
                    <a:cs typeface="Arial" panose="020B0604020202020204" pitchFamily="34" charset="0"/>
                  </a:rPr>
                  <a:t>X</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có</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hàm</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mật</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độ</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xác</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suất</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sau</a:t>
                </a:r>
                <a:endParaRPr lang="en-US" sz="2400" kern="1200" dirty="0">
                  <a:solidFill>
                    <a:srgbClr val="002060"/>
                  </a:solidFill>
                  <a:latin typeface="Arial" panose="020B0604020202020204" pitchFamily="34" charset="0"/>
                  <a:ea typeface="+mn-ea"/>
                  <a:cs typeface="Arial" panose="020B0604020202020204" pitchFamily="34" charset="0"/>
                </a:endParaRPr>
              </a:p>
              <a:p>
                <a:pPr>
                  <a:lnSpc>
                    <a:spcPct val="150000"/>
                  </a:lnSpc>
                  <a:buClrTx/>
                  <a:buFontTx/>
                  <a:buNone/>
                </a:pPr>
                <a14:m>
                  <m:oMathPara xmlns:m="http://schemas.openxmlformats.org/officeDocument/2006/math">
                    <m:oMathParaPr>
                      <m:jc m:val="centerGroup"/>
                    </m:oMathParaPr>
                    <m:oMath xmlns:m="http://schemas.openxmlformats.org/officeDocument/2006/math">
                      <m:r>
                        <a:rPr lang="en-US" sz="2400" i="1" kern="1200">
                          <a:solidFill>
                            <a:srgbClr val="002060"/>
                          </a:solidFill>
                          <a:latin typeface="Cambria Math" panose="02040503050406030204" pitchFamily="18" charset="0"/>
                          <a:ea typeface="+mn-ea"/>
                          <a:cs typeface="Times New Roman" panose="02020603050405020304" pitchFamily="18" charset="0"/>
                        </a:rPr>
                        <m:t>𝑓</m:t>
                      </m:r>
                      <m:d>
                        <m:dPr>
                          <m:ctrlPr>
                            <a:rPr lang="en-US" sz="2400" i="1" kern="1200">
                              <a:solidFill>
                                <a:srgbClr val="002060"/>
                              </a:solidFill>
                              <a:latin typeface="Cambria Math" panose="02040503050406030204" pitchFamily="18" charset="0"/>
                              <a:ea typeface="+mn-ea"/>
                              <a:cs typeface="Times New Roman" panose="02020603050405020304" pitchFamily="18" charset="0"/>
                            </a:rPr>
                          </m:ctrlPr>
                        </m:dPr>
                        <m:e>
                          <m:r>
                            <a:rPr lang="en-US" sz="2400" i="1" kern="1200">
                              <a:solidFill>
                                <a:srgbClr val="002060"/>
                              </a:solidFill>
                              <a:latin typeface="Cambria Math" panose="02040503050406030204" pitchFamily="18" charset="0"/>
                              <a:ea typeface="+mn-ea"/>
                              <a:cs typeface="Times New Roman" panose="02020603050405020304" pitchFamily="18" charset="0"/>
                            </a:rPr>
                            <m:t>𝑥</m:t>
                          </m:r>
                        </m:e>
                      </m:d>
                      <m:r>
                        <a:rPr lang="en-US" sz="2400" i="1" kern="1200">
                          <a:solidFill>
                            <a:srgbClr val="002060"/>
                          </a:solidFill>
                          <a:latin typeface="Cambria Math" panose="02040503050406030204" pitchFamily="18" charset="0"/>
                          <a:ea typeface="+mn-ea"/>
                          <a:cs typeface="Times New Roman" panose="02020603050405020304" pitchFamily="18" charset="0"/>
                        </a:rPr>
                        <m:t>=</m:t>
                      </m:r>
                      <m:d>
                        <m:dPr>
                          <m:begChr m:val="{"/>
                          <m:endChr m:val=""/>
                          <m:ctrlPr>
                            <a:rPr lang="en-US" sz="2400" i="1" kern="1200">
                              <a:solidFill>
                                <a:srgbClr val="002060"/>
                              </a:solidFill>
                              <a:latin typeface="Cambria Math" panose="02040503050406030204" pitchFamily="18" charset="0"/>
                              <a:ea typeface="+mn-ea"/>
                              <a:cs typeface="Times New Roman" panose="02020603050405020304" pitchFamily="18" charset="0"/>
                            </a:rPr>
                          </m:ctrlPr>
                        </m:dPr>
                        <m:e>
                          <m:eqArr>
                            <m:eqArrPr>
                              <m:ctrlPr>
                                <a:rPr lang="en-US" sz="2400" i="1" kern="1200">
                                  <a:solidFill>
                                    <a:srgbClr val="002060"/>
                                  </a:solidFill>
                                  <a:latin typeface="Cambria Math" panose="02040503050406030204" pitchFamily="18" charset="0"/>
                                  <a:ea typeface="+mn-ea"/>
                                  <a:cs typeface="Times New Roman" panose="02020603050405020304" pitchFamily="18" charset="0"/>
                                </a:rPr>
                              </m:ctrlPr>
                            </m:eqArrPr>
                            <m:e>
                              <m:sSup>
                                <m:sSupPr>
                                  <m:ctrlPr>
                                    <a:rPr lang="en-US" sz="2400" i="1" kern="1200">
                                      <a:solidFill>
                                        <a:srgbClr val="002060"/>
                                      </a:solidFill>
                                      <a:latin typeface="Cambria Math" panose="02040503050406030204" pitchFamily="18" charset="0"/>
                                      <a:ea typeface="+mn-ea"/>
                                      <a:cs typeface="Times New Roman" panose="02020603050405020304" pitchFamily="18" charset="0"/>
                                    </a:rPr>
                                  </m:ctrlPr>
                                </m:sSupPr>
                                <m:e>
                                  <m:r>
                                    <a:rPr lang="en-US" sz="2400" i="1" kern="1200">
                                      <a:solidFill>
                                        <a:srgbClr val="002060"/>
                                      </a:solidFill>
                                      <a:latin typeface="Cambria Math" panose="02040503050406030204" pitchFamily="18" charset="0"/>
                                      <a:ea typeface="+mn-ea"/>
                                      <a:cs typeface="Times New Roman" panose="02020603050405020304" pitchFamily="18" charset="0"/>
                                    </a:rPr>
                                    <m:t>12</m:t>
                                  </m:r>
                                  <m:r>
                                    <a:rPr lang="en-US" sz="2400" i="1" kern="1200">
                                      <a:solidFill>
                                        <a:srgbClr val="002060"/>
                                      </a:solidFill>
                                      <a:latin typeface="Cambria Math" panose="02040503050406030204" pitchFamily="18" charset="0"/>
                                      <a:ea typeface="+mn-ea"/>
                                      <a:cs typeface="Times New Roman" panose="02020603050405020304" pitchFamily="18" charset="0"/>
                                    </a:rPr>
                                    <m:t>𝑥</m:t>
                                  </m:r>
                                </m:e>
                                <m:sup>
                                  <m:r>
                                    <a:rPr lang="en-US" sz="2400" i="1" kern="1200">
                                      <a:solidFill>
                                        <a:srgbClr val="002060"/>
                                      </a:solidFill>
                                      <a:latin typeface="Cambria Math" panose="02040503050406030204" pitchFamily="18" charset="0"/>
                                      <a:ea typeface="+mn-ea"/>
                                      <a:cs typeface="Times New Roman" panose="02020603050405020304" pitchFamily="18" charset="0"/>
                                    </a:rPr>
                                    <m:t>2</m:t>
                                  </m:r>
                                </m:sup>
                              </m:sSup>
                              <m:d>
                                <m:dPr>
                                  <m:ctrlPr>
                                    <a:rPr lang="en-US" sz="2400" i="1" kern="1200">
                                      <a:solidFill>
                                        <a:srgbClr val="002060"/>
                                      </a:solidFill>
                                      <a:latin typeface="Cambria Math" panose="02040503050406030204" pitchFamily="18" charset="0"/>
                                      <a:ea typeface="+mn-ea"/>
                                      <a:cs typeface="Times New Roman" panose="02020603050405020304" pitchFamily="18" charset="0"/>
                                    </a:rPr>
                                  </m:ctrlPr>
                                </m:dPr>
                                <m:e>
                                  <m:r>
                                    <a:rPr lang="en-US" sz="2400" i="1" kern="1200">
                                      <a:solidFill>
                                        <a:srgbClr val="002060"/>
                                      </a:solidFill>
                                      <a:latin typeface="Cambria Math" panose="02040503050406030204" pitchFamily="18" charset="0"/>
                                      <a:ea typeface="+mn-ea"/>
                                      <a:cs typeface="Times New Roman" panose="02020603050405020304" pitchFamily="18" charset="0"/>
                                    </a:rPr>
                                    <m:t>1−</m:t>
                                  </m:r>
                                  <m:r>
                                    <a:rPr lang="en-US" sz="2400" i="1" kern="1200">
                                      <a:solidFill>
                                        <a:srgbClr val="002060"/>
                                      </a:solidFill>
                                      <a:latin typeface="Cambria Math" panose="02040503050406030204" pitchFamily="18" charset="0"/>
                                      <a:ea typeface="+mn-ea"/>
                                      <a:cs typeface="Times New Roman" panose="02020603050405020304" pitchFamily="18" charset="0"/>
                                    </a:rPr>
                                    <m:t>𝑥</m:t>
                                  </m:r>
                                </m:e>
                              </m:d>
                              <m:r>
                                <a:rPr lang="en-US" sz="2400" b="0" i="1" kern="1200" smtClean="0">
                                  <a:solidFill>
                                    <a:srgbClr val="002060"/>
                                  </a:solidFill>
                                  <a:latin typeface="Cambria Math" panose="02040503050406030204" pitchFamily="18" charset="0"/>
                                  <a:ea typeface="+mn-ea"/>
                                  <a:cs typeface="Times New Roman" panose="02020603050405020304" pitchFamily="18" charset="0"/>
                                </a:rPr>
                                <m:t> </m:t>
                              </m:r>
                              <m:r>
                                <a:rPr lang="en-US" sz="2400" i="1" kern="1200">
                                  <a:solidFill>
                                    <a:srgbClr val="002060"/>
                                  </a:solidFill>
                                  <a:latin typeface="Cambria Math" panose="02040503050406030204" pitchFamily="18" charset="0"/>
                                  <a:ea typeface="+mn-ea"/>
                                  <a:cs typeface="Times New Roman" panose="02020603050405020304" pitchFamily="18" charset="0"/>
                                </a:rPr>
                                <m:t>;  </m:t>
                              </m:r>
                              <m:r>
                                <a:rPr lang="en-US" sz="2400" i="1" kern="1200">
                                  <a:solidFill>
                                    <a:srgbClr val="002060"/>
                                  </a:solidFill>
                                  <a:latin typeface="Cambria Math" panose="02040503050406030204" pitchFamily="18" charset="0"/>
                                  <a:ea typeface="+mn-ea"/>
                                  <a:cs typeface="Times New Roman" panose="02020603050405020304" pitchFamily="18" charset="0"/>
                                </a:rPr>
                                <m:t>𝑥</m:t>
                              </m:r>
                              <m: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0;1</m:t>
                                  </m:r>
                                </m:e>
                              </m:d>
                            </m:e>
                            <m:e>
                              <m: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 </m:t>
                              </m:r>
                              <m:r>
                                <a:rPr lang="en-US" sz="2400" i="1" kern="1200">
                                  <a:solidFill>
                                    <a:srgbClr val="002060"/>
                                  </a:solidFill>
                                  <a:latin typeface="Cambria Math" panose="02040503050406030204" pitchFamily="18" charset="0"/>
                                  <a:ea typeface="+mn-ea"/>
                                  <a:cs typeface="+mn-cs"/>
                                </a:rPr>
                                <m:t>         0        </m:t>
                              </m:r>
                              <m:r>
                                <a:rPr lang="en-US" sz="2400" b="0" i="1" kern="1200" smtClean="0">
                                  <a:solidFill>
                                    <a:srgbClr val="002060"/>
                                  </a:solidFill>
                                  <a:latin typeface="Cambria Math" panose="02040503050406030204" pitchFamily="18" charset="0"/>
                                  <a:ea typeface="+mn-ea"/>
                                  <a:cs typeface="+mn-cs"/>
                                </a:rPr>
                                <m:t>   </m:t>
                              </m:r>
                              <m:r>
                                <a:rPr lang="en-US" sz="2400" i="1" kern="1200">
                                  <a:solidFill>
                                    <a:srgbClr val="002060"/>
                                  </a:solidFill>
                                  <a:latin typeface="Cambria Math" panose="02040503050406030204" pitchFamily="18" charset="0"/>
                                  <a:ea typeface="+mn-ea"/>
                                  <a:cs typeface="+mn-cs"/>
                                </a:rPr>
                                <m:t> ;   </m:t>
                              </m:r>
                              <m:r>
                                <a:rPr lang="en-US" sz="2400" i="1" kern="1200">
                                  <a:solidFill>
                                    <a:srgbClr val="002060"/>
                                  </a:solidFill>
                                  <a:latin typeface="Cambria Math" panose="02040503050406030204" pitchFamily="18" charset="0"/>
                                  <a:ea typeface="+mn-ea"/>
                                  <a:cs typeface="Times New Roman" panose="02020603050405020304" pitchFamily="18" charset="0"/>
                                </a:rPr>
                                <m:t>𝑥</m:t>
                              </m:r>
                              <m: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0;1</m:t>
                                  </m:r>
                                </m:e>
                              </m:d>
                            </m:e>
                          </m:eqArr>
                        </m:e>
                      </m:d>
                    </m:oMath>
                  </m:oMathPara>
                </a14:m>
                <a:endParaRPr lang="en-US" sz="2400" kern="1200" dirty="0">
                  <a:solidFill>
                    <a:srgbClr val="002060"/>
                  </a:solidFill>
                  <a:latin typeface="Arial" panose="020B0604020202020204" pitchFamily="34" charset="0"/>
                  <a:ea typeface="+mn-ea"/>
                  <a:cs typeface="Arial" panose="020B0604020202020204" pitchFamily="34"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895040" y="650511"/>
                <a:ext cx="7353917" cy="1882054"/>
              </a:xfrm>
              <a:prstGeom prst="rect">
                <a:avLst/>
              </a:prstGeom>
              <a:blipFill>
                <a:blip r:embed="rId2"/>
                <a:stretch>
                  <a:fillRect l="-1379" t="-52349" b="-13557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71733" y="2466639"/>
                <a:ext cx="7353917" cy="616964"/>
              </a:xfrm>
              <a:prstGeom prst="rect">
                <a:avLst/>
              </a:prstGeom>
            </p:spPr>
            <p:txBody>
              <a:bodyPr wrap="square">
                <a:spAutoFit/>
              </a:bodyPr>
              <a:lstStyle/>
              <a:p>
                <a:pPr marL="342900" indent="-342900">
                  <a:buClr>
                    <a:srgbClr val="637991"/>
                  </a:buClr>
                  <a:buFont typeface="Wingdings" panose="05000000000000000000" pitchFamily="2" charset="2"/>
                  <a:buChar char="Ø"/>
                </a:pP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Kỳ</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vọng</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của</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i="1" kern="1200" dirty="0">
                    <a:solidFill>
                      <a:srgbClr val="002060"/>
                    </a:solidFill>
                    <a:latin typeface="Arial" panose="020B0604020202020204" pitchFamily="34" charset="0"/>
                    <a:ea typeface="+mn-ea"/>
                    <a:cs typeface="Arial" panose="020B0604020202020204" pitchFamily="34" charset="0"/>
                  </a:rPr>
                  <a:t>X:  </a:t>
                </a:r>
                <a14:m>
                  <m:oMath xmlns:m="http://schemas.openxmlformats.org/officeDocument/2006/math">
                    <m:r>
                      <a:rPr lang="en-US" sz="2400" b="0" i="1" kern="1200" smtClean="0">
                        <a:solidFill>
                          <a:srgbClr val="002060"/>
                        </a:solidFill>
                        <a:latin typeface="Cambria Math" panose="02040503050406030204" pitchFamily="18" charset="0"/>
                        <a:ea typeface="+mn-ea"/>
                        <a:cs typeface="Times New Roman" panose="02020603050405020304" pitchFamily="18" charset="0"/>
                      </a:rPr>
                      <m:t>𝐸</m:t>
                    </m:r>
                    <m:d>
                      <m:dPr>
                        <m:ctrlPr>
                          <a:rPr lang="en-US" sz="2400" b="0" i="1" kern="1200" smtClean="0">
                            <a:solidFill>
                              <a:srgbClr val="002060"/>
                            </a:solidFill>
                            <a:latin typeface="Cambria Math" panose="02040503050406030204" pitchFamily="18" charset="0"/>
                            <a:ea typeface="+mn-ea"/>
                            <a:cs typeface="Times New Roman" panose="02020603050405020304" pitchFamily="18" charset="0"/>
                          </a:rPr>
                        </m:ctrlPr>
                      </m:dPr>
                      <m:e>
                        <m:r>
                          <a:rPr lang="en-US" sz="2400" b="0" i="1" kern="1200" smtClean="0">
                            <a:solidFill>
                              <a:srgbClr val="002060"/>
                            </a:solidFill>
                            <a:latin typeface="Cambria Math" panose="02040503050406030204" pitchFamily="18" charset="0"/>
                            <a:ea typeface="+mn-ea"/>
                            <a:cs typeface="Times New Roman" panose="02020603050405020304" pitchFamily="18" charset="0"/>
                          </a:rPr>
                          <m:t>𝑋</m:t>
                        </m:r>
                      </m:e>
                    </m:d>
                    <m:r>
                      <a:rPr lang="en-US" sz="2400" b="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b="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3</m:t>
                        </m:r>
                      </m:num>
                      <m:den>
                        <m:r>
                          <a:rPr lang="en-US" sz="2400" b="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5</m:t>
                        </m:r>
                      </m:den>
                    </m:f>
                  </m:oMath>
                </a14:m>
                <a:endParaRPr lang="en-US" sz="2400" kern="1200" dirty="0">
                  <a:solidFill>
                    <a:srgbClr val="002060"/>
                  </a:solidFill>
                  <a:latin typeface="Arial" panose="020B0604020202020204" pitchFamily="34" charset="0"/>
                  <a:ea typeface="+mn-ea"/>
                  <a:cs typeface="Arial" panose="020B0604020202020204" pitchFamily="34"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471733" y="2466639"/>
                <a:ext cx="7353917" cy="616964"/>
              </a:xfrm>
              <a:prstGeom prst="rect">
                <a:avLst/>
              </a:prstGeom>
              <a:blipFill>
                <a:blip r:embed="rId3"/>
                <a:stretch>
                  <a:fillRect l="-1033" b="-816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632682" y="2967515"/>
                <a:ext cx="7878635" cy="1204561"/>
              </a:xfrm>
              <a:prstGeom prst="rect">
                <a:avLst/>
              </a:prstGeom>
            </p:spPr>
            <p:txBody>
              <a:bodyPr wrap="square">
                <a:spAutoFit/>
              </a:bodyPr>
              <a:lstStyle/>
              <a:p>
                <a:pPr lvl="0">
                  <a:buClrTx/>
                </a:pPr>
                <a14:m>
                  <m:oMathPara xmlns:m="http://schemas.openxmlformats.org/officeDocument/2006/math">
                    <m:oMathParaPr>
                      <m:jc m:val="centerGroup"/>
                    </m:oMathParaPr>
                    <m:oMath xmlns:m="http://schemas.openxmlformats.org/officeDocument/2006/math">
                      <m:r>
                        <a:rPr lang="en-US" sz="2400" i="1" kern="1200" smtClean="0">
                          <a:solidFill>
                            <a:srgbClr val="002060"/>
                          </a:solidFill>
                          <a:latin typeface="Cambria Math" panose="02040503050406030204" pitchFamily="18" charset="0"/>
                          <a:ea typeface="+mn-ea"/>
                          <a:cs typeface="Times New Roman" panose="02020603050405020304" pitchFamily="18" charset="0"/>
                        </a:rPr>
                        <m:t>𝐸</m:t>
                      </m:r>
                      <m:d>
                        <m:dPr>
                          <m:ctrlPr>
                            <a:rPr lang="en-US" sz="2400" i="1" kern="1200">
                              <a:solidFill>
                                <a:srgbClr val="002060"/>
                              </a:solidFill>
                              <a:latin typeface="Cambria Math" panose="02040503050406030204" pitchFamily="18" charset="0"/>
                              <a:ea typeface="+mn-ea"/>
                              <a:cs typeface="Times New Roman" panose="02020603050405020304" pitchFamily="18" charset="0"/>
                            </a:rPr>
                          </m:ctrlPr>
                        </m:dPr>
                        <m:e>
                          <m:sSup>
                            <m:sSupPr>
                              <m:ctrlPr>
                                <a:rPr lang="en-US" sz="2400" i="1" kern="1200" smtClean="0">
                                  <a:solidFill>
                                    <a:srgbClr val="002060"/>
                                  </a:solidFill>
                                  <a:latin typeface="Cambria Math" panose="02040503050406030204" pitchFamily="18" charset="0"/>
                                  <a:ea typeface="+mn-ea"/>
                                  <a:cs typeface="Times New Roman" panose="02020603050405020304" pitchFamily="18" charset="0"/>
                                </a:rPr>
                              </m:ctrlPr>
                            </m:sSupPr>
                            <m:e>
                              <m:r>
                                <a:rPr lang="en-US" sz="2400" b="0" i="1" kern="1200" smtClean="0">
                                  <a:solidFill>
                                    <a:srgbClr val="002060"/>
                                  </a:solidFill>
                                  <a:latin typeface="Cambria Math" panose="02040503050406030204" pitchFamily="18" charset="0"/>
                                  <a:ea typeface="+mn-ea"/>
                                  <a:cs typeface="Times New Roman" panose="02020603050405020304" pitchFamily="18" charset="0"/>
                                </a:rPr>
                                <m:t>𝑋</m:t>
                              </m:r>
                            </m:e>
                            <m:sup>
                              <m:r>
                                <a:rPr lang="en-US" sz="2400" b="0" i="1" kern="1200" smtClean="0">
                                  <a:solidFill>
                                    <a:srgbClr val="002060"/>
                                  </a:solidFill>
                                  <a:latin typeface="Cambria Math" panose="02040503050406030204" pitchFamily="18" charset="0"/>
                                  <a:ea typeface="+mn-ea"/>
                                  <a:cs typeface="Times New Roman" panose="02020603050405020304" pitchFamily="18" charset="0"/>
                                </a:rPr>
                                <m:t>2</m:t>
                              </m:r>
                            </m:sup>
                          </m:sSup>
                        </m:e>
                      </m:d>
                      <m:r>
                        <a:rPr lang="en-US" sz="2400" i="1" kern="1200">
                          <a:solidFill>
                            <a:srgbClr val="002060"/>
                          </a:solidFill>
                          <a:latin typeface="Cambria Math" panose="02040503050406030204" pitchFamily="18" charset="0"/>
                          <a:ea typeface="+mn-ea"/>
                          <a:cs typeface="Times New Roman" panose="02020603050405020304" pitchFamily="18" charset="0"/>
                        </a:rPr>
                        <m:t>=</m:t>
                      </m:r>
                      <m:nary>
                        <m:naryPr>
                          <m:limLoc m:val="undOvr"/>
                          <m:ctrlPr>
                            <a:rPr lang="en-US" sz="2400" i="1">
                              <a:solidFill>
                                <a:srgbClr val="002060"/>
                              </a:solidFill>
                              <a:latin typeface="Cambria Math" panose="02040503050406030204" pitchFamily="18" charset="0"/>
                              <a:cs typeface="Times New Roman" panose="02020603050405020304" pitchFamily="18" charset="0"/>
                              <a:sym typeface="Varela Round"/>
                            </a:rPr>
                          </m:ctrlPr>
                        </m:naryPr>
                        <m:sub>
                          <m:r>
                            <m:rPr>
                              <m:brk m:alnAt="24"/>
                            </m:rPr>
                            <a:rPr lang="en-US" sz="2400" i="1">
                              <a:solidFill>
                                <a:srgbClr val="002060"/>
                              </a:solidFill>
                              <a:latin typeface="Cambria Math" panose="02040503050406030204" pitchFamily="18" charset="0"/>
                              <a:cs typeface="Times New Roman" panose="02020603050405020304" pitchFamily="18" charset="0"/>
                              <a:sym typeface="Varela Round"/>
                            </a:rPr>
                            <m:t>−</m:t>
                          </m:r>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sym typeface="Varela Round"/>
                            </a:rPr>
                            <m:t>∞</m:t>
                          </m:r>
                        </m:sub>
                        <m:sup>
                          <m:r>
                            <a:rPr lang="en-US" sz="2400" i="1">
                              <a:solidFill>
                                <a:srgbClr val="002060"/>
                              </a:solidFill>
                              <a:latin typeface="Cambria Math" panose="02040503050406030204" pitchFamily="18" charset="0"/>
                              <a:cs typeface="Times New Roman" panose="02020603050405020304" pitchFamily="18" charset="0"/>
                              <a:sym typeface="Varela Round"/>
                            </a:rPr>
                            <m:t>+</m:t>
                          </m:r>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sym typeface="Varela Round"/>
                            </a:rPr>
                            <m:t>∞</m:t>
                          </m:r>
                        </m:sup>
                        <m:e>
                          <m:sSup>
                            <m:sSupPr>
                              <m:ctrlPr>
                                <a:rPr lang="en-US" sz="2400" i="1" kern="1200">
                                  <a:solidFill>
                                    <a:srgbClr val="002060"/>
                                  </a:solidFill>
                                  <a:latin typeface="Cambria Math" panose="02040503050406030204" pitchFamily="18" charset="0"/>
                                  <a:cs typeface="Times New Roman" panose="02020603050405020304" pitchFamily="18" charset="0"/>
                                </a:rPr>
                              </m:ctrlPr>
                            </m:sSupPr>
                            <m:e>
                              <m:r>
                                <a:rPr lang="en-US" sz="2400" b="0" i="1" kern="1200" smtClean="0">
                                  <a:solidFill>
                                    <a:srgbClr val="002060"/>
                                  </a:solidFill>
                                  <a:latin typeface="Cambria Math" panose="02040503050406030204" pitchFamily="18" charset="0"/>
                                  <a:cs typeface="Times New Roman" panose="02020603050405020304" pitchFamily="18" charset="0"/>
                                </a:rPr>
                                <m:t>𝑥</m:t>
                              </m:r>
                            </m:e>
                            <m:sup>
                              <m:r>
                                <a:rPr lang="en-US" sz="2400" i="1" kern="1200">
                                  <a:solidFill>
                                    <a:srgbClr val="002060"/>
                                  </a:solidFill>
                                  <a:latin typeface="Cambria Math" panose="02040503050406030204" pitchFamily="18" charset="0"/>
                                  <a:cs typeface="Times New Roman" panose="02020603050405020304" pitchFamily="18" charset="0"/>
                                </a:rPr>
                                <m:t>2</m:t>
                              </m:r>
                            </m:sup>
                          </m:sSup>
                          <m:r>
                            <a:rPr lang="en-US" sz="2400" i="1">
                              <a:solidFill>
                                <a:srgbClr val="002060"/>
                              </a:solidFill>
                              <a:latin typeface="Cambria Math" panose="02040503050406030204" pitchFamily="18" charset="0"/>
                              <a:cs typeface="Times New Roman" panose="02020603050405020304" pitchFamily="18" charset="0"/>
                              <a:sym typeface="Varela Round"/>
                            </a:rPr>
                            <m:t>𝑓</m:t>
                          </m:r>
                          <m:r>
                            <a:rPr lang="en-US" sz="2400" i="1">
                              <a:solidFill>
                                <a:srgbClr val="002060"/>
                              </a:solidFill>
                              <a:latin typeface="Cambria Math" panose="02040503050406030204" pitchFamily="18" charset="0"/>
                              <a:cs typeface="Times New Roman" panose="02020603050405020304" pitchFamily="18" charset="0"/>
                              <a:sym typeface="Varela Round"/>
                            </a:rPr>
                            <m:t>(</m:t>
                          </m:r>
                          <m:r>
                            <a:rPr lang="en-US" sz="2400" i="1">
                              <a:solidFill>
                                <a:srgbClr val="002060"/>
                              </a:solidFill>
                              <a:latin typeface="Cambria Math" panose="02040503050406030204" pitchFamily="18" charset="0"/>
                              <a:cs typeface="Times New Roman" panose="02020603050405020304" pitchFamily="18" charset="0"/>
                              <a:sym typeface="Varela Round"/>
                            </a:rPr>
                            <m:t>𝑥</m:t>
                          </m:r>
                          <m:r>
                            <a:rPr lang="en-US" sz="2400" i="1">
                              <a:solidFill>
                                <a:srgbClr val="002060"/>
                              </a:solidFill>
                              <a:latin typeface="Cambria Math" panose="02040503050406030204" pitchFamily="18" charset="0"/>
                              <a:cs typeface="Times New Roman" panose="02020603050405020304" pitchFamily="18" charset="0"/>
                              <a:sym typeface="Varela Round"/>
                            </a:rPr>
                            <m:t>)</m:t>
                          </m:r>
                          <m:r>
                            <a:rPr lang="en-US" sz="2400" i="1">
                              <a:solidFill>
                                <a:srgbClr val="002060"/>
                              </a:solidFill>
                              <a:latin typeface="Cambria Math" panose="02040503050406030204" pitchFamily="18" charset="0"/>
                              <a:cs typeface="Times New Roman" panose="02020603050405020304" pitchFamily="18" charset="0"/>
                              <a:sym typeface="Varela Round"/>
                            </a:rPr>
                            <m:t>𝑑𝑥</m:t>
                          </m:r>
                        </m:e>
                      </m:nary>
                      <m:r>
                        <a:rPr lang="en-US" sz="2400" i="1" kern="1200">
                          <a:solidFill>
                            <a:srgbClr val="002060"/>
                          </a:solidFill>
                          <a:latin typeface="Cambria Math" panose="02040503050406030204" pitchFamily="18" charset="0"/>
                          <a:ea typeface="+mn-ea"/>
                          <a:cs typeface="Times New Roman" panose="02020603050405020304" pitchFamily="18" charset="0"/>
                        </a:rPr>
                        <m:t>=</m:t>
                      </m:r>
                      <m:nary>
                        <m:naryPr>
                          <m:limLoc m:val="undOvr"/>
                          <m:ctrlPr>
                            <a:rPr lang="en-US" sz="2400" i="1">
                              <a:solidFill>
                                <a:srgbClr val="002060"/>
                              </a:solidFill>
                              <a:latin typeface="Cambria Math" panose="02040503050406030204" pitchFamily="18" charset="0"/>
                              <a:cs typeface="Times New Roman" panose="02020603050405020304" pitchFamily="18" charset="0"/>
                              <a:sym typeface="Varela Round"/>
                            </a:rPr>
                          </m:ctrlPr>
                        </m:naryPr>
                        <m:sub>
                          <m:r>
                            <a:rPr lang="en-US" sz="2400" i="1">
                              <a:solidFill>
                                <a:srgbClr val="002060"/>
                              </a:solidFill>
                              <a:latin typeface="Cambria Math" panose="02040503050406030204" pitchFamily="18" charset="0"/>
                              <a:cs typeface="Times New Roman" panose="02020603050405020304" pitchFamily="18" charset="0"/>
                              <a:sym typeface="Varela Round"/>
                            </a:rPr>
                            <m:t>0</m:t>
                          </m:r>
                        </m:sub>
                        <m:sup>
                          <m:r>
                            <a:rPr lang="en-US" sz="2400" i="1">
                              <a:solidFill>
                                <a:srgbClr val="002060"/>
                              </a:solidFill>
                              <a:latin typeface="Cambria Math" panose="02040503050406030204" pitchFamily="18" charset="0"/>
                              <a:cs typeface="Times New Roman" panose="02020603050405020304" pitchFamily="18" charset="0"/>
                              <a:sym typeface="Varela Round"/>
                            </a:rPr>
                            <m:t>1</m:t>
                          </m:r>
                        </m:sup>
                        <m:e>
                          <m:d>
                            <m:dPr>
                              <m:begChr m:val="["/>
                              <m:endChr m:val="]"/>
                              <m:ctrlP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sym typeface="Varela Round"/>
                                </a:rPr>
                              </m:ctrlPr>
                            </m:dPr>
                            <m:e>
                              <m:sSup>
                                <m:sSupPr>
                                  <m:ctrlPr>
                                    <a:rPr lang="en-US" sz="2400" i="1" kern="1200">
                                      <a:solidFill>
                                        <a:srgbClr val="002060"/>
                                      </a:solidFill>
                                      <a:latin typeface="Cambria Math" panose="02040503050406030204" pitchFamily="18" charset="0"/>
                                      <a:cs typeface="Times New Roman" panose="02020603050405020304" pitchFamily="18" charset="0"/>
                                    </a:rPr>
                                  </m:ctrlPr>
                                </m:sSupPr>
                                <m:e>
                                  <m:sSup>
                                    <m:sSupPr>
                                      <m:ctrlPr>
                                        <a:rPr lang="en-US" sz="2400" i="1" kern="1200">
                                          <a:solidFill>
                                            <a:srgbClr val="002060"/>
                                          </a:solidFill>
                                          <a:latin typeface="Cambria Math" panose="02040503050406030204" pitchFamily="18" charset="0"/>
                                          <a:cs typeface="Times New Roman" panose="02020603050405020304" pitchFamily="18" charset="0"/>
                                        </a:rPr>
                                      </m:ctrlPr>
                                    </m:sSupPr>
                                    <m:e>
                                      <m:r>
                                        <a:rPr lang="en-US" sz="2400" b="0" i="1" kern="1200" smtClean="0">
                                          <a:solidFill>
                                            <a:srgbClr val="002060"/>
                                          </a:solidFill>
                                          <a:latin typeface="Cambria Math" panose="02040503050406030204" pitchFamily="18" charset="0"/>
                                          <a:cs typeface="Times New Roman" panose="02020603050405020304" pitchFamily="18" charset="0"/>
                                        </a:rPr>
                                        <m:t>𝑥</m:t>
                                      </m:r>
                                    </m:e>
                                    <m:sup>
                                      <m:r>
                                        <a:rPr lang="en-US" sz="2400" i="1" kern="1200">
                                          <a:solidFill>
                                            <a:srgbClr val="002060"/>
                                          </a:solidFill>
                                          <a:latin typeface="Cambria Math" panose="02040503050406030204" pitchFamily="18" charset="0"/>
                                          <a:cs typeface="Times New Roman" panose="02020603050405020304" pitchFamily="18" charset="0"/>
                                        </a:rPr>
                                        <m:t>2</m:t>
                                      </m:r>
                                    </m:sup>
                                  </m:sSup>
                                  <m:r>
                                    <a:rPr lang="en-US" sz="2400" i="1" kern="1200">
                                      <a:solidFill>
                                        <a:srgbClr val="002060"/>
                                      </a:solidFill>
                                      <a:latin typeface="Cambria Math" panose="02040503050406030204" pitchFamily="18" charset="0"/>
                                      <a:cs typeface="Times New Roman" panose="02020603050405020304" pitchFamily="18" charset="0"/>
                                    </a:rPr>
                                    <m:t>.12</m:t>
                                  </m:r>
                                  <m:r>
                                    <a:rPr lang="en-US" sz="2400" i="1" kern="1200">
                                      <a:solidFill>
                                        <a:srgbClr val="002060"/>
                                      </a:solidFill>
                                      <a:latin typeface="Cambria Math" panose="02040503050406030204" pitchFamily="18" charset="0"/>
                                      <a:cs typeface="Times New Roman" panose="02020603050405020304" pitchFamily="18" charset="0"/>
                                    </a:rPr>
                                    <m:t>𝑥</m:t>
                                  </m:r>
                                </m:e>
                                <m:sup>
                                  <m:r>
                                    <a:rPr lang="en-US" sz="2400" i="1" kern="1200">
                                      <a:solidFill>
                                        <a:srgbClr val="002060"/>
                                      </a:solidFill>
                                      <a:latin typeface="Cambria Math" panose="02040503050406030204" pitchFamily="18" charset="0"/>
                                      <a:cs typeface="Times New Roman" panose="02020603050405020304" pitchFamily="18" charset="0"/>
                                    </a:rPr>
                                    <m:t>2</m:t>
                                  </m:r>
                                </m:sup>
                              </m:sSup>
                              <m:d>
                                <m:dPr>
                                  <m:ctrlPr>
                                    <a:rPr lang="en-US" sz="2400" i="1" kern="1200">
                                      <a:solidFill>
                                        <a:srgbClr val="002060"/>
                                      </a:solidFill>
                                      <a:latin typeface="Cambria Math" panose="02040503050406030204" pitchFamily="18" charset="0"/>
                                      <a:cs typeface="Times New Roman" panose="02020603050405020304" pitchFamily="18" charset="0"/>
                                    </a:rPr>
                                  </m:ctrlPr>
                                </m:dPr>
                                <m:e>
                                  <m:r>
                                    <a:rPr lang="en-US" sz="2400" i="1" kern="1200">
                                      <a:solidFill>
                                        <a:srgbClr val="002060"/>
                                      </a:solidFill>
                                      <a:latin typeface="Cambria Math" panose="02040503050406030204" pitchFamily="18" charset="0"/>
                                      <a:cs typeface="Times New Roman" panose="02020603050405020304" pitchFamily="18" charset="0"/>
                                    </a:rPr>
                                    <m:t>1−</m:t>
                                  </m:r>
                                  <m:r>
                                    <a:rPr lang="en-US" sz="2400" i="1" kern="1200">
                                      <a:solidFill>
                                        <a:srgbClr val="002060"/>
                                      </a:solidFill>
                                      <a:latin typeface="Cambria Math" panose="02040503050406030204" pitchFamily="18" charset="0"/>
                                      <a:cs typeface="Times New Roman" panose="02020603050405020304" pitchFamily="18" charset="0"/>
                                    </a:rPr>
                                    <m:t>𝑥</m:t>
                                  </m:r>
                                </m:e>
                              </m:d>
                            </m:e>
                          </m:d>
                          <m:r>
                            <a:rPr lang="en-US" sz="2400" i="1">
                              <a:solidFill>
                                <a:srgbClr val="002060"/>
                              </a:solidFill>
                              <a:latin typeface="Cambria Math" panose="02040503050406030204" pitchFamily="18" charset="0"/>
                              <a:cs typeface="Times New Roman" panose="02020603050405020304" pitchFamily="18" charset="0"/>
                              <a:sym typeface="Varela Round"/>
                            </a:rPr>
                            <m:t>𝑑𝑥</m:t>
                          </m:r>
                        </m:e>
                      </m:nary>
                      <m: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0" i="1" kern="120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num>
                        <m:den>
                          <m:r>
                            <a:rPr lang="en-US" sz="2400" i="1" kern="120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5</m:t>
                          </m:r>
                        </m:den>
                      </m:f>
                    </m:oMath>
                  </m:oMathPara>
                </a14:m>
                <a:endParaRPr lang="en-US" sz="2400" kern="1200" dirty="0">
                  <a:solidFill>
                    <a:srgbClr val="002060"/>
                  </a:solidFill>
                  <a:latin typeface="Arial" panose="020B0604020202020204" pitchFamily="34" charset="0"/>
                  <a:ea typeface="+mn-ea"/>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632682" y="2967515"/>
                <a:ext cx="7878635" cy="1204561"/>
              </a:xfrm>
              <a:prstGeom prst="rect">
                <a:avLst/>
              </a:prstGeom>
              <a:blipFill>
                <a:blip r:embed="rId4"/>
                <a:stretch>
                  <a:fillRect t="-111458" b="-169792"/>
                </a:stretch>
              </a:blipFill>
            </p:spPr>
            <p:txBody>
              <a:bodyPr/>
              <a:lstStyle/>
              <a:p>
                <a:r>
                  <a:rPr lang="en-VN">
                    <a:noFill/>
                  </a:rPr>
                  <a:t> </a:t>
                </a:r>
              </a:p>
            </p:txBody>
          </p:sp>
        </mc:Fallback>
      </mc:AlternateContent>
      <p:sp>
        <p:nvSpPr>
          <p:cNvPr id="9" name="Rectangle 8"/>
          <p:cNvSpPr/>
          <p:nvPr/>
        </p:nvSpPr>
        <p:spPr>
          <a:xfrm>
            <a:off x="471733" y="3380558"/>
            <a:ext cx="753732" cy="461665"/>
          </a:xfrm>
          <a:prstGeom prst="rect">
            <a:avLst/>
          </a:prstGeom>
        </p:spPr>
        <p:txBody>
          <a:bodyPr wrap="none">
            <a:spAutoFit/>
          </a:bodyPr>
          <a:lstStyle/>
          <a:p>
            <a:pPr marL="342900" indent="-342900">
              <a:buClr>
                <a:srgbClr val="637991"/>
              </a:buClr>
              <a:buFont typeface="Wingdings" panose="05000000000000000000" pitchFamily="2" charset="2"/>
              <a:buChar char="Ø"/>
            </a:pPr>
            <a:r>
              <a:rPr lang="en-US" sz="2400" kern="1200">
                <a:solidFill>
                  <a:schemeClr val="bg1"/>
                </a:solidFill>
                <a:latin typeface="Times New Roman" panose="02020603050405020304" pitchFamily="18" charset="0"/>
                <a:ea typeface="+mn-ea"/>
                <a:cs typeface="Times New Roman" panose="02020603050405020304" pitchFamily="18" charset="0"/>
              </a:rPr>
              <a:t>K</a:t>
            </a:r>
            <a:endParaRPr lang="en-US">
              <a:solidFill>
                <a:schemeClr val="bg1"/>
              </a:solidFill>
            </a:endParaRPr>
          </a:p>
        </p:txBody>
      </p:sp>
      <mc:AlternateContent xmlns:mc="http://schemas.openxmlformats.org/markup-compatibility/2006" xmlns:a14="http://schemas.microsoft.com/office/drawing/2010/main">
        <mc:Choice Requires="a14">
          <p:sp>
            <p:nvSpPr>
              <p:cNvPr id="11" name="Rectangle 10"/>
              <p:cNvSpPr/>
              <p:nvPr/>
            </p:nvSpPr>
            <p:spPr>
              <a:xfrm>
                <a:off x="471733" y="4113054"/>
                <a:ext cx="8790496" cy="613886"/>
              </a:xfrm>
              <a:prstGeom prst="rect">
                <a:avLst/>
              </a:prstGeom>
            </p:spPr>
            <p:txBody>
              <a:bodyPr wrap="square">
                <a:spAutoFit/>
              </a:bodyPr>
              <a:lstStyle/>
              <a:p>
                <a:pPr marL="342900" indent="-342900">
                  <a:buClrTx/>
                  <a:buFont typeface="Wingdings" panose="05000000000000000000" pitchFamily="2" charset="2"/>
                  <a:buChar char="Ø"/>
                </a:pP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Phương</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sai</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kern="1200" dirty="0" err="1">
                    <a:solidFill>
                      <a:srgbClr val="002060"/>
                    </a:solidFill>
                    <a:latin typeface="Arial" panose="020B0604020202020204" pitchFamily="34" charset="0"/>
                    <a:ea typeface="+mn-ea"/>
                    <a:cs typeface="Arial" panose="020B0604020202020204" pitchFamily="34" charset="0"/>
                  </a:rPr>
                  <a:t>của</a:t>
                </a:r>
                <a:r>
                  <a:rPr lang="en-US" sz="2400" kern="1200" dirty="0">
                    <a:solidFill>
                      <a:srgbClr val="002060"/>
                    </a:solidFill>
                    <a:latin typeface="Arial" panose="020B0604020202020204" pitchFamily="34" charset="0"/>
                    <a:ea typeface="+mn-ea"/>
                    <a:cs typeface="Arial" panose="020B0604020202020204" pitchFamily="34" charset="0"/>
                  </a:rPr>
                  <a:t> </a:t>
                </a:r>
                <a:r>
                  <a:rPr lang="en-US" sz="2400" i="1" kern="1200" dirty="0">
                    <a:solidFill>
                      <a:srgbClr val="002060"/>
                    </a:solidFill>
                    <a:latin typeface="Arial" panose="020B0604020202020204" pitchFamily="34" charset="0"/>
                    <a:ea typeface="+mn-ea"/>
                    <a:cs typeface="Arial" panose="020B0604020202020204" pitchFamily="34" charset="0"/>
                  </a:rPr>
                  <a:t>X:  </a:t>
                </a:r>
                <a14:m>
                  <m:oMath xmlns:m="http://schemas.openxmlformats.org/officeDocument/2006/math">
                    <m:r>
                      <a:rPr lang="en-US" sz="2400" b="0" i="1" kern="1200" smtClean="0">
                        <a:solidFill>
                          <a:srgbClr val="002060"/>
                        </a:solidFill>
                        <a:latin typeface="Cambria Math" panose="02040503050406030204" pitchFamily="18" charset="0"/>
                        <a:ea typeface="+mn-ea"/>
                        <a:cs typeface="Times New Roman" panose="02020603050405020304" pitchFamily="18" charset="0"/>
                      </a:rPr>
                      <m:t>𝑉</m:t>
                    </m:r>
                    <m:d>
                      <m:dPr>
                        <m:ctrlPr>
                          <a:rPr lang="en-US" sz="2400" b="0" i="1" kern="1200" smtClean="0">
                            <a:solidFill>
                              <a:srgbClr val="002060"/>
                            </a:solidFill>
                            <a:latin typeface="Cambria Math" panose="02040503050406030204" pitchFamily="18" charset="0"/>
                            <a:ea typeface="+mn-ea"/>
                            <a:cs typeface="Times New Roman" panose="02020603050405020304" pitchFamily="18" charset="0"/>
                          </a:rPr>
                        </m:ctrlPr>
                      </m:dPr>
                      <m:e>
                        <m:r>
                          <a:rPr lang="en-US" sz="2400" b="0" i="1" kern="1200" smtClean="0">
                            <a:solidFill>
                              <a:srgbClr val="002060"/>
                            </a:solidFill>
                            <a:latin typeface="Cambria Math" panose="02040503050406030204" pitchFamily="18" charset="0"/>
                            <a:ea typeface="+mn-ea"/>
                            <a:cs typeface="Times New Roman" panose="02020603050405020304" pitchFamily="18" charset="0"/>
                          </a:rPr>
                          <m:t>𝑋</m:t>
                        </m:r>
                      </m:e>
                    </m:d>
                    <m:r>
                      <a:rPr lang="en-US" sz="2400" b="0" i="1" kern="1200" smtClean="0">
                        <a:solidFill>
                          <a:srgbClr val="002060"/>
                        </a:solidFill>
                        <a:latin typeface="Cambria Math" panose="02040503050406030204" pitchFamily="18" charset="0"/>
                        <a:ea typeface="+mn-ea"/>
                        <a:cs typeface="Times New Roman" panose="02020603050405020304" pitchFamily="18" charset="0"/>
                      </a:rPr>
                      <m:t>=</m:t>
                    </m:r>
                    <m:r>
                      <a:rPr lang="en-US" sz="2400" i="1" dirty="0" smtClean="0">
                        <a:solidFill>
                          <a:srgbClr val="002060"/>
                        </a:solidFill>
                        <a:latin typeface="Cambria Math" panose="02040503050406030204" pitchFamily="18" charset="0"/>
                        <a:cs typeface="Times New Roman" panose="02020603050405020304" pitchFamily="18" charset="0"/>
                      </a:rPr>
                      <m:t>𝐸</m:t>
                    </m:r>
                    <m:d>
                      <m:dPr>
                        <m:ctrlPr>
                          <a:rPr lang="en-US" sz="2400" i="1" dirty="0">
                            <a:solidFill>
                              <a:srgbClr val="002060"/>
                            </a:solidFill>
                            <a:latin typeface="Cambria Math" panose="02040503050406030204" pitchFamily="18" charset="0"/>
                            <a:cs typeface="Times New Roman" panose="02020603050405020304" pitchFamily="18" charset="0"/>
                          </a:rPr>
                        </m:ctrlPr>
                      </m:dPr>
                      <m:e>
                        <m:sSup>
                          <m:sSupPr>
                            <m:ctrlPr>
                              <a:rPr lang="en-US" sz="2400" i="1" dirty="0">
                                <a:solidFill>
                                  <a:srgbClr val="002060"/>
                                </a:solidFill>
                                <a:latin typeface="Cambria Math" panose="02040503050406030204" pitchFamily="18" charset="0"/>
                                <a:cs typeface="Times New Roman" panose="02020603050405020304" pitchFamily="18" charset="0"/>
                              </a:rPr>
                            </m:ctrlPr>
                          </m:sSupPr>
                          <m:e>
                            <m:r>
                              <a:rPr lang="en-US" sz="2400" i="1" dirty="0">
                                <a:solidFill>
                                  <a:srgbClr val="002060"/>
                                </a:solidFill>
                                <a:latin typeface="Cambria Math" panose="02040503050406030204" pitchFamily="18" charset="0"/>
                                <a:cs typeface="Times New Roman" panose="02020603050405020304" pitchFamily="18" charset="0"/>
                              </a:rPr>
                              <m:t>𝑋</m:t>
                            </m:r>
                          </m:e>
                          <m:sup>
                            <m:r>
                              <a:rPr lang="en-US" sz="2400" i="1" dirty="0">
                                <a:solidFill>
                                  <a:srgbClr val="002060"/>
                                </a:solidFill>
                                <a:latin typeface="Cambria Math" panose="02040503050406030204" pitchFamily="18" charset="0"/>
                                <a:cs typeface="Times New Roman" panose="02020603050405020304" pitchFamily="18" charset="0"/>
                              </a:rPr>
                              <m:t>2</m:t>
                            </m:r>
                          </m:sup>
                        </m:sSup>
                      </m:e>
                    </m:d>
                    <m:r>
                      <a:rPr lang="en-US" sz="2400" i="1" dirty="0">
                        <a:solidFill>
                          <a:srgbClr val="002060"/>
                        </a:solidFill>
                        <a:latin typeface="Cambria Math" panose="02040503050406030204" pitchFamily="18" charset="0"/>
                        <a:cs typeface="Times New Roman" panose="02020603050405020304" pitchFamily="18" charset="0"/>
                      </a:rPr>
                      <m:t>−</m:t>
                    </m:r>
                    <m:sSup>
                      <m:sSupPr>
                        <m:ctrlPr>
                          <a:rPr lang="en-US" sz="2400" i="1" dirty="0">
                            <a:solidFill>
                              <a:srgbClr val="002060"/>
                            </a:solidFill>
                            <a:latin typeface="Cambria Math" panose="02040503050406030204" pitchFamily="18" charset="0"/>
                            <a:cs typeface="Times New Roman" panose="02020603050405020304" pitchFamily="18" charset="0"/>
                          </a:rPr>
                        </m:ctrlPr>
                      </m:sSupPr>
                      <m:e>
                        <m:d>
                          <m:dPr>
                            <m:begChr m:val="["/>
                            <m:endChr m:val="]"/>
                            <m:ctrlPr>
                              <a:rPr lang="en-US" sz="2400" i="1" dirty="0">
                                <a:solidFill>
                                  <a:srgbClr val="002060"/>
                                </a:solidFill>
                                <a:latin typeface="Cambria Math" panose="02040503050406030204" pitchFamily="18" charset="0"/>
                                <a:cs typeface="Times New Roman" panose="02020603050405020304" pitchFamily="18" charset="0"/>
                              </a:rPr>
                            </m:ctrlPr>
                          </m:dPr>
                          <m:e>
                            <m:r>
                              <a:rPr lang="en-US" sz="2400" i="1" dirty="0">
                                <a:solidFill>
                                  <a:srgbClr val="002060"/>
                                </a:solidFill>
                                <a:latin typeface="Cambria Math" panose="02040503050406030204" pitchFamily="18" charset="0"/>
                                <a:cs typeface="Times New Roman" panose="02020603050405020304" pitchFamily="18" charset="0"/>
                              </a:rPr>
                              <m:t>𝐸</m:t>
                            </m:r>
                            <m:d>
                              <m:dPr>
                                <m:ctrlPr>
                                  <a:rPr lang="en-US" sz="2400" i="1" dirty="0">
                                    <a:solidFill>
                                      <a:srgbClr val="002060"/>
                                    </a:solidFill>
                                    <a:latin typeface="Cambria Math" panose="02040503050406030204" pitchFamily="18" charset="0"/>
                                    <a:cs typeface="Times New Roman" panose="02020603050405020304" pitchFamily="18" charset="0"/>
                                  </a:rPr>
                                </m:ctrlPr>
                              </m:dPr>
                              <m:e>
                                <m:r>
                                  <a:rPr lang="en-US" sz="2400" i="1" dirty="0">
                                    <a:solidFill>
                                      <a:srgbClr val="002060"/>
                                    </a:solidFill>
                                    <a:latin typeface="Cambria Math" panose="02040503050406030204" pitchFamily="18" charset="0"/>
                                    <a:cs typeface="Times New Roman" panose="02020603050405020304" pitchFamily="18" charset="0"/>
                                  </a:rPr>
                                  <m:t>𝑋</m:t>
                                </m:r>
                              </m:e>
                            </m:d>
                          </m:e>
                        </m:d>
                      </m:e>
                      <m:sup>
                        <m:r>
                          <a:rPr lang="en-US" sz="2400" i="1" dirty="0">
                            <a:solidFill>
                              <a:srgbClr val="002060"/>
                            </a:solidFill>
                            <a:latin typeface="Cambria Math" panose="02040503050406030204" pitchFamily="18" charset="0"/>
                            <a:cs typeface="Times New Roman" panose="02020603050405020304" pitchFamily="18" charset="0"/>
                          </a:rPr>
                          <m:t>2</m:t>
                        </m:r>
                      </m:sup>
                    </m:sSup>
                    <m:r>
                      <a:rPr lang="en-US" sz="2400" b="0" i="1" dirty="0" smtClean="0">
                        <a:solidFill>
                          <a:srgbClr val="002060"/>
                        </a:solidFill>
                        <a:latin typeface="Cambria Math" panose="02040503050406030204" pitchFamily="18" charset="0"/>
                        <a:cs typeface="Times New Roman" panose="02020603050405020304" pitchFamily="18" charset="0"/>
                      </a:rPr>
                      <m:t>=</m:t>
                    </m:r>
                    <m:f>
                      <m:fPr>
                        <m:ctrlPr>
                          <a:rPr lang="en-US" sz="2400" b="0" i="1" dirty="0" smtClean="0">
                            <a:solidFill>
                              <a:srgbClr val="002060"/>
                            </a:solidFill>
                            <a:latin typeface="Cambria Math" panose="02040503050406030204" pitchFamily="18" charset="0"/>
                            <a:cs typeface="Times New Roman" panose="02020603050405020304" pitchFamily="18" charset="0"/>
                          </a:rPr>
                        </m:ctrlPr>
                      </m:fPr>
                      <m:num>
                        <m:r>
                          <a:rPr lang="en-US" sz="2400" b="0" i="1" dirty="0" smtClean="0">
                            <a:solidFill>
                              <a:srgbClr val="002060"/>
                            </a:solidFill>
                            <a:latin typeface="Cambria Math" panose="02040503050406030204" pitchFamily="18" charset="0"/>
                            <a:cs typeface="Times New Roman" panose="02020603050405020304" pitchFamily="18" charset="0"/>
                          </a:rPr>
                          <m:t>1</m:t>
                        </m:r>
                      </m:num>
                      <m:den>
                        <m:r>
                          <a:rPr lang="en-US" sz="2400" b="0" i="1" dirty="0" smtClean="0">
                            <a:solidFill>
                              <a:srgbClr val="002060"/>
                            </a:solidFill>
                            <a:latin typeface="Cambria Math" panose="02040503050406030204" pitchFamily="18" charset="0"/>
                            <a:cs typeface="Times New Roman" panose="02020603050405020304" pitchFamily="18" charset="0"/>
                          </a:rPr>
                          <m:t>25</m:t>
                        </m:r>
                      </m:den>
                    </m:f>
                  </m:oMath>
                </a14:m>
                <a:endParaRPr lang="en-US" sz="2400" kern="1200" dirty="0">
                  <a:solidFill>
                    <a:srgbClr val="002060"/>
                  </a:solidFill>
                  <a:latin typeface="Arial" panose="020B0604020202020204" pitchFamily="34" charset="0"/>
                  <a:ea typeface="+mn-ea"/>
                  <a:cs typeface="Arial" panose="020B0604020202020204" pitchFamily="34" charset="0"/>
                </a:endParaRPr>
              </a:p>
            </p:txBody>
          </p:sp>
        </mc:Choice>
        <mc:Fallback xmlns="">
          <p:sp>
            <p:nvSpPr>
              <p:cNvPr id="11" name="Rectangle 10"/>
              <p:cNvSpPr>
                <a:spLocks noRot="1" noChangeAspect="1" noMove="1" noResize="1" noEditPoints="1" noAdjustHandles="1" noChangeArrowheads="1" noChangeShapeType="1" noTextEdit="1"/>
              </p:cNvSpPr>
              <p:nvPr/>
            </p:nvSpPr>
            <p:spPr>
              <a:xfrm>
                <a:off x="471733" y="4113054"/>
                <a:ext cx="8790496" cy="613886"/>
              </a:xfrm>
              <a:prstGeom prst="rect">
                <a:avLst/>
              </a:prstGeom>
              <a:blipFill>
                <a:blip r:embed="rId5"/>
                <a:stretch>
                  <a:fillRect l="-865" b="-10417"/>
                </a:stretch>
              </a:blipFill>
            </p:spPr>
            <p:txBody>
              <a:bodyPr/>
              <a:lstStyle/>
              <a:p>
                <a:r>
                  <a:rPr lang="en-VN">
                    <a:noFill/>
                  </a:rPr>
                  <a:t> </a:t>
                </a:r>
              </a:p>
            </p:txBody>
          </p:sp>
        </mc:Fallback>
      </mc:AlternateContent>
      <p:pic>
        <p:nvPicPr>
          <p:cNvPr id="3" name="Picture 2" descr="Dai Nam [PPT] Template 11.png">
            <a:extLst>
              <a:ext uri="{FF2B5EF4-FFF2-40B4-BE49-F238E27FC236}">
                <a16:creationId xmlns:a16="http://schemas.microsoft.com/office/drawing/2014/main" id="{7A56A46E-FB83-8C2A-81CF-9284D2FB45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749850"/>
            <a:ext cx="9144000" cy="393649"/>
          </a:xfrm>
          <a:prstGeom prst="rect">
            <a:avLst/>
          </a:prstGeom>
        </p:spPr>
      </p:pic>
    </p:spTree>
    <p:extLst>
      <p:ext uri="{BB962C8B-B14F-4D97-AF65-F5344CB8AC3E}">
        <p14:creationId xmlns:p14="http://schemas.microsoft.com/office/powerpoint/2010/main" val="206994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par>
                                <p:cTn id="13" presetID="16" presetClass="entr" presetSubtype="21" fill="hold" nodeType="with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barn(inVertical)">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arn(inVertical)">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29</a:t>
            </a:fld>
            <a:endParaRPr lang="en"/>
          </a:p>
        </p:txBody>
      </p:sp>
      <p:sp>
        <p:nvSpPr>
          <p:cNvPr id="5" name="Title 1"/>
          <p:cNvSpPr>
            <a:spLocks noGrp="1"/>
          </p:cNvSpPr>
          <p:nvPr>
            <p:ph type="title"/>
          </p:nvPr>
        </p:nvSpPr>
        <p:spPr>
          <a:xfrm>
            <a:off x="1972380" y="124709"/>
            <a:ext cx="5199240" cy="864973"/>
          </a:xfrm>
        </p:spPr>
        <p:txBody>
          <a:bodyPr/>
          <a:lstStyle/>
          <a:p>
            <a:r>
              <a:rPr lang="en-US" sz="3200" spc="-5" dirty="0" err="1">
                <a:solidFill>
                  <a:srgbClr val="002060"/>
                </a:solidFill>
                <a:latin typeface="Arial" panose="020B0604020202020204" pitchFamily="34" charset="0"/>
                <a:cs typeface="Arial" panose="020B0604020202020204" pitchFamily="34" charset="0"/>
              </a:rPr>
              <a:t>Phương</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sai</a:t>
            </a:r>
            <a:endParaRPr lang="en-US" sz="3200"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Google Shape;278;p20"/>
              <p:cNvSpPr txBox="1">
                <a:spLocks/>
              </p:cNvSpPr>
              <p:nvPr/>
            </p:nvSpPr>
            <p:spPr>
              <a:xfrm>
                <a:off x="0" y="644666"/>
                <a:ext cx="9144000" cy="38541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60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1pPr>
                <a:lvl2pPr marL="914400" marR="0" lvl="1"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2pPr>
                <a:lvl3pPr marL="1371600" marR="0" lvl="2"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3pPr>
                <a:lvl4pPr marL="1828800" marR="0" lvl="3"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4pPr>
                <a:lvl5pPr marL="2286000" marR="0" lvl="4"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5pPr>
                <a:lvl6pPr marL="2743200" marR="0" lvl="5" indent="-406400" algn="l" rtl="0">
                  <a:lnSpc>
                    <a:spcPct val="100000"/>
                  </a:lnSpc>
                  <a:spcBef>
                    <a:spcPts val="0"/>
                  </a:spcBef>
                  <a:spcAft>
                    <a:spcPts val="0"/>
                  </a:spcAft>
                  <a:buClr>
                    <a:srgbClr val="7BD100"/>
                  </a:buClr>
                  <a:buSzPts val="2800"/>
                  <a:buFont typeface="Varela Round"/>
                  <a:buChar char="×"/>
                  <a:defRPr sz="2800" b="0" i="0" u="none" strike="noStrike" cap="none">
                    <a:solidFill>
                      <a:srgbClr val="546973"/>
                    </a:solidFill>
                    <a:latin typeface="Varela Round"/>
                    <a:ea typeface="Varela Round"/>
                    <a:cs typeface="Varela Round"/>
                    <a:sym typeface="Varela Round"/>
                  </a:defRPr>
                </a:lvl6pPr>
                <a:lvl7pPr marL="3200400" marR="0" lvl="6"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7pPr>
                <a:lvl8pPr marL="3657600" marR="0" lvl="7"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8pPr>
                <a:lvl9pPr marL="4114800" marR="0" lvl="8" indent="-406400" algn="l" rtl="0">
                  <a:lnSpc>
                    <a:spcPct val="100000"/>
                  </a:lnSpc>
                  <a:spcBef>
                    <a:spcPts val="0"/>
                  </a:spcBef>
                  <a:spcAft>
                    <a:spcPts val="0"/>
                  </a:spcAft>
                  <a:buClr>
                    <a:srgbClr val="546973"/>
                  </a:buClr>
                  <a:buSzPts val="2800"/>
                  <a:buFont typeface="Varela Round"/>
                  <a:buChar char="■"/>
                  <a:defRPr sz="2800" b="0" i="0" u="none" strike="noStrike" cap="none">
                    <a:solidFill>
                      <a:srgbClr val="546973"/>
                    </a:solidFill>
                    <a:latin typeface="Varela Round"/>
                    <a:ea typeface="Varela Round"/>
                    <a:cs typeface="Varela Round"/>
                    <a:sym typeface="Varela Round"/>
                  </a:defRPr>
                </a:lvl9pPr>
              </a:lstStyle>
              <a:p>
                <a:pPr marL="0" indent="0" algn="just">
                  <a:lnSpc>
                    <a:spcPct val="150000"/>
                  </a:lnSpc>
                  <a:buFont typeface="Varela Round"/>
                  <a:buNone/>
                </a:pPr>
                <a:r>
                  <a:rPr lang="en-US" sz="2400" b="1" dirty="0">
                    <a:solidFill>
                      <a:srgbClr val="002060"/>
                    </a:solidFill>
                    <a:latin typeface="Arial" panose="020B0604020202020204" pitchFamily="34" charset="0"/>
                    <a:cs typeface="Arial" panose="020B0604020202020204" pitchFamily="34" charset="0"/>
                  </a:rPr>
                  <a:t>Tính </a:t>
                </a:r>
                <a:r>
                  <a:rPr lang="en-US" sz="2400" b="1" dirty="0" err="1">
                    <a:solidFill>
                      <a:srgbClr val="002060"/>
                    </a:solidFill>
                    <a:latin typeface="Arial" panose="020B0604020202020204" pitchFamily="34" charset="0"/>
                    <a:cs typeface="Arial" panose="020B0604020202020204" pitchFamily="34" charset="0"/>
                  </a:rPr>
                  <a:t>chất</a:t>
                </a:r>
                <a:endParaRPr lang="en-US" sz="2400" b="1" dirty="0">
                  <a:solidFill>
                    <a:srgbClr val="002060"/>
                  </a:solidFill>
                  <a:latin typeface="Arial" panose="020B0604020202020204" pitchFamily="34" charset="0"/>
                  <a:cs typeface="Arial" panose="020B0604020202020204" pitchFamily="34" charset="0"/>
                </a:endParaRPr>
              </a:p>
              <a:p>
                <a:pPr marL="800100" lvl="2" indent="-342900" algn="just">
                  <a:lnSpc>
                    <a:spcPct val="150000"/>
                  </a:lnSpc>
                  <a:spcBef>
                    <a:spcPts val="600"/>
                  </a:spcBef>
                </a:pPr>
                <a:r>
                  <a:rPr lang="vi-VN" sz="2400" b="0" dirty="0">
                    <a:solidFill>
                      <a:srgbClr val="002060"/>
                    </a:solidFill>
                    <a:latin typeface="Arial" panose="020B0604020202020204" pitchFamily="34" charset="0"/>
                    <a:cs typeface="Arial" panose="020B0604020202020204" pitchFamily="34" charset="0"/>
                  </a:rPr>
                  <a:t>V(X) ≥ 0, với mọi BNN X</a:t>
                </a:r>
              </a:p>
              <a:p>
                <a:pPr marL="800100" lvl="2" indent="-342900" algn="just">
                  <a:lnSpc>
                    <a:spcPct val="150000"/>
                  </a:lnSpc>
                  <a:spcBef>
                    <a:spcPts val="600"/>
                  </a:spcBef>
                </a:pPr>
                <a14:m>
                  <m:oMath xmlns:m="http://schemas.openxmlformats.org/officeDocument/2006/math">
                    <m:r>
                      <a:rPr lang="en-US" sz="2400" b="0" i="1" dirty="0" smtClean="0">
                        <a:solidFill>
                          <a:srgbClr val="002060"/>
                        </a:solidFill>
                        <a:latin typeface="Cambria Math" panose="02040503050406030204" pitchFamily="18" charset="0"/>
                        <a:cs typeface="Times New Roman" panose="02020603050405020304" pitchFamily="18" charset="0"/>
                      </a:rPr>
                      <m:t>𝑉</m:t>
                    </m:r>
                    <m:d>
                      <m:dPr>
                        <m:ctrlPr>
                          <a:rPr lang="en-US" sz="2400" b="0" i="1" dirty="0" smtClean="0">
                            <a:solidFill>
                              <a:srgbClr val="002060"/>
                            </a:solidFill>
                            <a:latin typeface="Cambria Math" panose="02040503050406030204" pitchFamily="18" charset="0"/>
                            <a:cs typeface="Times New Roman" panose="02020603050405020304" pitchFamily="18" charset="0"/>
                          </a:rPr>
                        </m:ctrlPr>
                      </m:dPr>
                      <m:e>
                        <m:r>
                          <a:rPr lang="en-US" sz="2400" b="0" i="1" dirty="0" smtClean="0">
                            <a:solidFill>
                              <a:srgbClr val="002060"/>
                            </a:solidFill>
                            <a:latin typeface="Cambria Math" panose="02040503050406030204" pitchFamily="18" charset="0"/>
                            <a:cs typeface="Times New Roman" panose="02020603050405020304" pitchFamily="18" charset="0"/>
                          </a:rPr>
                          <m:t>𝐶</m:t>
                        </m:r>
                      </m:e>
                    </m:d>
                    <m:r>
                      <a:rPr lang="en-US" sz="2400" b="0" i="1" dirty="0" smtClean="0">
                        <a:solidFill>
                          <a:srgbClr val="002060"/>
                        </a:solidFill>
                        <a:latin typeface="Cambria Math" panose="02040503050406030204" pitchFamily="18" charset="0"/>
                        <a:cs typeface="Times New Roman" panose="02020603050405020304" pitchFamily="18" charset="0"/>
                      </a:rPr>
                      <m:t>=0;</m:t>
                    </m:r>
                    <m:r>
                      <a:rPr lang="en-US" sz="2400" b="0" i="1" dirty="0" smtClean="0">
                        <a:solidFill>
                          <a:srgbClr val="002060"/>
                        </a:solidFill>
                        <a:latin typeface="Cambria Math" panose="02040503050406030204" pitchFamily="18" charset="0"/>
                        <a:cs typeface="Times New Roman" panose="02020603050405020304" pitchFamily="18" charset="0"/>
                      </a:rPr>
                      <m:t>𝑉</m:t>
                    </m:r>
                    <m:d>
                      <m:dPr>
                        <m:ctrlPr>
                          <a:rPr lang="en-US" sz="2400" i="1" dirty="0">
                            <a:solidFill>
                              <a:srgbClr val="002060"/>
                            </a:solidFill>
                            <a:latin typeface="Cambria Math" panose="02040503050406030204" pitchFamily="18" charset="0"/>
                            <a:cs typeface="Times New Roman" panose="02020603050405020304" pitchFamily="18" charset="0"/>
                          </a:rPr>
                        </m:ctrlPr>
                      </m:dPr>
                      <m:e>
                        <m:r>
                          <a:rPr lang="en-US" sz="2400" i="1" dirty="0">
                            <a:solidFill>
                              <a:srgbClr val="002060"/>
                            </a:solidFill>
                            <a:latin typeface="Cambria Math" panose="02040503050406030204" pitchFamily="18" charset="0"/>
                            <a:cs typeface="Times New Roman" panose="02020603050405020304" pitchFamily="18" charset="0"/>
                          </a:rPr>
                          <m:t>𝐶</m:t>
                        </m:r>
                        <m:r>
                          <a:rPr lang="en-US" sz="2400" b="0" i="1" dirty="0" smtClean="0">
                            <a:solidFill>
                              <a:srgbClr val="002060"/>
                            </a:solidFill>
                            <a:latin typeface="Cambria Math" panose="02040503050406030204" pitchFamily="18" charset="0"/>
                            <a:cs typeface="Times New Roman" panose="02020603050405020304" pitchFamily="18" charset="0"/>
                          </a:rPr>
                          <m:t>𝑋</m:t>
                        </m:r>
                      </m:e>
                    </m:d>
                    <m:r>
                      <a:rPr lang="en-US" sz="2400" i="1" dirty="0">
                        <a:solidFill>
                          <a:srgbClr val="002060"/>
                        </a:solidFill>
                        <a:latin typeface="Cambria Math" panose="02040503050406030204" pitchFamily="18" charset="0"/>
                        <a:cs typeface="Times New Roman" panose="02020603050405020304" pitchFamily="18" charset="0"/>
                      </a:rPr>
                      <m:t>=</m:t>
                    </m:r>
                    <m:sSup>
                      <m:sSupPr>
                        <m:ctrlPr>
                          <a:rPr lang="en-US" sz="2400" i="1" dirty="0" smtClean="0">
                            <a:solidFill>
                              <a:srgbClr val="002060"/>
                            </a:solidFill>
                            <a:latin typeface="Cambria Math" panose="02040503050406030204" pitchFamily="18" charset="0"/>
                            <a:cs typeface="Times New Roman" panose="02020603050405020304" pitchFamily="18" charset="0"/>
                          </a:rPr>
                        </m:ctrlPr>
                      </m:sSupPr>
                      <m:e>
                        <m:r>
                          <a:rPr lang="en-US" sz="2400" b="0" i="1" dirty="0" smtClean="0">
                            <a:solidFill>
                              <a:srgbClr val="002060"/>
                            </a:solidFill>
                            <a:latin typeface="Cambria Math" panose="02040503050406030204" pitchFamily="18" charset="0"/>
                            <a:cs typeface="Times New Roman" panose="02020603050405020304" pitchFamily="18" charset="0"/>
                          </a:rPr>
                          <m:t>𝐶</m:t>
                        </m:r>
                      </m:e>
                      <m:sup>
                        <m:r>
                          <a:rPr lang="en-US" sz="2400" b="0" i="1" dirty="0" smtClean="0">
                            <a:solidFill>
                              <a:srgbClr val="002060"/>
                            </a:solidFill>
                            <a:latin typeface="Cambria Math" panose="02040503050406030204" pitchFamily="18" charset="0"/>
                            <a:cs typeface="Times New Roman" panose="02020603050405020304" pitchFamily="18" charset="0"/>
                          </a:rPr>
                          <m:t>2</m:t>
                        </m:r>
                      </m:sup>
                    </m:sSup>
                    <m:r>
                      <a:rPr lang="en-US" sz="2400" b="0" i="1" dirty="0" smtClean="0">
                        <a:solidFill>
                          <a:srgbClr val="002060"/>
                        </a:solidFill>
                        <a:latin typeface="Cambria Math" panose="02040503050406030204" pitchFamily="18" charset="0"/>
                        <a:cs typeface="Times New Roman" panose="02020603050405020304" pitchFamily="18" charset="0"/>
                      </a:rPr>
                      <m:t>𝑉</m:t>
                    </m:r>
                    <m:r>
                      <a:rPr lang="en-US" sz="2400" b="0" i="1" dirty="0" smtClean="0">
                        <a:solidFill>
                          <a:srgbClr val="002060"/>
                        </a:solidFill>
                        <a:latin typeface="Cambria Math" panose="02040503050406030204" pitchFamily="18" charset="0"/>
                        <a:cs typeface="Times New Roman" panose="02020603050405020304" pitchFamily="18" charset="0"/>
                      </a:rPr>
                      <m:t>(</m:t>
                    </m:r>
                    <m:r>
                      <a:rPr lang="en-US" sz="2400" b="0" i="1" dirty="0" smtClean="0">
                        <a:solidFill>
                          <a:srgbClr val="002060"/>
                        </a:solidFill>
                        <a:latin typeface="Cambria Math" panose="02040503050406030204" pitchFamily="18" charset="0"/>
                        <a:cs typeface="Times New Roman" panose="02020603050405020304" pitchFamily="18" charset="0"/>
                      </a:rPr>
                      <m:t>𝑋</m:t>
                    </m:r>
                    <m:r>
                      <a:rPr lang="en-US" sz="2400" b="0" i="1" dirty="0" smtClean="0">
                        <a:solidFill>
                          <a:srgbClr val="002060"/>
                        </a:solidFill>
                        <a:latin typeface="Cambria Math" panose="02040503050406030204" pitchFamily="18" charset="0"/>
                        <a:cs typeface="Times New Roman" panose="02020603050405020304" pitchFamily="18" charset="0"/>
                      </a:rPr>
                      <m:t>)</m:t>
                    </m:r>
                  </m:oMath>
                </a14:m>
                <a:r>
                  <a:rPr lang="en-US" sz="2400" b="0" i="1" dirty="0">
                    <a:solidFill>
                      <a:srgbClr val="002060"/>
                    </a:solidFill>
                    <a:latin typeface="Arial" panose="020B0604020202020204" pitchFamily="34" charset="0"/>
                    <a:cs typeface="Arial" panose="020B0604020202020204" pitchFamily="34" charset="0"/>
                  </a:rPr>
                  <a:t> </a:t>
                </a:r>
                <a:r>
                  <a:rPr lang="en-US" sz="2400" b="0" dirty="0" err="1">
                    <a:solidFill>
                      <a:srgbClr val="002060"/>
                    </a:solidFill>
                    <a:latin typeface="Arial" panose="020B0604020202020204" pitchFamily="34" charset="0"/>
                    <a:cs typeface="Arial" panose="020B0604020202020204" pitchFamily="34" charset="0"/>
                  </a:rPr>
                  <a:t>với</a:t>
                </a:r>
                <a:r>
                  <a:rPr lang="en-US" sz="2400" b="0" dirty="0">
                    <a:solidFill>
                      <a:srgbClr val="002060"/>
                    </a:solidFill>
                    <a:latin typeface="Arial" panose="020B0604020202020204" pitchFamily="34" charset="0"/>
                    <a:cs typeface="Arial" panose="020B0604020202020204" pitchFamily="34" charset="0"/>
                  </a:rPr>
                  <a:t> C </a:t>
                </a:r>
                <a:r>
                  <a:rPr lang="en-US" sz="2400" b="0" dirty="0" err="1">
                    <a:solidFill>
                      <a:srgbClr val="002060"/>
                    </a:solidFill>
                    <a:latin typeface="Arial" panose="020B0604020202020204" pitchFamily="34" charset="0"/>
                    <a:cs typeface="Arial" panose="020B0604020202020204" pitchFamily="34" charset="0"/>
                  </a:rPr>
                  <a:t>là</a:t>
                </a:r>
                <a:r>
                  <a:rPr lang="en-US" sz="2400" b="0" dirty="0">
                    <a:solidFill>
                      <a:srgbClr val="002060"/>
                    </a:solidFill>
                    <a:latin typeface="Arial" panose="020B0604020202020204" pitchFamily="34" charset="0"/>
                    <a:cs typeface="Arial" panose="020B0604020202020204" pitchFamily="34" charset="0"/>
                  </a:rPr>
                  <a:t> </a:t>
                </a:r>
                <a:r>
                  <a:rPr lang="en-US" sz="2400" b="0" dirty="0" err="1">
                    <a:solidFill>
                      <a:srgbClr val="002060"/>
                    </a:solidFill>
                    <a:latin typeface="Arial" panose="020B0604020202020204" pitchFamily="34" charset="0"/>
                    <a:cs typeface="Arial" panose="020B0604020202020204" pitchFamily="34" charset="0"/>
                  </a:rPr>
                  <a:t>hằng</a:t>
                </a:r>
                <a:r>
                  <a:rPr lang="en-US" sz="2400" b="0" dirty="0">
                    <a:solidFill>
                      <a:srgbClr val="002060"/>
                    </a:solidFill>
                    <a:latin typeface="Arial" panose="020B0604020202020204" pitchFamily="34" charset="0"/>
                    <a:cs typeface="Arial" panose="020B0604020202020204" pitchFamily="34" charset="0"/>
                  </a:rPr>
                  <a:t> </a:t>
                </a:r>
                <a:r>
                  <a:rPr lang="en-US" sz="2400" b="0" dirty="0" err="1">
                    <a:solidFill>
                      <a:srgbClr val="002060"/>
                    </a:solidFill>
                    <a:latin typeface="Arial" panose="020B0604020202020204" pitchFamily="34" charset="0"/>
                    <a:cs typeface="Arial" panose="020B0604020202020204" pitchFamily="34" charset="0"/>
                  </a:rPr>
                  <a:t>số</a:t>
                </a:r>
                <a:endParaRPr lang="en-US" sz="2400" b="0" dirty="0">
                  <a:solidFill>
                    <a:srgbClr val="002060"/>
                  </a:solidFill>
                  <a:latin typeface="Arial" panose="020B0604020202020204" pitchFamily="34" charset="0"/>
                  <a:cs typeface="Arial" panose="020B0604020202020204" pitchFamily="34" charset="0"/>
                </a:endParaRPr>
              </a:p>
              <a:p>
                <a:pPr marL="800100" lvl="2" indent="-342900" algn="just">
                  <a:lnSpc>
                    <a:spcPct val="150000"/>
                  </a:lnSpc>
                  <a:spcBef>
                    <a:spcPts val="600"/>
                  </a:spcBef>
                </a:pPr>
                <a14:m>
                  <m:oMath xmlns:m="http://schemas.openxmlformats.org/officeDocument/2006/math">
                    <m:r>
                      <a:rPr lang="en-US" sz="2400" b="0" i="1" dirty="0" smtClean="0">
                        <a:solidFill>
                          <a:srgbClr val="002060"/>
                        </a:solidFill>
                        <a:latin typeface="Cambria Math" panose="02040503050406030204" pitchFamily="18" charset="0"/>
                        <a:cs typeface="Times New Roman" panose="02020603050405020304" pitchFamily="18" charset="0"/>
                      </a:rPr>
                      <m:t>𝑉</m:t>
                    </m:r>
                    <m:d>
                      <m:dPr>
                        <m:ctrlPr>
                          <a:rPr lang="en-US" sz="2400" i="1" dirty="0">
                            <a:solidFill>
                              <a:srgbClr val="002060"/>
                            </a:solidFill>
                            <a:latin typeface="Cambria Math" panose="02040503050406030204" pitchFamily="18" charset="0"/>
                            <a:cs typeface="Times New Roman" panose="02020603050405020304" pitchFamily="18" charset="0"/>
                          </a:rPr>
                        </m:ctrlPr>
                      </m:dPr>
                      <m:e>
                        <m:r>
                          <a:rPr lang="en-US" sz="2400" b="0" i="1" dirty="0" smtClean="0">
                            <a:solidFill>
                              <a:srgbClr val="002060"/>
                            </a:solidFill>
                            <a:latin typeface="Cambria Math" panose="02040503050406030204" pitchFamily="18" charset="0"/>
                            <a:cs typeface="Times New Roman" panose="02020603050405020304" pitchFamily="18" charset="0"/>
                          </a:rPr>
                          <m:t>𝑋</m:t>
                        </m:r>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𝑌</m:t>
                        </m:r>
                      </m:e>
                    </m:d>
                    <m:r>
                      <a:rPr lang="en-US" sz="2400" i="1" dirty="0">
                        <a:solidFill>
                          <a:srgbClr val="002060"/>
                        </a:solidFill>
                        <a:latin typeface="Cambria Math" panose="02040503050406030204" pitchFamily="18" charset="0"/>
                        <a:cs typeface="Times New Roman" panose="02020603050405020304" pitchFamily="18" charset="0"/>
                      </a:rPr>
                      <m:t>=</m:t>
                    </m:r>
                    <m:r>
                      <a:rPr lang="en-US" sz="2400" b="0" i="1" dirty="0" smtClean="0">
                        <a:solidFill>
                          <a:srgbClr val="002060"/>
                        </a:solidFill>
                        <a:latin typeface="Cambria Math" panose="02040503050406030204" pitchFamily="18" charset="0"/>
                        <a:cs typeface="Times New Roman" panose="02020603050405020304" pitchFamily="18" charset="0"/>
                      </a:rPr>
                      <m:t>𝑉</m:t>
                    </m:r>
                    <m:d>
                      <m:dPr>
                        <m:ctrlPr>
                          <a:rPr lang="en-US" sz="2400" b="0" i="1" dirty="0" smtClean="0">
                            <a:solidFill>
                              <a:srgbClr val="002060"/>
                            </a:solidFill>
                            <a:latin typeface="Cambria Math" panose="02040503050406030204" pitchFamily="18" charset="0"/>
                            <a:cs typeface="Times New Roman" panose="02020603050405020304" pitchFamily="18" charset="0"/>
                          </a:rPr>
                        </m:ctrlPr>
                      </m:dPr>
                      <m:e>
                        <m:r>
                          <a:rPr lang="en-US" sz="2400" b="0" i="1" dirty="0" smtClean="0">
                            <a:solidFill>
                              <a:srgbClr val="002060"/>
                            </a:solidFill>
                            <a:latin typeface="Cambria Math" panose="02040503050406030204" pitchFamily="18" charset="0"/>
                            <a:cs typeface="Times New Roman" panose="02020603050405020304" pitchFamily="18" charset="0"/>
                          </a:rPr>
                          <m:t>𝑋</m:t>
                        </m:r>
                      </m:e>
                    </m:d>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𝑉</m:t>
                    </m:r>
                    <m:d>
                      <m:dPr>
                        <m:ctrlP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𝑌</m:t>
                        </m:r>
                      </m:e>
                    </m:d>
                    <m:r>
                      <a:rPr lang="en-US" sz="2400" b="0" i="1" dirty="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i="1" dirty="0">
                    <a:solidFill>
                      <a:srgbClr val="002060"/>
                    </a:solidFill>
                    <a:latin typeface="Arial" panose="020B0604020202020204" pitchFamily="34" charset="0"/>
                    <a:cs typeface="Arial" panose="020B0604020202020204" pitchFamily="34" charset="0"/>
                  </a:rPr>
                  <a:t> X, Y  </a:t>
                </a:r>
                <a:r>
                  <a:rPr lang="en-US" sz="2400" dirty="0" err="1">
                    <a:solidFill>
                      <a:srgbClr val="002060"/>
                    </a:solidFill>
                    <a:latin typeface="Arial" panose="020B0604020202020204" pitchFamily="34" charset="0"/>
                    <a:cs typeface="Arial" panose="020B0604020202020204" pitchFamily="34" charset="0"/>
                  </a:rPr>
                  <a:t>độc</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lập</a:t>
                </a:r>
                <a:endParaRPr lang="en-US" sz="2400" dirty="0">
                  <a:solidFill>
                    <a:srgbClr val="002060"/>
                  </a:solidFill>
                  <a:latin typeface="Arial" panose="020B0604020202020204" pitchFamily="34" charset="0"/>
                  <a:cs typeface="Arial" panose="020B0604020202020204" pitchFamily="34" charset="0"/>
                </a:endParaRPr>
              </a:p>
              <a:p>
                <a:pPr marL="800100" lvl="2" indent="-342900" algn="just">
                  <a:lnSpc>
                    <a:spcPct val="150000"/>
                  </a:lnSpc>
                  <a:spcBef>
                    <a:spcPts val="600"/>
                  </a:spcBef>
                </a:pPr>
                <a:r>
                  <a:rPr lang="en-VN" sz="2400" dirty="0">
                    <a:solidFill>
                      <a:srgbClr val="002060"/>
                    </a:solidFill>
                    <a:latin typeface="Arial" panose="020B0604020202020204" pitchFamily="34" charset="0"/>
                    <a:cs typeface="Arial" panose="020B0604020202020204" pitchFamily="34" charset="0"/>
                  </a:rPr>
                  <a:t>Phương sai càng lớn thì độ phân tán các giá trị của biến ngẫu nhiên xung quanh giá trị trung bình của nó càng lớn.</a:t>
                </a:r>
              </a:p>
              <a:p>
                <a:pPr marL="457200" lvl="2" indent="0" algn="just">
                  <a:lnSpc>
                    <a:spcPct val="150000"/>
                  </a:lnSpc>
                  <a:spcBef>
                    <a:spcPts val="600"/>
                  </a:spcBef>
                  <a:buNone/>
                </a:pPr>
                <a:endParaRPr lang="en-US" sz="2400" dirty="0">
                  <a:solidFill>
                    <a:srgbClr val="002060"/>
                  </a:solidFill>
                  <a:latin typeface="Arial" panose="020B0604020202020204" pitchFamily="34" charset="0"/>
                  <a:cs typeface="Arial" panose="020B0604020202020204" pitchFamily="34" charset="0"/>
                </a:endParaRPr>
              </a:p>
            </p:txBody>
          </p:sp>
        </mc:Choice>
        <mc:Fallback xmlns="">
          <p:sp>
            <p:nvSpPr>
              <p:cNvPr id="6" name="Google Shape;278;p20"/>
              <p:cNvSpPr txBox="1">
                <a:spLocks noRot="1" noChangeAspect="1" noMove="1" noResize="1" noEditPoints="1" noAdjustHandles="1" noChangeArrowheads="1" noChangeShapeType="1" noTextEdit="1"/>
              </p:cNvSpPr>
              <p:nvPr/>
            </p:nvSpPr>
            <p:spPr>
              <a:xfrm>
                <a:off x="0" y="644666"/>
                <a:ext cx="9144000" cy="3854168"/>
              </a:xfrm>
              <a:prstGeom prst="rect">
                <a:avLst/>
              </a:prstGeom>
              <a:blipFill>
                <a:blip r:embed="rId2"/>
                <a:stretch>
                  <a:fillRect l="-1111" r="-1111" b="-328"/>
                </a:stretch>
              </a:blipFill>
              <a:ln>
                <a:noFill/>
              </a:ln>
            </p:spPr>
            <p:txBody>
              <a:bodyPr/>
              <a:lstStyle/>
              <a:p>
                <a:r>
                  <a:rPr lang="en-VN">
                    <a:noFill/>
                  </a:rPr>
                  <a:t> </a:t>
                </a:r>
              </a:p>
            </p:txBody>
          </p:sp>
        </mc:Fallback>
      </mc:AlternateContent>
      <p:pic>
        <p:nvPicPr>
          <p:cNvPr id="2" name="Picture 1" descr="Dai Nam [PPT] Template 11.png">
            <a:extLst>
              <a:ext uri="{FF2B5EF4-FFF2-40B4-BE49-F238E27FC236}">
                <a16:creationId xmlns:a16="http://schemas.microsoft.com/office/drawing/2014/main" id="{00DE3BFB-5D77-69DD-50F7-00DA1D214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2763085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a:xfrm>
            <a:off x="2596707" y="0"/>
            <a:ext cx="3950585" cy="654908"/>
          </a:xfrm>
        </p:spPr>
        <p:txBody>
          <a:bodyPr/>
          <a:lstStyle/>
          <a:p>
            <a:r>
              <a:rPr lang="en-US" sz="3600" spc="-5" dirty="0" err="1">
                <a:solidFill>
                  <a:srgbClr val="002060"/>
                </a:solidFill>
                <a:latin typeface="Arial" panose="020B0604020202020204" pitchFamily="34" charset="0"/>
                <a:cs typeface="Arial" panose="020B0604020202020204" pitchFamily="34" charset="0"/>
              </a:rPr>
              <a:t>Phương</a:t>
            </a:r>
            <a:r>
              <a:rPr lang="en-US" sz="3600" spc="-5" dirty="0">
                <a:solidFill>
                  <a:srgbClr val="002060"/>
                </a:solidFill>
                <a:latin typeface="Arial" panose="020B0604020202020204" pitchFamily="34" charset="0"/>
                <a:cs typeface="Arial" panose="020B0604020202020204" pitchFamily="34" charset="0"/>
              </a:rPr>
              <a:t> </a:t>
            </a:r>
            <a:r>
              <a:rPr lang="en-US" sz="3600" spc="-5" dirty="0" err="1">
                <a:solidFill>
                  <a:srgbClr val="002060"/>
                </a:solidFill>
                <a:latin typeface="Arial" panose="020B0604020202020204" pitchFamily="34" charset="0"/>
                <a:cs typeface="Arial" panose="020B0604020202020204" pitchFamily="34" charset="0"/>
              </a:rPr>
              <a:t>sai</a:t>
            </a:r>
            <a:endParaRPr lang="en-US" sz="3600" dirty="0">
              <a:solidFill>
                <a:srgbClr val="002060"/>
              </a:solidFill>
              <a:latin typeface="Arial" panose="020B0604020202020204" pitchFamily="34" charset="0"/>
              <a:cs typeface="Arial" panose="020B0604020202020204" pitchFamily="34" charset="0"/>
            </a:endParaRPr>
          </a:p>
        </p:txBody>
      </p:sp>
      <p:sp>
        <p:nvSpPr>
          <p:cNvPr id="12" name="Text Placeholder 2"/>
          <p:cNvSpPr>
            <a:spLocks noGrp="1"/>
          </p:cNvSpPr>
          <p:nvPr>
            <p:ph type="body" idx="1"/>
          </p:nvPr>
        </p:nvSpPr>
        <p:spPr>
          <a:xfrm>
            <a:off x="-1" y="855625"/>
            <a:ext cx="9144000" cy="2391750"/>
          </a:xfrm>
        </p:spPr>
        <p:txBody>
          <a:bodyPr/>
          <a:lstStyle/>
          <a:p>
            <a:pPr marL="50800" indent="0" algn="just">
              <a:buNone/>
            </a:pPr>
            <a:r>
              <a:rPr lang="en-US" sz="2000" b="1" dirty="0" err="1">
                <a:solidFill>
                  <a:srgbClr val="002060"/>
                </a:solidFill>
                <a:latin typeface="Arial" panose="020B0604020202020204" pitchFamily="34" charset="0"/>
                <a:cs typeface="Arial" panose="020B0604020202020204" pitchFamily="34" charset="0"/>
              </a:rPr>
              <a:t>Ý</a:t>
            </a:r>
            <a:r>
              <a:rPr lang="en-US" sz="2000" b="1" dirty="0">
                <a:solidFill>
                  <a:srgbClr val="002060"/>
                </a:solidFill>
                <a:latin typeface="Arial" panose="020B0604020202020204" pitchFamily="34" charset="0"/>
                <a:cs typeface="Arial" panose="020B0604020202020204" pitchFamily="34" charset="0"/>
              </a:rPr>
              <a:t> </a:t>
            </a:r>
            <a:r>
              <a:rPr lang="en-US" sz="2000" b="1" dirty="0" err="1">
                <a:solidFill>
                  <a:srgbClr val="002060"/>
                </a:solidFill>
                <a:latin typeface="Arial" panose="020B0604020202020204" pitchFamily="34" charset="0"/>
                <a:cs typeface="Arial" panose="020B0604020202020204" pitchFamily="34" charset="0"/>
              </a:rPr>
              <a:t>nghĩa</a:t>
            </a:r>
            <a:endParaRPr lang="en-US" sz="2000" b="1" dirty="0">
              <a:solidFill>
                <a:srgbClr val="002060"/>
              </a:solidFill>
              <a:latin typeface="Arial" panose="020B0604020202020204" pitchFamily="34" charset="0"/>
              <a:cs typeface="Arial" panose="020B0604020202020204" pitchFamily="34" charset="0"/>
            </a:endParaRPr>
          </a:p>
          <a:p>
            <a:pPr algn="just"/>
            <a:r>
              <a:rPr lang="en-US" sz="2000" dirty="0" err="1">
                <a:solidFill>
                  <a:srgbClr val="002060"/>
                </a:solidFill>
                <a:latin typeface="Arial" panose="020B0604020202020204" pitchFamily="34" charset="0"/>
                <a:cs typeface="Arial" panose="020B0604020202020204" pitchFamily="34" charset="0"/>
              </a:rPr>
              <a:t>Phương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sai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của</a:t>
            </a:r>
            <a:r>
              <a:rPr lang="en-US" sz="2000" dirty="0">
                <a:solidFill>
                  <a:srgbClr val="002060"/>
                </a:solidFill>
                <a:latin typeface="Arial" panose="020B0604020202020204" pitchFamily="34" charset="0"/>
                <a:cs typeface="Arial" panose="020B0604020202020204" pitchFamily="34" charset="0"/>
              </a:rPr>
              <a:t> BNN </a:t>
            </a:r>
            <a:r>
              <a:rPr lang="en-US" sz="2000" dirty="0" err="1">
                <a:solidFill>
                  <a:srgbClr val="002060"/>
                </a:solidFill>
                <a:latin typeface="Arial" panose="020B0604020202020204" pitchFamily="34" charset="0"/>
                <a:cs typeface="Arial" panose="020B0604020202020204" pitchFamily="34" charset="0"/>
              </a:rPr>
              <a:t>đặc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trưng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cho</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độ</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phân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tán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giữa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các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giá</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trị</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của</a:t>
            </a:r>
            <a:r>
              <a:rPr lang="en-US" sz="2000" dirty="0">
                <a:solidFill>
                  <a:srgbClr val="002060"/>
                </a:solidFill>
                <a:latin typeface="Arial" panose="020B0604020202020204" pitchFamily="34" charset="0"/>
                <a:cs typeface="Arial" panose="020B0604020202020204" pitchFamily="34" charset="0"/>
              </a:rPr>
              <a:t> X </a:t>
            </a:r>
            <a:r>
              <a:rPr lang="en-US" sz="2000" dirty="0" err="1">
                <a:solidFill>
                  <a:srgbClr val="002060"/>
                </a:solidFill>
                <a:latin typeface="Arial" panose="020B0604020202020204" pitchFamily="34" charset="0"/>
                <a:cs typeface="Arial" panose="020B0604020202020204" pitchFamily="34" charset="0"/>
              </a:rPr>
              <a:t>với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giá</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trị</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trung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bình</a:t>
            </a:r>
            <a:r>
              <a:rPr lang="en-US" sz="2000" dirty="0">
                <a:solidFill>
                  <a:srgbClr val="002060"/>
                </a:solidFill>
                <a:latin typeface="Arial" panose="020B0604020202020204" pitchFamily="34" charset="0"/>
                <a:cs typeface="Arial" panose="020B0604020202020204" pitchFamily="34" charset="0"/>
              </a:rPr>
              <a:t>.</a:t>
            </a:r>
          </a:p>
          <a:p>
            <a:pPr algn="just"/>
            <a:r>
              <a:rPr lang="en-US" sz="2000" dirty="0" err="1">
                <a:solidFill>
                  <a:srgbClr val="002060"/>
                </a:solidFill>
                <a:latin typeface="Arial" panose="020B0604020202020204" pitchFamily="34" charset="0"/>
                <a:cs typeface="Arial" panose="020B0604020202020204" pitchFamily="34" charset="0"/>
              </a:rPr>
              <a:t>Trong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kĩ</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thuật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phương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sai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đặc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trưng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cho</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mức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độ</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phân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tán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của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các</a:t>
            </a:r>
            <a:r>
              <a:rPr lang="en-US" sz="2000" dirty="0">
                <a:solidFill>
                  <a:srgbClr val="002060"/>
                </a:solidFill>
                <a:latin typeface="Arial" panose="020B0604020202020204" pitchFamily="34" charset="0"/>
                <a:cs typeface="Arial" panose="020B0604020202020204" pitchFamily="34" charset="0"/>
              </a:rPr>
              <a:t> chi </a:t>
            </a:r>
            <a:r>
              <a:rPr lang="en-US" sz="2000" dirty="0" err="1">
                <a:solidFill>
                  <a:srgbClr val="002060"/>
                </a:solidFill>
                <a:latin typeface="Arial" panose="020B0604020202020204" pitchFamily="34" charset="0"/>
                <a:cs typeface="Arial" panose="020B0604020202020204" pitchFamily="34" charset="0"/>
              </a:rPr>
              <a:t>tiết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gia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công</a:t>
            </a:r>
            <a:r>
              <a:rPr lang="en-US" sz="2000" dirty="0">
                <a:solidFill>
                  <a:srgbClr val="002060"/>
                </a:solidFill>
                <a:latin typeface="Arial" panose="020B0604020202020204" pitchFamily="34" charset="0"/>
                <a:cs typeface="Arial" panose="020B0604020202020204" pitchFamily="34" charset="0"/>
              </a:rPr>
              <a:t> hay </a:t>
            </a:r>
            <a:r>
              <a:rPr lang="en-US" sz="2000" dirty="0" err="1">
                <a:solidFill>
                  <a:srgbClr val="002060"/>
                </a:solidFill>
                <a:latin typeface="Arial" panose="020B0604020202020204" pitchFamily="34" charset="0"/>
                <a:cs typeface="Arial" panose="020B0604020202020204" pitchFamily="34" charset="0"/>
              </a:rPr>
              <a:t>sai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sô</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của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các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thiết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bị</a:t>
            </a:r>
            <a:r>
              <a:rPr lang="en-US" sz="2000" dirty="0">
                <a:solidFill>
                  <a:srgbClr val="002060"/>
                </a:solidFill>
                <a:latin typeface="Arial" panose="020B0604020202020204" pitchFamily="34" charset="0"/>
                <a:cs typeface="Arial" panose="020B0604020202020204" pitchFamily="34" charset="0"/>
              </a:rPr>
              <a:t>,…</a:t>
            </a:r>
          </a:p>
          <a:p>
            <a:pPr algn="just"/>
            <a:r>
              <a:rPr lang="en-US" sz="2000" dirty="0" err="1">
                <a:solidFill>
                  <a:srgbClr val="002060"/>
                </a:solidFill>
                <a:latin typeface="Arial" panose="020B0604020202020204" pitchFamily="34" charset="0"/>
                <a:cs typeface="Arial" panose="020B0604020202020204" pitchFamily="34" charset="0"/>
              </a:rPr>
              <a:t>Trong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kinh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tế</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phương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sai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đặc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trưng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cho</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mức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độ</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rủi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ro</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của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các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quyết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định</a:t>
            </a:r>
            <a:r>
              <a:rPr lang="en-US" sz="2000" dirty="0">
                <a:solidFill>
                  <a:srgbClr val="002060"/>
                </a:solidFill>
                <a:latin typeface="Arial" panose="020B0604020202020204" pitchFamily="34" charset="0"/>
                <a:cs typeface="Arial" panose="020B0604020202020204" pitchFamily="34" charset="0"/>
              </a:rPr>
              <a:t>.</a:t>
            </a:r>
          </a:p>
        </p:txBody>
      </p:sp>
      <p:pic>
        <p:nvPicPr>
          <p:cNvPr id="13" name="Picture 12"/>
          <p:cNvPicPr>
            <a:picLocks noChangeAspect="1"/>
          </p:cNvPicPr>
          <p:nvPr/>
        </p:nvPicPr>
        <p:blipFill>
          <a:blip r:embed="rId3"/>
          <a:stretch>
            <a:fillRect/>
          </a:stretch>
        </p:blipFill>
        <p:spPr>
          <a:xfrm>
            <a:off x="1034880" y="3361595"/>
            <a:ext cx="6877599" cy="1519767"/>
          </a:xfrm>
          <a:prstGeom prst="rect">
            <a:avLst/>
          </a:prstGeom>
        </p:spPr>
      </p:pic>
    </p:spTree>
    <p:extLst>
      <p:ext uri="{BB962C8B-B14F-4D97-AF65-F5344CB8AC3E}">
        <p14:creationId xmlns:p14="http://schemas.microsoft.com/office/powerpoint/2010/main" val="3582339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a:xfrm>
            <a:off x="8533890" y="4749851"/>
            <a:ext cx="548700" cy="393600"/>
          </a:xfrm>
        </p:spPr>
        <p:txBody>
          <a:bodyPr/>
          <a:lstStyle/>
          <a:p>
            <a:pPr marL="0" lvl="0" indent="0" algn="ctr" rtl="0">
              <a:spcBef>
                <a:spcPts val="0"/>
              </a:spcBef>
              <a:spcAft>
                <a:spcPts val="0"/>
              </a:spcAft>
              <a:buNone/>
            </a:pPr>
            <a:fld id="{00000000-1234-1234-1234-123412341234}" type="slidenum">
              <a:rPr lang="en" smtClean="0"/>
              <a:t>31</a:t>
            </a:fld>
            <a:endParaRPr lang="en"/>
          </a:p>
        </p:txBody>
      </p:sp>
      <p:sp>
        <p:nvSpPr>
          <p:cNvPr id="6" name="Text Placeholder 2"/>
          <p:cNvSpPr>
            <a:spLocks noGrp="1"/>
          </p:cNvSpPr>
          <p:nvPr>
            <p:ph type="body" idx="1"/>
          </p:nvPr>
        </p:nvSpPr>
        <p:spPr>
          <a:xfrm>
            <a:off x="0" y="742700"/>
            <a:ext cx="9144000" cy="2391750"/>
          </a:xfrm>
        </p:spPr>
        <p:txBody>
          <a:bodyPr/>
          <a:lstStyle/>
          <a:p>
            <a:pPr marL="50800" indent="0" algn="just">
              <a:buNone/>
            </a:pPr>
            <a:r>
              <a:rPr lang="en-US" sz="2000" dirty="0" err="1">
                <a:solidFill>
                  <a:srgbClr val="002060"/>
                </a:solidFill>
                <a:latin typeface="Arial" panose="020B0604020202020204" pitchFamily="34" charset="0"/>
                <a:cs typeface="Arial" panose="020B0604020202020204" pitchFamily="34" charset="0"/>
              </a:rPr>
              <a:t>Một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nhà</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đầu</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tư</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đang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cân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nhắc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giữa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việc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đầu</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tư</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vào</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hai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dự</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án</a:t>
            </a:r>
            <a:r>
              <a:rPr lang="en-US" sz="2000" dirty="0">
                <a:solidFill>
                  <a:srgbClr val="002060"/>
                </a:solidFill>
                <a:latin typeface="Arial" panose="020B0604020202020204" pitchFamily="34" charset="0"/>
                <a:cs typeface="Arial" panose="020B0604020202020204" pitchFamily="34" charset="0"/>
              </a:rPr>
              <a:t> A </a:t>
            </a:r>
            <a:r>
              <a:rPr lang="en-US" sz="2000" dirty="0" err="1">
                <a:solidFill>
                  <a:srgbClr val="002060"/>
                </a:solidFill>
                <a:latin typeface="Arial" panose="020B0604020202020204" pitchFamily="34" charset="0"/>
                <a:cs typeface="Arial" panose="020B0604020202020204" pitchFamily="34" charset="0"/>
              </a:rPr>
              <a:t>và</a:t>
            </a:r>
            <a:r>
              <a:rPr lang="en-US" sz="2000" dirty="0">
                <a:solidFill>
                  <a:srgbClr val="002060"/>
                </a:solidFill>
                <a:latin typeface="Arial" panose="020B0604020202020204" pitchFamily="34" charset="0"/>
                <a:cs typeface="Arial" panose="020B0604020202020204" pitchFamily="34" charset="0"/>
              </a:rPr>
              <a:t> B </a:t>
            </a:r>
            <a:r>
              <a:rPr lang="en-US" sz="2000" dirty="0" err="1">
                <a:solidFill>
                  <a:srgbClr val="002060"/>
                </a:solidFill>
                <a:latin typeface="Arial" panose="020B0604020202020204" pitchFamily="34" charset="0"/>
                <a:cs typeface="Arial" panose="020B0604020202020204" pitchFamily="34" charset="0"/>
              </a:rPr>
              <a:t>trong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hai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lĩnh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vực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độc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lập</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nhau</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Khả</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năng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thu</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hồi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vốn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sau</a:t>
            </a:r>
            <a:r>
              <a:rPr lang="en-US" sz="2000" dirty="0">
                <a:solidFill>
                  <a:srgbClr val="002060"/>
                </a:solidFill>
                <a:latin typeface="Arial" panose="020B0604020202020204" pitchFamily="34" charset="0"/>
                <a:cs typeface="Arial" panose="020B0604020202020204" pitchFamily="34" charset="0"/>
              </a:rPr>
              <a:t> 2 </a:t>
            </a:r>
            <a:r>
              <a:rPr lang="en-US" sz="2000" dirty="0" err="1">
                <a:solidFill>
                  <a:srgbClr val="002060"/>
                </a:solidFill>
                <a:latin typeface="Arial" panose="020B0604020202020204" pitchFamily="34" charset="0"/>
                <a:cs typeface="Arial" panose="020B0604020202020204" pitchFamily="34" charset="0"/>
              </a:rPr>
              <a:t>năm</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tính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theo</a:t>
            </a:r>
            <a:r>
              <a:rPr lang="en-US" sz="2000" dirty="0">
                <a:solidFill>
                  <a:srgbClr val="002060"/>
                </a:solidFill>
                <a:latin typeface="Arial" panose="020B0604020202020204" pitchFamily="34" charset="0"/>
                <a:cs typeface="Arial" panose="020B0604020202020204" pitchFamily="34" charset="0"/>
              </a:rPr>
              <a:t> %) </a:t>
            </a:r>
            <a:r>
              <a:rPr lang="en-US" sz="2000" dirty="0" err="1">
                <a:solidFill>
                  <a:srgbClr val="002060"/>
                </a:solidFill>
                <a:latin typeface="Arial" panose="020B0604020202020204" pitchFamily="34" charset="0"/>
                <a:cs typeface="Arial" panose="020B0604020202020204" pitchFamily="34" charset="0"/>
              </a:rPr>
              <a:t>của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hai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dự</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án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là</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các</a:t>
            </a:r>
            <a:r>
              <a:rPr lang="en-US" sz="2000" dirty="0">
                <a:solidFill>
                  <a:srgbClr val="002060"/>
                </a:solidFill>
                <a:latin typeface="Arial" panose="020B0604020202020204" pitchFamily="34" charset="0"/>
                <a:cs typeface="Arial" panose="020B0604020202020204" pitchFamily="34" charset="0"/>
              </a:rPr>
              <a:t> BNN </a:t>
            </a:r>
            <a:r>
              <a:rPr lang="en-US" sz="2000" dirty="0" err="1">
                <a:solidFill>
                  <a:srgbClr val="002060"/>
                </a:solidFill>
                <a:latin typeface="Arial" panose="020B0604020202020204" pitchFamily="34" charset="0"/>
                <a:cs typeface="Arial" panose="020B0604020202020204" pitchFamily="34" charset="0"/>
              </a:rPr>
              <a:t>có</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bảng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phân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phối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xác</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suất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như</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sau</a:t>
            </a:r>
            <a:r>
              <a:rPr lang="en-US" sz="2000" dirty="0">
                <a:solidFill>
                  <a:srgbClr val="002060"/>
                </a:solidFill>
                <a:latin typeface="Arial" panose="020B0604020202020204" pitchFamily="34" charset="0"/>
                <a:cs typeface="Arial" panose="020B0604020202020204" pitchFamily="34" charset="0"/>
              </a:rPr>
              <a:t>:</a:t>
            </a:r>
          </a:p>
          <a:p>
            <a:pPr marL="50800" indent="0" algn="just">
              <a:buNone/>
            </a:pPr>
            <a:r>
              <a:rPr lang="en-US" sz="2000" dirty="0" err="1">
                <a:solidFill>
                  <a:srgbClr val="002060"/>
                </a:solidFill>
                <a:latin typeface="Arial" panose="020B0604020202020204" pitchFamily="34" charset="0"/>
                <a:cs typeface="Arial" panose="020B0604020202020204" pitchFamily="34" charset="0"/>
              </a:rPr>
              <a:t>Dự</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án</a:t>
            </a:r>
            <a:r>
              <a:rPr lang="en-US" sz="2000" dirty="0">
                <a:solidFill>
                  <a:srgbClr val="002060"/>
                </a:solidFill>
                <a:latin typeface="Arial" panose="020B0604020202020204" pitchFamily="34" charset="0"/>
                <a:cs typeface="Arial" panose="020B0604020202020204" pitchFamily="34" charset="0"/>
              </a:rPr>
              <a:t> A:</a:t>
            </a:r>
          </a:p>
          <a:p>
            <a:pPr marL="50800" indent="0" algn="just">
              <a:buNone/>
            </a:pPr>
            <a:endParaRPr lang="en-US" sz="2000" dirty="0">
              <a:solidFill>
                <a:srgbClr val="002060"/>
              </a:solidFill>
              <a:latin typeface="Arial" panose="020B0604020202020204" pitchFamily="34" charset="0"/>
              <a:cs typeface="Arial" panose="020B0604020202020204" pitchFamily="34" charset="0"/>
            </a:endParaRPr>
          </a:p>
          <a:p>
            <a:pPr marL="50800" indent="0" algn="just">
              <a:buNone/>
            </a:pPr>
            <a:endParaRPr lang="en-US" sz="2000" dirty="0">
              <a:solidFill>
                <a:srgbClr val="002060"/>
              </a:solidFill>
              <a:latin typeface="Arial" panose="020B0604020202020204" pitchFamily="34" charset="0"/>
              <a:cs typeface="Arial" panose="020B0604020202020204" pitchFamily="34" charset="0"/>
            </a:endParaRPr>
          </a:p>
          <a:p>
            <a:pPr marL="50800" indent="0" algn="just">
              <a:buNone/>
            </a:pPr>
            <a:r>
              <a:rPr lang="en-US" sz="2000" dirty="0" err="1">
                <a:solidFill>
                  <a:srgbClr val="002060"/>
                </a:solidFill>
                <a:latin typeface="Arial" panose="020B0604020202020204" pitchFamily="34" charset="0"/>
                <a:cs typeface="Arial" panose="020B0604020202020204" pitchFamily="34" charset="0"/>
              </a:rPr>
              <a:t>Dự</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án</a:t>
            </a:r>
            <a:r>
              <a:rPr lang="en-US" sz="2000" dirty="0">
                <a:solidFill>
                  <a:srgbClr val="002060"/>
                </a:solidFill>
                <a:latin typeface="Arial" panose="020B0604020202020204" pitchFamily="34" charset="0"/>
                <a:cs typeface="Arial" panose="020B0604020202020204" pitchFamily="34" charset="0"/>
              </a:rPr>
              <a:t> B:    </a:t>
            </a:r>
          </a:p>
        </p:txBody>
      </p:sp>
      <p:graphicFrame>
        <p:nvGraphicFramePr>
          <p:cNvPr id="7" name="Table 6"/>
          <p:cNvGraphicFramePr>
            <a:graphicFrameLocks noGrp="1"/>
          </p:cNvGraphicFramePr>
          <p:nvPr>
            <p:extLst>
              <p:ext uri="{D42A27DB-BD31-4B8C-83A1-F6EECF244321}">
                <p14:modId xmlns:p14="http://schemas.microsoft.com/office/powerpoint/2010/main" val="2416023783"/>
              </p:ext>
            </p:extLst>
          </p:nvPr>
        </p:nvGraphicFramePr>
        <p:xfrm>
          <a:off x="1249650" y="1917188"/>
          <a:ext cx="5962032" cy="792480"/>
        </p:xfrm>
        <a:graphic>
          <a:graphicData uri="http://schemas.openxmlformats.org/drawingml/2006/table">
            <a:tbl>
              <a:tblPr firstRow="1" bandRow="1">
                <a:tableStyleId>{238068B5-05EC-40D0-BF61-CF48C4B65AA2}</a:tableStyleId>
              </a:tblPr>
              <a:tblGrid>
                <a:gridCol w="745254">
                  <a:extLst>
                    <a:ext uri="{9D8B030D-6E8A-4147-A177-3AD203B41FA5}">
                      <a16:colId xmlns:a16="http://schemas.microsoft.com/office/drawing/2014/main" val="4029104868"/>
                    </a:ext>
                  </a:extLst>
                </a:gridCol>
                <a:gridCol w="745254">
                  <a:extLst>
                    <a:ext uri="{9D8B030D-6E8A-4147-A177-3AD203B41FA5}">
                      <a16:colId xmlns:a16="http://schemas.microsoft.com/office/drawing/2014/main" val="572893140"/>
                    </a:ext>
                  </a:extLst>
                </a:gridCol>
                <a:gridCol w="745254">
                  <a:extLst>
                    <a:ext uri="{9D8B030D-6E8A-4147-A177-3AD203B41FA5}">
                      <a16:colId xmlns:a16="http://schemas.microsoft.com/office/drawing/2014/main" val="3804806811"/>
                    </a:ext>
                  </a:extLst>
                </a:gridCol>
                <a:gridCol w="745254">
                  <a:extLst>
                    <a:ext uri="{9D8B030D-6E8A-4147-A177-3AD203B41FA5}">
                      <a16:colId xmlns:a16="http://schemas.microsoft.com/office/drawing/2014/main" val="3425568518"/>
                    </a:ext>
                  </a:extLst>
                </a:gridCol>
                <a:gridCol w="745254">
                  <a:extLst>
                    <a:ext uri="{9D8B030D-6E8A-4147-A177-3AD203B41FA5}">
                      <a16:colId xmlns:a16="http://schemas.microsoft.com/office/drawing/2014/main" val="3562006227"/>
                    </a:ext>
                  </a:extLst>
                </a:gridCol>
                <a:gridCol w="745254">
                  <a:extLst>
                    <a:ext uri="{9D8B030D-6E8A-4147-A177-3AD203B41FA5}">
                      <a16:colId xmlns:a16="http://schemas.microsoft.com/office/drawing/2014/main" val="2988056502"/>
                    </a:ext>
                  </a:extLst>
                </a:gridCol>
                <a:gridCol w="745254">
                  <a:extLst>
                    <a:ext uri="{9D8B030D-6E8A-4147-A177-3AD203B41FA5}">
                      <a16:colId xmlns:a16="http://schemas.microsoft.com/office/drawing/2014/main" val="2936787324"/>
                    </a:ext>
                  </a:extLst>
                </a:gridCol>
                <a:gridCol w="745254">
                  <a:extLst>
                    <a:ext uri="{9D8B030D-6E8A-4147-A177-3AD203B41FA5}">
                      <a16:colId xmlns:a16="http://schemas.microsoft.com/office/drawing/2014/main" val="2861867924"/>
                    </a:ext>
                  </a:extLst>
                </a:gridCol>
              </a:tblGrid>
              <a:tr h="370840">
                <a:tc>
                  <a:txBody>
                    <a:bodyPr/>
                    <a:lstStyle/>
                    <a:p>
                      <a:pPr algn="ctr"/>
                      <a:r>
                        <a:rPr lang="en-US" sz="2000">
                          <a:solidFill>
                            <a:srgbClr val="002060"/>
                          </a:solidFill>
                          <a:latin typeface="Arial" panose="020B0604020202020204" pitchFamily="34" charset="0"/>
                          <a:cs typeface="Arial" panose="020B0604020202020204" pitchFamily="34" charset="0"/>
                        </a:rPr>
                        <a:t>X</a:t>
                      </a:r>
                      <a:r>
                        <a:rPr lang="en-US" sz="1200">
                          <a:solidFill>
                            <a:srgbClr val="002060"/>
                          </a:solidFill>
                          <a:latin typeface="Arial" panose="020B0604020202020204" pitchFamily="34" charset="0"/>
                          <a:cs typeface="Arial" panose="020B0604020202020204" pitchFamily="34" charset="0"/>
                        </a:rPr>
                        <a:t>A</a:t>
                      </a:r>
                      <a:endParaRPr lang="en-US" sz="2000">
                        <a:solidFill>
                          <a:srgbClr val="002060"/>
                        </a:solidFill>
                        <a:latin typeface="Arial" panose="020B0604020202020204" pitchFamily="34" charset="0"/>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65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67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68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69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70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71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73</a:t>
                      </a:r>
                    </a:p>
                  </a:txBody>
                  <a:tcPr>
                    <a:lnL w="12700" cap="flat" cmpd="sng" algn="ctr">
                      <a:no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3310979"/>
                  </a:ext>
                </a:extLst>
              </a:tr>
              <a:tr h="370840">
                <a:tc>
                  <a:txBody>
                    <a:bodyPr/>
                    <a:lstStyle/>
                    <a:p>
                      <a:pPr algn="ctr"/>
                      <a:r>
                        <a:rPr lang="en-US" sz="2000">
                          <a:solidFill>
                            <a:srgbClr val="002060"/>
                          </a:solidFill>
                          <a:latin typeface="Arial" panose="020B0604020202020204" pitchFamily="34" charset="0"/>
                          <a:cs typeface="Arial" panose="020B0604020202020204" pitchFamily="34" charset="0"/>
                        </a:rPr>
                        <a:t>P</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0,04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0,12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0,16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0,28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0,24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0,08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0,08</a:t>
                      </a:r>
                    </a:p>
                  </a:txBody>
                  <a:tcPr>
                    <a:lnL w="12700" cap="flat" cmpd="sng" algn="ctr">
                      <a:no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54922488"/>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588116718"/>
              </p:ext>
            </p:extLst>
          </p:nvPr>
        </p:nvGraphicFramePr>
        <p:xfrm>
          <a:off x="1249650" y="2844849"/>
          <a:ext cx="4572000" cy="792480"/>
        </p:xfrm>
        <a:graphic>
          <a:graphicData uri="http://schemas.openxmlformats.org/drawingml/2006/table">
            <a:tbl>
              <a:tblPr firstRow="1" bandRow="1">
                <a:tableStyleId>{238068B5-05EC-40D0-BF61-CF48C4B65AA2}</a:tableStyleId>
              </a:tblPr>
              <a:tblGrid>
                <a:gridCol w="762000">
                  <a:extLst>
                    <a:ext uri="{9D8B030D-6E8A-4147-A177-3AD203B41FA5}">
                      <a16:colId xmlns:a16="http://schemas.microsoft.com/office/drawing/2014/main" val="4029104868"/>
                    </a:ext>
                  </a:extLst>
                </a:gridCol>
                <a:gridCol w="762000">
                  <a:extLst>
                    <a:ext uri="{9D8B030D-6E8A-4147-A177-3AD203B41FA5}">
                      <a16:colId xmlns:a16="http://schemas.microsoft.com/office/drawing/2014/main" val="572893140"/>
                    </a:ext>
                  </a:extLst>
                </a:gridCol>
                <a:gridCol w="762000">
                  <a:extLst>
                    <a:ext uri="{9D8B030D-6E8A-4147-A177-3AD203B41FA5}">
                      <a16:colId xmlns:a16="http://schemas.microsoft.com/office/drawing/2014/main" val="3804806811"/>
                    </a:ext>
                  </a:extLst>
                </a:gridCol>
                <a:gridCol w="762000">
                  <a:extLst>
                    <a:ext uri="{9D8B030D-6E8A-4147-A177-3AD203B41FA5}">
                      <a16:colId xmlns:a16="http://schemas.microsoft.com/office/drawing/2014/main" val="3425568518"/>
                    </a:ext>
                  </a:extLst>
                </a:gridCol>
                <a:gridCol w="762000">
                  <a:extLst>
                    <a:ext uri="{9D8B030D-6E8A-4147-A177-3AD203B41FA5}">
                      <a16:colId xmlns:a16="http://schemas.microsoft.com/office/drawing/2014/main" val="3562006227"/>
                    </a:ext>
                  </a:extLst>
                </a:gridCol>
                <a:gridCol w="762000">
                  <a:extLst>
                    <a:ext uri="{9D8B030D-6E8A-4147-A177-3AD203B41FA5}">
                      <a16:colId xmlns:a16="http://schemas.microsoft.com/office/drawing/2014/main" val="2988056502"/>
                    </a:ext>
                  </a:extLst>
                </a:gridCol>
              </a:tblGrid>
              <a:tr h="370840">
                <a:tc>
                  <a:txBody>
                    <a:bodyPr/>
                    <a:lstStyle/>
                    <a:p>
                      <a:pPr algn="ctr"/>
                      <a:r>
                        <a:rPr lang="en-US" sz="2000">
                          <a:solidFill>
                            <a:srgbClr val="002060"/>
                          </a:solidFill>
                          <a:latin typeface="Arial" panose="020B0604020202020204" pitchFamily="34" charset="0"/>
                          <a:cs typeface="Arial" panose="020B0604020202020204" pitchFamily="34" charset="0"/>
                        </a:rPr>
                        <a:t>X</a:t>
                      </a:r>
                      <a:r>
                        <a:rPr lang="en-US" sz="1200">
                          <a:solidFill>
                            <a:srgbClr val="002060"/>
                          </a:solidFill>
                          <a:latin typeface="Arial" panose="020B0604020202020204" pitchFamily="34" charset="0"/>
                          <a:cs typeface="Arial" panose="020B0604020202020204" pitchFamily="34" charset="0"/>
                        </a:rPr>
                        <a:t>B</a:t>
                      </a:r>
                      <a:endParaRPr lang="en-US" sz="2000">
                        <a:solidFill>
                          <a:srgbClr val="002060"/>
                        </a:solidFill>
                        <a:latin typeface="Arial" panose="020B0604020202020204" pitchFamily="34" charset="0"/>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66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68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69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70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71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3310979"/>
                  </a:ext>
                </a:extLst>
              </a:tr>
              <a:tr h="294737">
                <a:tc>
                  <a:txBody>
                    <a:bodyPr/>
                    <a:lstStyle/>
                    <a:p>
                      <a:pPr algn="ctr"/>
                      <a:r>
                        <a:rPr lang="en-US" sz="2000">
                          <a:solidFill>
                            <a:srgbClr val="002060"/>
                          </a:solidFill>
                          <a:latin typeface="Arial" panose="020B0604020202020204" pitchFamily="34" charset="0"/>
                          <a:cs typeface="Arial" panose="020B0604020202020204" pitchFamily="34" charset="0"/>
                        </a:rPr>
                        <a:t>P</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0,12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0,28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0,32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a:solidFill>
                            <a:srgbClr val="002060"/>
                          </a:solidFill>
                          <a:latin typeface="Arial" panose="020B0604020202020204" pitchFamily="34" charset="0"/>
                          <a:cs typeface="Arial" panose="020B0604020202020204" pitchFamily="34" charset="0"/>
                        </a:rPr>
                        <a:t>0,20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0,08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54922488"/>
                  </a:ext>
                </a:extLst>
              </a:tr>
            </a:tbl>
          </a:graphicData>
        </a:graphic>
      </p:graphicFrame>
      <p:sp>
        <p:nvSpPr>
          <p:cNvPr id="9" name="Rectangle 8"/>
          <p:cNvSpPr/>
          <p:nvPr/>
        </p:nvSpPr>
        <p:spPr>
          <a:xfrm>
            <a:off x="7312059" y="1959485"/>
            <a:ext cx="1731564" cy="707886"/>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lvl="0" algn="ctr"/>
            <a:r>
              <a:rPr lang="en-US" sz="2000" dirty="0">
                <a:solidFill>
                  <a:srgbClr val="002060"/>
                </a:solidFill>
                <a:latin typeface="Arial" panose="020B0604020202020204" pitchFamily="34" charset="0"/>
                <a:cs typeface="Arial" panose="020B0604020202020204" pitchFamily="34" charset="0"/>
              </a:rPr>
              <a:t>E(X</a:t>
            </a:r>
            <a:r>
              <a:rPr lang="en-US" sz="1200" dirty="0">
                <a:solidFill>
                  <a:srgbClr val="002060"/>
                </a:solidFill>
                <a:latin typeface="Arial" panose="020B0604020202020204" pitchFamily="34" charset="0"/>
                <a:cs typeface="Arial" panose="020B0604020202020204" pitchFamily="34" charset="0"/>
              </a:rPr>
              <a:t>A</a:t>
            </a:r>
            <a:r>
              <a:rPr lang="en-US" sz="2000" dirty="0">
                <a:solidFill>
                  <a:srgbClr val="002060"/>
                </a:solidFill>
                <a:latin typeface="Arial" panose="020B0604020202020204" pitchFamily="34" charset="0"/>
                <a:cs typeface="Arial" panose="020B0604020202020204" pitchFamily="34" charset="0"/>
              </a:rPr>
              <a:t>) = 69,16</a:t>
            </a:r>
          </a:p>
          <a:p>
            <a:pPr lvl="0" algn="ctr"/>
            <a:r>
              <a:rPr lang="en-US" sz="2000" dirty="0">
                <a:solidFill>
                  <a:srgbClr val="002060"/>
                </a:solidFill>
                <a:latin typeface="Arial" panose="020B0604020202020204" pitchFamily="34" charset="0"/>
                <a:cs typeface="Arial" panose="020B0604020202020204" pitchFamily="34" charset="0"/>
              </a:rPr>
              <a:t>V(X</a:t>
            </a:r>
            <a:r>
              <a:rPr lang="en-US" sz="1200" dirty="0">
                <a:solidFill>
                  <a:srgbClr val="002060"/>
                </a:solidFill>
                <a:latin typeface="Arial" panose="020B0604020202020204" pitchFamily="34" charset="0"/>
                <a:cs typeface="Arial" panose="020B0604020202020204" pitchFamily="34" charset="0"/>
              </a:rPr>
              <a:t>A</a:t>
            </a:r>
            <a:r>
              <a:rPr lang="en-US" sz="2000" dirty="0">
                <a:solidFill>
                  <a:srgbClr val="002060"/>
                </a:solidFill>
                <a:latin typeface="Arial" panose="020B0604020202020204" pitchFamily="34" charset="0"/>
                <a:cs typeface="Arial" panose="020B0604020202020204" pitchFamily="34" charset="0"/>
              </a:rPr>
              <a:t>) = 3,094</a:t>
            </a:r>
          </a:p>
        </p:txBody>
      </p:sp>
      <p:sp>
        <p:nvSpPr>
          <p:cNvPr id="10" name="Rectangle 9"/>
          <p:cNvSpPr/>
          <p:nvPr/>
        </p:nvSpPr>
        <p:spPr>
          <a:xfrm>
            <a:off x="6345900" y="2945897"/>
            <a:ext cx="1731564" cy="707886"/>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lvl="0" algn="ctr"/>
            <a:r>
              <a:rPr lang="en-US" sz="2000" dirty="0">
                <a:solidFill>
                  <a:srgbClr val="002060"/>
                </a:solidFill>
                <a:latin typeface="Arial" panose="020B0604020202020204" pitchFamily="34" charset="0"/>
                <a:cs typeface="Arial" panose="020B0604020202020204" pitchFamily="34" charset="0"/>
              </a:rPr>
              <a:t>E(X</a:t>
            </a:r>
            <a:r>
              <a:rPr lang="en-US" sz="1200" dirty="0">
                <a:solidFill>
                  <a:srgbClr val="002060"/>
                </a:solidFill>
                <a:latin typeface="Arial" panose="020B0604020202020204" pitchFamily="34" charset="0"/>
                <a:cs typeface="Arial" panose="020B0604020202020204" pitchFamily="34" charset="0"/>
              </a:rPr>
              <a:t>B</a:t>
            </a:r>
            <a:r>
              <a:rPr lang="en-US" sz="2000" dirty="0">
                <a:solidFill>
                  <a:srgbClr val="002060"/>
                </a:solidFill>
                <a:latin typeface="Arial" panose="020B0604020202020204" pitchFamily="34" charset="0"/>
                <a:cs typeface="Arial" panose="020B0604020202020204" pitchFamily="34" charset="0"/>
              </a:rPr>
              <a:t>) = 68,72</a:t>
            </a:r>
          </a:p>
          <a:p>
            <a:pPr lvl="0" algn="ctr"/>
            <a:r>
              <a:rPr lang="en-US" sz="2000" dirty="0">
                <a:solidFill>
                  <a:srgbClr val="002060"/>
                </a:solidFill>
                <a:latin typeface="Arial" panose="020B0604020202020204" pitchFamily="34" charset="0"/>
                <a:cs typeface="Arial" panose="020B0604020202020204" pitchFamily="34" charset="0"/>
              </a:rPr>
              <a:t>V(X</a:t>
            </a:r>
            <a:r>
              <a:rPr lang="en-US" sz="1200" dirty="0">
                <a:solidFill>
                  <a:srgbClr val="002060"/>
                </a:solidFill>
                <a:latin typeface="Arial" panose="020B0604020202020204" pitchFamily="34" charset="0"/>
                <a:cs typeface="Arial" panose="020B0604020202020204" pitchFamily="34" charset="0"/>
              </a:rPr>
              <a:t>B</a:t>
            </a:r>
            <a:r>
              <a:rPr lang="en-US" sz="2000" dirty="0">
                <a:solidFill>
                  <a:srgbClr val="002060"/>
                </a:solidFill>
                <a:latin typeface="Arial" panose="020B0604020202020204" pitchFamily="34" charset="0"/>
                <a:cs typeface="Arial" panose="020B0604020202020204" pitchFamily="34" charset="0"/>
              </a:rPr>
              <a:t>) = 1,802</a:t>
            </a:r>
          </a:p>
        </p:txBody>
      </p:sp>
      <p:sp>
        <p:nvSpPr>
          <p:cNvPr id="11" name="Curved Right Arrow 10"/>
          <p:cNvSpPr/>
          <p:nvPr/>
        </p:nvSpPr>
        <p:spPr>
          <a:xfrm flipH="1">
            <a:off x="8348318" y="3257666"/>
            <a:ext cx="672862" cy="1492185"/>
          </a:xfrm>
          <a:prstGeom prst="curvedRightArrow">
            <a:avLst>
              <a:gd name="adj1" fmla="val 25000"/>
              <a:gd name="adj2" fmla="val 70677"/>
              <a:gd name="adj3" fmla="val 532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Line Callout 1 (Accent Bar) 12"/>
          <p:cNvSpPr/>
          <p:nvPr/>
        </p:nvSpPr>
        <p:spPr>
          <a:xfrm>
            <a:off x="3880022" y="3915855"/>
            <a:ext cx="3140278" cy="477174"/>
          </a:xfrm>
          <a:prstGeom prst="accentCallout1">
            <a:avLst>
              <a:gd name="adj1" fmla="val 47422"/>
              <a:gd name="adj2" fmla="val 100800"/>
              <a:gd name="adj3" fmla="val 123888"/>
              <a:gd name="adj4" fmla="val 147053"/>
            </a:avLst>
          </a:prstGeom>
          <a:solidFill>
            <a:schemeClr val="accent6">
              <a:lumMod val="20000"/>
              <a:lumOff val="80000"/>
            </a:schemeClr>
          </a:solidFill>
          <a:ln>
            <a:solidFill>
              <a:schemeClr val="accent6">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err="1">
                <a:solidFill>
                  <a:srgbClr val="002060"/>
                </a:solidFill>
                <a:latin typeface="Arial" panose="020B0604020202020204" pitchFamily="34" charset="0"/>
                <a:cs typeface="Arial" panose="020B0604020202020204" pitchFamily="34" charset="0"/>
              </a:rPr>
              <a:t>Tỉ</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lệ</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thu</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hồi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vốn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cao</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nhất</a:t>
            </a:r>
            <a:endParaRPr lang="en-US" sz="2000" dirty="0">
              <a:solidFill>
                <a:srgbClr val="002060"/>
              </a:solidFill>
              <a:latin typeface="Arial" panose="020B0604020202020204" pitchFamily="34" charset="0"/>
              <a:cs typeface="Arial" panose="020B0604020202020204" pitchFamily="34" charset="0"/>
            </a:endParaRPr>
          </a:p>
        </p:txBody>
      </p:sp>
      <p:sp>
        <p:nvSpPr>
          <p:cNvPr id="14" name="Line Callout 1 (Accent Bar) 13"/>
          <p:cNvSpPr/>
          <p:nvPr/>
        </p:nvSpPr>
        <p:spPr>
          <a:xfrm>
            <a:off x="2448301" y="4567480"/>
            <a:ext cx="4571999" cy="477174"/>
          </a:xfrm>
          <a:prstGeom prst="accentCallout1">
            <a:avLst>
              <a:gd name="adj1" fmla="val 47422"/>
              <a:gd name="adj2" fmla="val 100800"/>
              <a:gd name="adj3" fmla="val -13506"/>
              <a:gd name="adj4" fmla="val 131065"/>
            </a:avLst>
          </a:prstGeom>
          <a:solidFill>
            <a:schemeClr val="accent6">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rgbClr val="002060"/>
                </a:solidFill>
                <a:latin typeface="Arial" panose="020B0604020202020204" pitchFamily="34" charset="0"/>
                <a:cs typeface="Arial" panose="020B0604020202020204" pitchFamily="34" charset="0"/>
              </a:rPr>
              <a:t>Độ</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rủi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ro</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của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tỉ</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lệ</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thu</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hồi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vốn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thấp</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nhất</a:t>
            </a:r>
            <a:endParaRPr lang="en-US" sz="2000" dirty="0">
              <a:solidFill>
                <a:srgbClr val="002060"/>
              </a:solidFill>
              <a:latin typeface="Arial" panose="020B0604020202020204" pitchFamily="34" charset="0"/>
              <a:cs typeface="Arial" panose="020B0604020202020204" pitchFamily="34" charset="0"/>
            </a:endParaRPr>
          </a:p>
        </p:txBody>
      </p:sp>
      <p:sp>
        <p:nvSpPr>
          <p:cNvPr id="16" name="TextBox 15"/>
          <p:cNvSpPr txBox="1"/>
          <p:nvPr/>
        </p:nvSpPr>
        <p:spPr>
          <a:xfrm>
            <a:off x="2448301" y="3932127"/>
            <a:ext cx="1898990" cy="400110"/>
          </a:xfrm>
          <a:prstGeom prst="rect">
            <a:avLst/>
          </a:prstGeom>
          <a:noFill/>
        </p:spPr>
        <p:txBody>
          <a:bodyPr wrap="square" rtlCol="0">
            <a:spAutoFit/>
          </a:bodyPr>
          <a:lstStyle/>
          <a:p>
            <a:r>
              <a:rPr lang="en-US" sz="2000" dirty="0" err="1">
                <a:solidFill>
                  <a:srgbClr val="FF0000"/>
                </a:solidFill>
                <a:latin typeface="Arial" panose="020B0604020202020204" pitchFamily="34" charset="0"/>
                <a:cs typeface="Arial" panose="020B0604020202020204" pitchFamily="34" charset="0"/>
              </a:rPr>
              <a:t>Dự</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án</a:t>
            </a:r>
            <a:r>
              <a:rPr lang="en-US" sz="2000" dirty="0">
                <a:solidFill>
                  <a:srgbClr val="FF0000"/>
                </a:solidFill>
                <a:latin typeface="Arial" panose="020B0604020202020204" pitchFamily="34" charset="0"/>
                <a:cs typeface="Arial" panose="020B0604020202020204" pitchFamily="34" charset="0"/>
              </a:rPr>
              <a:t> A </a:t>
            </a:r>
            <a:r>
              <a:rPr lang="en-US" sz="2000" dirty="0">
                <a:solidFill>
                  <a:srgbClr val="FF0000"/>
                </a:solidFill>
                <a:latin typeface="Arial" panose="020B0604020202020204" pitchFamily="34" charset="0"/>
                <a:ea typeface="Cambria Math" panose="02040503050406030204" pitchFamily="18" charset="0"/>
                <a:cs typeface="Arial" panose="020B0604020202020204" pitchFamily="34" charset="0"/>
              </a:rPr>
              <a:t>⇐</a:t>
            </a:r>
            <a:endParaRPr lang="en-US" sz="2000" dirty="0">
              <a:solidFill>
                <a:srgbClr val="FF0000"/>
              </a:solidFill>
              <a:latin typeface="Arial" panose="020B0604020202020204" pitchFamily="34" charset="0"/>
              <a:cs typeface="Arial" panose="020B0604020202020204" pitchFamily="34" charset="0"/>
            </a:endParaRPr>
          </a:p>
        </p:txBody>
      </p:sp>
      <p:sp>
        <p:nvSpPr>
          <p:cNvPr id="17" name="TextBox 16"/>
          <p:cNvSpPr txBox="1"/>
          <p:nvPr/>
        </p:nvSpPr>
        <p:spPr>
          <a:xfrm>
            <a:off x="934711" y="4606012"/>
            <a:ext cx="1714634" cy="400110"/>
          </a:xfrm>
          <a:prstGeom prst="rect">
            <a:avLst/>
          </a:prstGeom>
          <a:noFill/>
        </p:spPr>
        <p:txBody>
          <a:bodyPr wrap="square" rtlCol="0">
            <a:spAutoFit/>
          </a:bodyPr>
          <a:lstStyle/>
          <a:p>
            <a:r>
              <a:rPr lang="en-US" sz="2000" dirty="0" err="1">
                <a:solidFill>
                  <a:srgbClr val="FF0000"/>
                </a:solidFill>
                <a:latin typeface="Arial" panose="020B0604020202020204" pitchFamily="34" charset="0"/>
                <a:cs typeface="Arial" panose="020B0604020202020204" pitchFamily="34" charset="0"/>
              </a:rPr>
              <a:t>Dự</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án</a:t>
            </a:r>
            <a:r>
              <a:rPr lang="en-US" sz="2000" dirty="0">
                <a:solidFill>
                  <a:srgbClr val="FF0000"/>
                </a:solidFill>
                <a:latin typeface="Arial" panose="020B0604020202020204" pitchFamily="34" charset="0"/>
                <a:cs typeface="Arial" panose="020B0604020202020204" pitchFamily="34" charset="0"/>
              </a:rPr>
              <a:t> B </a:t>
            </a:r>
            <a:r>
              <a:rPr lang="en-US" sz="2000" dirty="0">
                <a:solidFill>
                  <a:srgbClr val="FF0000"/>
                </a:solidFill>
                <a:latin typeface="Arial" panose="020B0604020202020204" pitchFamily="34" charset="0"/>
                <a:ea typeface="Cambria Math" panose="02040503050406030204" pitchFamily="18" charset="0"/>
                <a:cs typeface="Arial" panose="020B0604020202020204" pitchFamily="34" charset="0"/>
              </a:rPr>
              <a:t>⇐</a:t>
            </a:r>
            <a:endParaRPr lang="en-US" sz="2000" dirty="0">
              <a:solidFill>
                <a:srgbClr val="FF0000"/>
              </a:solidFill>
              <a:latin typeface="Arial" panose="020B0604020202020204" pitchFamily="34" charset="0"/>
              <a:cs typeface="Arial" panose="020B0604020202020204" pitchFamily="34" charset="0"/>
            </a:endParaRPr>
          </a:p>
        </p:txBody>
      </p:sp>
      <p:sp>
        <p:nvSpPr>
          <p:cNvPr id="12" name="Title 1">
            <a:extLst>
              <a:ext uri="{FF2B5EF4-FFF2-40B4-BE49-F238E27FC236}">
                <a16:creationId xmlns:a16="http://schemas.microsoft.com/office/drawing/2014/main" id="{A850AA7B-6440-DB0E-1D2F-E3F6B4981DB1}"/>
              </a:ext>
            </a:extLst>
          </p:cNvPr>
          <p:cNvSpPr txBox="1">
            <a:spLocks/>
          </p:cNvSpPr>
          <p:nvPr/>
        </p:nvSpPr>
        <p:spPr>
          <a:xfrm>
            <a:off x="2596707" y="0"/>
            <a:ext cx="3950585" cy="65490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1pPr>
            <a:lvl2pPr marR="0" lvl="1"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2pPr>
            <a:lvl3pPr marR="0" lvl="2"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3pPr>
            <a:lvl4pPr marR="0" lvl="3"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4pPr>
            <a:lvl5pPr marR="0" lvl="4"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5pPr>
            <a:lvl6pPr marR="0" lvl="5"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6pPr>
            <a:lvl7pPr marR="0" lvl="6"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7pPr>
            <a:lvl8pPr marR="0" lvl="7"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8pPr>
            <a:lvl9pPr marR="0" lvl="8" algn="ctr" rtl="0">
              <a:lnSpc>
                <a:spcPct val="100000"/>
              </a:lnSpc>
              <a:spcBef>
                <a:spcPts val="0"/>
              </a:spcBef>
              <a:spcAft>
                <a:spcPts val="0"/>
              </a:spcAft>
              <a:buClr>
                <a:srgbClr val="FFFFFF"/>
              </a:buClr>
              <a:buSzPts val="2400"/>
              <a:buFont typeface="Varela Round"/>
              <a:buNone/>
              <a:defRPr sz="2400" b="1" i="0" u="none" strike="noStrike" cap="none">
                <a:solidFill>
                  <a:srgbClr val="FFFFFF"/>
                </a:solidFill>
                <a:latin typeface="Varela Round"/>
                <a:ea typeface="Varela Round"/>
                <a:cs typeface="Varela Round"/>
                <a:sym typeface="Varela Round"/>
              </a:defRPr>
            </a:lvl9pPr>
          </a:lstStyle>
          <a:p>
            <a:r>
              <a:rPr lang="en-US" sz="3600" spc="-5">
                <a:solidFill>
                  <a:srgbClr val="002060"/>
                </a:solidFill>
                <a:latin typeface="Arial" panose="020B0604020202020204" pitchFamily="34" charset="0"/>
                <a:cs typeface="Arial" panose="020B0604020202020204" pitchFamily="34" charset="0"/>
              </a:rPr>
              <a:t>Phương sai</a:t>
            </a:r>
            <a:endParaRPr lang="en-US" sz="36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1358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148126" y="862634"/>
                <a:ext cx="8847748" cy="3514500"/>
              </a:xfrm>
            </p:spPr>
            <p:txBody>
              <a:bodyPr/>
              <a:lstStyle/>
              <a:p>
                <a:pPr algn="just">
                  <a:lnSpc>
                    <a:spcPct val="150000"/>
                  </a:lnSpc>
                </a:pPr>
                <a:r>
                  <a:rPr lang="en-US" sz="2400" dirty="0">
                    <a:solidFill>
                      <a:srgbClr val="002060"/>
                    </a:solidFill>
                    <a:latin typeface="Arial" panose="020B0604020202020204" pitchFamily="34" charset="0"/>
                    <a:cs typeface="Arial" panose="020B0604020202020204" pitchFamily="34" charset="0"/>
                  </a:rPr>
                  <a:t>Độ </a:t>
                </a:r>
                <a:r>
                  <a:rPr lang="en-US" sz="2400" dirty="0" err="1">
                    <a:solidFill>
                      <a:srgbClr val="002060"/>
                    </a:solidFill>
                    <a:latin typeface="Arial" panose="020B0604020202020204" pitchFamily="34" charset="0"/>
                    <a:cs typeface="Arial" panose="020B0604020202020204" pitchFamily="34" charset="0"/>
                  </a:rPr>
                  <a:t>lệch</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chuẩn</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của</a:t>
                </a:r>
                <a:r>
                  <a:rPr lang="en-US" sz="2400" dirty="0">
                    <a:solidFill>
                      <a:srgbClr val="002060"/>
                    </a:solidFill>
                    <a:latin typeface="Arial" panose="020B0604020202020204" pitchFamily="34" charset="0"/>
                    <a:cs typeface="Arial" panose="020B0604020202020204" pitchFamily="34" charset="0"/>
                  </a:rPr>
                  <a:t> BNN X, </a:t>
                </a:r>
                <a:r>
                  <a:rPr lang="en-US" sz="2400" dirty="0" err="1">
                    <a:solidFill>
                      <a:srgbClr val="002060"/>
                    </a:solidFill>
                    <a:latin typeface="Arial" panose="020B0604020202020204" pitchFamily="34" charset="0"/>
                    <a:cs typeface="Arial" panose="020B0604020202020204" pitchFamily="34" charset="0"/>
                  </a:rPr>
                  <a:t>kí</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hiệu</a:t>
                </a:r>
                <a:r>
                  <a:rPr lang="en-US" sz="2400" dirty="0">
                    <a:solidFill>
                      <a:srgbClr val="002060"/>
                    </a:solidFill>
                    <a:latin typeface="Arial" panose="020B0604020202020204" pitchFamily="34" charset="0"/>
                    <a:cs typeface="Arial" panose="020B0604020202020204" pitchFamily="34" charset="0"/>
                  </a:rPr>
                  <a:t> </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𝜎</a:t>
                </a:r>
                <a:r>
                  <a:rPr lang="en-US" sz="2400" baseline="-25000" dirty="0">
                    <a:solidFill>
                      <a:srgbClr val="002060"/>
                    </a:solidFill>
                    <a:latin typeface="Arial" panose="020B0604020202020204" pitchFamily="34" charset="0"/>
                    <a:ea typeface="Cambria Math" panose="02040503050406030204" pitchFamily="18" charset="0"/>
                    <a:cs typeface="Arial" panose="020B0604020202020204" pitchFamily="34" charset="0"/>
                  </a:rPr>
                  <a:t>X</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err="1">
                    <a:solidFill>
                      <a:srgbClr val="002060"/>
                    </a:solidFill>
                    <a:latin typeface="Arial" panose="020B0604020202020204" pitchFamily="34" charset="0"/>
                    <a:ea typeface="Cambria Math" panose="02040503050406030204" pitchFamily="18" charset="0"/>
                    <a:cs typeface="Arial" panose="020B0604020202020204" pitchFamily="34" charset="0"/>
                  </a:rPr>
                  <a:t>là</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err="1">
                    <a:solidFill>
                      <a:srgbClr val="002060"/>
                    </a:solidFill>
                    <a:latin typeface="Arial" panose="020B0604020202020204" pitchFamily="34" charset="0"/>
                    <a:ea typeface="Cambria Math" panose="02040503050406030204" pitchFamily="18" charset="0"/>
                    <a:cs typeface="Arial" panose="020B0604020202020204" pitchFamily="34" charset="0"/>
                  </a:rPr>
                  <a:t>căn</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err="1">
                    <a:solidFill>
                      <a:srgbClr val="002060"/>
                    </a:solidFill>
                    <a:latin typeface="Arial" panose="020B0604020202020204" pitchFamily="34" charset="0"/>
                    <a:ea typeface="Cambria Math" panose="02040503050406030204" pitchFamily="18" charset="0"/>
                    <a:cs typeface="Arial" panose="020B0604020202020204" pitchFamily="34" charset="0"/>
                  </a:rPr>
                  <a:t>bậc</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err="1">
                    <a:solidFill>
                      <a:srgbClr val="002060"/>
                    </a:solidFill>
                    <a:latin typeface="Arial" panose="020B0604020202020204" pitchFamily="34" charset="0"/>
                    <a:ea typeface="Cambria Math" panose="02040503050406030204" pitchFamily="18" charset="0"/>
                    <a:cs typeface="Arial" panose="020B0604020202020204" pitchFamily="34" charset="0"/>
                  </a:rPr>
                  <a:t>hai</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err="1">
                    <a:solidFill>
                      <a:srgbClr val="002060"/>
                    </a:solidFill>
                    <a:latin typeface="Arial" panose="020B0604020202020204" pitchFamily="34" charset="0"/>
                    <a:ea typeface="Cambria Math" panose="02040503050406030204" pitchFamily="18" charset="0"/>
                    <a:cs typeface="Arial" panose="020B0604020202020204" pitchFamily="34" charset="0"/>
                  </a:rPr>
                  <a:t>của</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err="1">
                    <a:solidFill>
                      <a:srgbClr val="002060"/>
                    </a:solidFill>
                    <a:latin typeface="Arial" panose="020B0604020202020204" pitchFamily="34" charset="0"/>
                    <a:ea typeface="Cambria Math" panose="02040503050406030204" pitchFamily="18" charset="0"/>
                    <a:cs typeface="Arial" panose="020B0604020202020204" pitchFamily="34" charset="0"/>
                  </a:rPr>
                  <a:t>phương</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err="1">
                    <a:solidFill>
                      <a:srgbClr val="002060"/>
                    </a:solidFill>
                    <a:latin typeface="Arial" panose="020B0604020202020204" pitchFamily="34" charset="0"/>
                    <a:ea typeface="Cambria Math" panose="02040503050406030204" pitchFamily="18" charset="0"/>
                    <a:cs typeface="Arial" panose="020B0604020202020204" pitchFamily="34" charset="0"/>
                  </a:rPr>
                  <a:t>sai</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err="1">
                    <a:solidFill>
                      <a:srgbClr val="002060"/>
                    </a:solidFill>
                    <a:latin typeface="Arial" panose="020B0604020202020204" pitchFamily="34" charset="0"/>
                    <a:ea typeface="Cambria Math" panose="02040503050406030204" pitchFamily="18" charset="0"/>
                    <a:cs typeface="Arial" panose="020B0604020202020204" pitchFamily="34" charset="0"/>
                  </a:rPr>
                  <a:t>tức</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err="1">
                    <a:solidFill>
                      <a:srgbClr val="002060"/>
                    </a:solidFill>
                    <a:latin typeface="Arial" panose="020B0604020202020204" pitchFamily="34" charset="0"/>
                    <a:ea typeface="Cambria Math" panose="02040503050406030204" pitchFamily="18" charset="0"/>
                    <a:cs typeface="Arial" panose="020B0604020202020204" pitchFamily="34" charset="0"/>
                  </a:rPr>
                  <a:t>là</a:t>
                </a:r>
                <a:r>
                  <a:rPr lang="en-US" sz="2400" dirty="0">
                    <a:solidFill>
                      <a:srgbClr val="002060"/>
                    </a:solidFill>
                    <a:latin typeface="Arial" panose="020B0604020202020204" pitchFamily="34" charset="0"/>
                    <a:ea typeface="Cambria Math" panose="02040503050406030204" pitchFamily="18" charset="0"/>
                    <a:cs typeface="Arial" panose="020B0604020202020204" pitchFamily="34" charset="0"/>
                  </a:rPr>
                  <a:t>: </a:t>
                </a:r>
                <a:r>
                  <a:rPr lang="en-US" sz="2400" dirty="0">
                    <a:solidFill>
                      <a:srgbClr val="FF0000"/>
                    </a:solidFill>
                    <a:latin typeface="Arial" panose="020B0604020202020204" pitchFamily="34" charset="0"/>
                    <a:ea typeface="Cambria Math" panose="02040503050406030204" pitchFamily="18" charset="0"/>
                    <a:cs typeface="Arial" panose="020B0604020202020204" pitchFamily="34" charset="0"/>
                  </a:rPr>
                  <a:t>𝜎</a:t>
                </a:r>
                <a:r>
                  <a:rPr lang="en-US" sz="2400" baseline="-25000" dirty="0">
                    <a:solidFill>
                      <a:srgbClr val="FF0000"/>
                    </a:solidFill>
                    <a:latin typeface="Arial" panose="020B0604020202020204" pitchFamily="34" charset="0"/>
                    <a:ea typeface="Cambria Math" panose="02040503050406030204" pitchFamily="18" charset="0"/>
                    <a:cs typeface="Arial" panose="020B0604020202020204" pitchFamily="34" charset="0"/>
                  </a:rPr>
                  <a:t>X</a:t>
                </a:r>
                <a:r>
                  <a:rPr lang="en-US" sz="2400" dirty="0">
                    <a:solidFill>
                      <a:srgbClr val="FF0000"/>
                    </a:solidFill>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r>
                      <a:rPr lang="en-US" sz="2400" b="0" i="1" smtClean="0">
                        <a:solidFill>
                          <a:srgbClr val="FF0000"/>
                        </a:solidFill>
                        <a:latin typeface="Cambria Math" panose="02040503050406030204" pitchFamily="18" charset="0"/>
                        <a:ea typeface="Cambria Math" panose="02040503050406030204" pitchFamily="18" charset="0"/>
                      </a:rPr>
                      <m:t>=</m:t>
                    </m:r>
                    <m:rad>
                      <m:radPr>
                        <m:degHide m:val="on"/>
                        <m:ctrlPr>
                          <a:rPr lang="en-US" sz="2400" b="0" i="1" smtClean="0">
                            <a:solidFill>
                              <a:srgbClr val="FF0000"/>
                            </a:solidFill>
                            <a:latin typeface="Cambria Math" panose="02040503050406030204" pitchFamily="18" charset="0"/>
                            <a:ea typeface="Cambria Math" panose="02040503050406030204" pitchFamily="18" charset="0"/>
                          </a:rPr>
                        </m:ctrlPr>
                      </m:radPr>
                      <m:deg/>
                      <m:e>
                        <m:r>
                          <a:rPr lang="en-US" sz="2400" b="0" i="1" smtClean="0">
                            <a:solidFill>
                              <a:srgbClr val="FF0000"/>
                            </a:solidFill>
                            <a:latin typeface="Cambria Math" panose="02040503050406030204" pitchFamily="18" charset="0"/>
                            <a:ea typeface="Cambria Math" panose="02040503050406030204" pitchFamily="18" charset="0"/>
                          </a:rPr>
                          <m:t>𝑉</m:t>
                        </m:r>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𝑋</m:t>
                        </m:r>
                        <m:r>
                          <a:rPr lang="en-US" sz="2400" b="0" i="1" smtClean="0">
                            <a:solidFill>
                              <a:srgbClr val="FF0000"/>
                            </a:solidFill>
                            <a:latin typeface="Cambria Math" panose="02040503050406030204" pitchFamily="18" charset="0"/>
                            <a:ea typeface="Cambria Math" panose="02040503050406030204" pitchFamily="18" charset="0"/>
                          </a:rPr>
                          <m:t>)</m:t>
                        </m:r>
                      </m:e>
                    </m:rad>
                  </m:oMath>
                </a14:m>
                <a:endParaRPr lang="en-US" sz="2400" dirty="0">
                  <a:solidFill>
                    <a:srgbClr val="002060"/>
                  </a:solidFill>
                  <a:latin typeface="Arial" panose="020B0604020202020204" pitchFamily="34" charset="0"/>
                  <a:cs typeface="Arial" panose="020B0604020202020204" pitchFamily="34" charset="0"/>
                </a:endParaRPr>
              </a:p>
              <a:p>
                <a:pPr algn="just">
                  <a:lnSpc>
                    <a:spcPct val="150000"/>
                  </a:lnSpc>
                </a:pPr>
                <a:r>
                  <a:rPr lang="vi-VN" sz="2400" dirty="0">
                    <a:solidFill>
                      <a:srgbClr val="002060"/>
                    </a:solidFill>
                    <a:latin typeface="Arial" panose="020B0604020202020204" pitchFamily="34" charset="0"/>
                    <a:cs typeface="Arial" panose="020B0604020202020204" pitchFamily="34" charset="0"/>
                  </a:rPr>
                  <a:t>Khi cần đánh giá mức độ phân tán của biến ngẫu nhiên </a:t>
                </a:r>
                <a:r>
                  <a:rPr lang="vi-VN" sz="2400" dirty="0">
                    <a:solidFill>
                      <a:srgbClr val="FF0000"/>
                    </a:solidFill>
                    <a:latin typeface="Arial" panose="020B0604020202020204" pitchFamily="34" charset="0"/>
                    <a:cs typeface="Arial" panose="020B0604020202020204" pitchFamily="34" charset="0"/>
                  </a:rPr>
                  <a:t>theo đơn vị đo</a:t>
                </a:r>
                <a:r>
                  <a:rPr lang="vi-VN" sz="2400" dirty="0">
                    <a:solidFill>
                      <a:srgbClr val="002060"/>
                    </a:solidFill>
                    <a:latin typeface="Arial" panose="020B0604020202020204" pitchFamily="34" charset="0"/>
                    <a:cs typeface="Arial" panose="020B0604020202020204" pitchFamily="34" charset="0"/>
                  </a:rPr>
                  <a:t> của nó người ta dùng độ lệch chuẩn vì độ lệch chuẩn có cùng đơn vị đo với đơn vị đo của biến ngẫu nhiên.</a:t>
                </a:r>
                <a:endParaRPr lang="en-US" sz="2400" dirty="0">
                  <a:solidFill>
                    <a:srgbClr val="002060"/>
                  </a:solidFill>
                  <a:latin typeface="Arial" panose="020B0604020202020204" pitchFamily="34" charset="0"/>
                  <a:cs typeface="Arial" panose="020B0604020202020204" pitchFamily="34"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148126" y="862634"/>
                <a:ext cx="8847748" cy="3514500"/>
              </a:xfrm>
              <a:blipFill>
                <a:blip r:embed="rId2"/>
                <a:stretch>
                  <a:fillRect l="-860" r="-1003"/>
                </a:stretch>
              </a:blipFill>
            </p:spPr>
            <p:txBody>
              <a:bodyPr/>
              <a:lstStyle/>
              <a:p>
                <a:r>
                  <a:rPr lang="en-VN">
                    <a:noFill/>
                  </a:rPr>
                  <a:t> </a:t>
                </a:r>
              </a:p>
            </p:txBody>
          </p:sp>
        </mc:Fallback>
      </mc:AlternateContent>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32</a:t>
            </a:fld>
            <a:endParaRPr lang="en"/>
          </a:p>
        </p:txBody>
      </p:sp>
      <p:sp>
        <p:nvSpPr>
          <p:cNvPr id="5" name="Title 1"/>
          <p:cNvSpPr>
            <a:spLocks noGrp="1"/>
          </p:cNvSpPr>
          <p:nvPr>
            <p:ph type="title"/>
          </p:nvPr>
        </p:nvSpPr>
        <p:spPr>
          <a:xfrm>
            <a:off x="2543603" y="96515"/>
            <a:ext cx="4605493" cy="766119"/>
          </a:xfrm>
        </p:spPr>
        <p:txBody>
          <a:bodyPr/>
          <a:lstStyle/>
          <a:p>
            <a:r>
              <a:rPr lang="en-US" sz="3200" spc="-5" dirty="0" err="1">
                <a:solidFill>
                  <a:srgbClr val="002060"/>
                </a:solidFill>
                <a:latin typeface="Arial" panose="020B0604020202020204" pitchFamily="34" charset="0"/>
                <a:cs typeface="Arial" panose="020B0604020202020204" pitchFamily="34" charset="0"/>
              </a:rPr>
              <a:t>Độ</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lệch</a:t>
            </a:r>
            <a:r>
              <a:rPr lang="en-US" sz="3200" spc="-5" dirty="0">
                <a:solidFill>
                  <a:srgbClr val="002060"/>
                </a:solidFill>
                <a:latin typeface="Arial" panose="020B0604020202020204" pitchFamily="34" charset="0"/>
                <a:cs typeface="Arial" panose="020B0604020202020204" pitchFamily="34" charset="0"/>
              </a:rPr>
              <a:t> </a:t>
            </a:r>
            <a:r>
              <a:rPr lang="en-US" sz="3200" spc="-5" dirty="0" err="1">
                <a:solidFill>
                  <a:srgbClr val="002060"/>
                </a:solidFill>
                <a:latin typeface="Arial" panose="020B0604020202020204" pitchFamily="34" charset="0"/>
                <a:cs typeface="Arial" panose="020B0604020202020204" pitchFamily="34" charset="0"/>
              </a:rPr>
              <a:t>chuẩn</a:t>
            </a:r>
            <a:endParaRPr lang="en-US" sz="3200" dirty="0">
              <a:solidFill>
                <a:srgbClr val="002060"/>
              </a:solidFill>
              <a:latin typeface="Arial" panose="020B0604020202020204" pitchFamily="34" charset="0"/>
              <a:cs typeface="Arial" panose="020B0604020202020204" pitchFamily="34" charset="0"/>
            </a:endParaRPr>
          </a:p>
        </p:txBody>
      </p:sp>
      <p:pic>
        <p:nvPicPr>
          <p:cNvPr id="2" name="Picture 1" descr="Dai Nam [PPT] Template 11.png">
            <a:extLst>
              <a:ext uri="{FF2B5EF4-FFF2-40B4-BE49-F238E27FC236}">
                <a16:creationId xmlns:a16="http://schemas.microsoft.com/office/drawing/2014/main" id="{3D3C6684-E5A6-9FBE-7E78-15DFD380C2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1441171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312" y="840259"/>
            <a:ext cx="8637373" cy="2135656"/>
          </a:xfrm>
        </p:spPr>
        <p:txBody>
          <a:bodyPr/>
          <a:lstStyle/>
          <a:p>
            <a:pPr algn="just">
              <a:lnSpc>
                <a:spcPct val="150000"/>
              </a:lnSpc>
            </a:pPr>
            <a:r>
              <a:rPr lang="vi-VN" sz="2000" b="1" dirty="0">
                <a:solidFill>
                  <a:srgbClr val="002060"/>
                </a:solidFill>
                <a:latin typeface="Arial" panose="020B0604020202020204" pitchFamily="34" charset="0"/>
                <a:ea typeface="Calibri" panose="020F0502020204030204" pitchFamily="34" charset="0"/>
                <a:cs typeface="Arial" panose="020B0604020202020204" pitchFamily="34" charset="0"/>
              </a:rPr>
              <a:t>Mốt là giá trị của biến ngẫu nhiên X</a:t>
            </a:r>
            <a:r>
              <a:rPr lang="vi-VN" sz="2000" dirty="0">
                <a:solidFill>
                  <a:srgbClr val="002060"/>
                </a:solidFill>
                <a:latin typeface="Arial" panose="020B0604020202020204" pitchFamily="34" charset="0"/>
                <a:ea typeface="Calibri" panose="020F0502020204030204" pitchFamily="34" charset="0"/>
                <a:cs typeface="Arial" panose="020B0604020202020204" pitchFamily="34" charset="0"/>
              </a:rPr>
              <a:t>, ký hiệu là </a:t>
            </a:r>
            <a:r>
              <a:rPr lang="vi-VN" sz="2000" dirty="0">
                <a:solidFill>
                  <a:srgbClr val="FF0000"/>
                </a:solidFill>
                <a:latin typeface="Arial" panose="020B0604020202020204" pitchFamily="34" charset="0"/>
                <a:ea typeface="Calibri" panose="020F0502020204030204" pitchFamily="34" charset="0"/>
                <a:cs typeface="Arial" panose="020B0604020202020204" pitchFamily="34" charset="0"/>
              </a:rPr>
              <a:t>mod(X)</a:t>
            </a:r>
            <a:r>
              <a:rPr lang="vi-VN" sz="2000" dirty="0">
                <a:solidFill>
                  <a:srgbClr val="002060"/>
                </a:solidFill>
                <a:latin typeface="Arial" panose="020B0604020202020204" pitchFamily="34" charset="0"/>
                <a:ea typeface="Calibri" panose="020F0502020204030204" pitchFamily="34" charset="0"/>
                <a:cs typeface="Arial" panose="020B0604020202020204" pitchFamily="34" charset="0"/>
              </a:rPr>
              <a:t>, mà tại đó hàm mật độ xác suất </a:t>
            </a:r>
            <a:r>
              <a:rPr lang="vi-VN" sz="2000" dirty="0">
                <a:solidFill>
                  <a:srgbClr val="FF0000"/>
                </a:solidFill>
                <a:latin typeface="Arial" panose="020B0604020202020204" pitchFamily="34" charset="0"/>
                <a:ea typeface="Calibri" panose="020F0502020204030204" pitchFamily="34" charset="0"/>
                <a:cs typeface="Arial" panose="020B0604020202020204" pitchFamily="34" charset="0"/>
              </a:rPr>
              <a:t>f(x) đạt cực đại </a:t>
            </a:r>
            <a:r>
              <a:rPr lang="vi-VN" sz="2000" dirty="0">
                <a:solidFill>
                  <a:srgbClr val="002060"/>
                </a:solidFill>
                <a:latin typeface="Arial" panose="020B0604020202020204" pitchFamily="34" charset="0"/>
                <a:ea typeface="Calibri" panose="020F0502020204030204" pitchFamily="34" charset="0"/>
                <a:cs typeface="Arial" panose="020B0604020202020204" pitchFamily="34" charset="0"/>
              </a:rPr>
              <a:t>(địa phương).</a:t>
            </a:r>
          </a:p>
          <a:p>
            <a:pPr algn="just">
              <a:lnSpc>
                <a:spcPct val="150000"/>
              </a:lnSpc>
            </a:pPr>
            <a:r>
              <a:rPr lang="vi-VN" sz="2000" dirty="0">
                <a:solidFill>
                  <a:srgbClr val="002060"/>
                </a:solidFill>
                <a:latin typeface="Arial" panose="020B0604020202020204" pitchFamily="34" charset="0"/>
                <a:ea typeface="Calibri" panose="020F0502020204030204" pitchFamily="34" charset="0"/>
                <a:cs typeface="Arial" panose="020B0604020202020204" pitchFamily="34" charset="0"/>
              </a:rPr>
              <a:t>Nếu X là biến ngẫu nhiên </a:t>
            </a:r>
            <a:r>
              <a:rPr lang="vi-VN" sz="2000" dirty="0">
                <a:solidFill>
                  <a:srgbClr val="FF0000"/>
                </a:solidFill>
                <a:latin typeface="Arial" panose="020B0604020202020204" pitchFamily="34" charset="0"/>
                <a:ea typeface="Calibri" panose="020F0502020204030204" pitchFamily="34" charset="0"/>
                <a:cs typeface="Arial" panose="020B0604020202020204" pitchFamily="34" charset="0"/>
              </a:rPr>
              <a:t>rời rạc</a:t>
            </a:r>
            <a:r>
              <a:rPr lang="vi-VN" sz="2000" dirty="0">
                <a:solidFill>
                  <a:srgbClr val="002060"/>
                </a:solidFill>
                <a:latin typeface="Arial" panose="020B0604020202020204" pitchFamily="34" charset="0"/>
                <a:ea typeface="Calibri" panose="020F0502020204030204" pitchFamily="34" charset="0"/>
                <a:cs typeface="Arial" panose="020B0604020202020204" pitchFamily="34" charset="0"/>
              </a:rPr>
              <a:t>, thì mod(X) là giá trị tại đó xác suất để </a:t>
            </a:r>
            <a:r>
              <a:rPr lang="vi-VN" sz="2000" dirty="0">
                <a:solidFill>
                  <a:srgbClr val="FF0000"/>
                </a:solidFill>
                <a:latin typeface="Arial" panose="020B0604020202020204" pitchFamily="34" charset="0"/>
                <a:ea typeface="Calibri" panose="020F0502020204030204" pitchFamily="34" charset="0"/>
                <a:cs typeface="Arial" panose="020B0604020202020204" pitchFamily="34" charset="0"/>
              </a:rPr>
              <a:t>X = mod(X) là lớn nhất</a:t>
            </a:r>
            <a:r>
              <a:rPr lang="vi-VN" sz="2000" dirty="0">
                <a:solidFill>
                  <a:srgbClr val="002060"/>
                </a:solidFill>
                <a:latin typeface="Arial" panose="020B0604020202020204" pitchFamily="34" charset="0"/>
                <a:ea typeface="Calibri" panose="020F0502020204030204" pitchFamily="34" charset="0"/>
                <a:cs typeface="Arial" panose="020B0604020202020204" pitchFamily="34" charset="0"/>
              </a:rPr>
              <a:t>.</a:t>
            </a:r>
            <a:endParaRPr lang="en-US" sz="2000" dirty="0">
              <a:solidFill>
                <a:srgbClr val="002060"/>
              </a:solidFill>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33</a:t>
            </a:fld>
            <a:endParaRPr lang="en"/>
          </a:p>
        </p:txBody>
      </p:sp>
      <p:sp>
        <p:nvSpPr>
          <p:cNvPr id="5" name="Title 1"/>
          <p:cNvSpPr>
            <a:spLocks noGrp="1"/>
          </p:cNvSpPr>
          <p:nvPr>
            <p:ph type="title"/>
          </p:nvPr>
        </p:nvSpPr>
        <p:spPr>
          <a:xfrm>
            <a:off x="3183653" y="98854"/>
            <a:ext cx="2776693" cy="741405"/>
          </a:xfrm>
        </p:spPr>
        <p:txBody>
          <a:bodyPr/>
          <a:lstStyle/>
          <a:p>
            <a:r>
              <a:rPr lang="en-US" sz="3600" spc="-5" dirty="0" err="1">
                <a:solidFill>
                  <a:srgbClr val="002060"/>
                </a:solidFill>
                <a:latin typeface="Arial" panose="020B0604020202020204" pitchFamily="34" charset="0"/>
                <a:cs typeface="Arial" panose="020B0604020202020204" pitchFamily="34" charset="0"/>
              </a:rPr>
              <a:t>Mốt</a:t>
            </a:r>
            <a:endParaRPr lang="en-US" sz="3600" dirty="0">
              <a:solidFill>
                <a:srgbClr val="00206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DA4BEB1-6647-303D-1951-DE9BC9FE6449}"/>
              </a:ext>
            </a:extLst>
          </p:cNvPr>
          <p:cNvSpPr txBox="1"/>
          <p:nvPr/>
        </p:nvSpPr>
        <p:spPr>
          <a:xfrm>
            <a:off x="737271" y="3028016"/>
            <a:ext cx="6176590" cy="1631216"/>
          </a:xfrm>
          <a:prstGeom prst="rect">
            <a:avLst/>
          </a:prstGeom>
          <a:noFill/>
        </p:spPr>
        <p:txBody>
          <a:bodyPr wrap="square">
            <a:spAutoFit/>
          </a:bodyPr>
          <a:lstStyle/>
          <a:p>
            <a:r>
              <a:rPr lang="en-VN" sz="2000" b="1" dirty="0">
                <a:solidFill>
                  <a:srgbClr val="002060"/>
                </a:solidFill>
              </a:rPr>
              <a:t>Ví dụ: </a:t>
            </a:r>
            <a:r>
              <a:rPr lang="en-VN" sz="2000" dirty="0">
                <a:solidFill>
                  <a:srgbClr val="002060"/>
                </a:solidFill>
              </a:rPr>
              <a:t>Cho phân phối xác suất của X là</a:t>
            </a:r>
          </a:p>
          <a:p>
            <a:endParaRPr lang="en-VN" sz="2000" dirty="0">
              <a:solidFill>
                <a:srgbClr val="002060"/>
              </a:solidFill>
            </a:endParaRPr>
          </a:p>
          <a:p>
            <a:endParaRPr lang="en-VN" sz="2000" dirty="0">
              <a:solidFill>
                <a:srgbClr val="002060"/>
              </a:solidFill>
            </a:endParaRPr>
          </a:p>
          <a:p>
            <a:endParaRPr lang="en-VN" sz="2000" dirty="0">
              <a:solidFill>
                <a:srgbClr val="002060"/>
              </a:solidFill>
            </a:endParaRPr>
          </a:p>
          <a:p>
            <a:r>
              <a:rPr lang="en-VN" sz="2000" dirty="0">
                <a:solidFill>
                  <a:srgbClr val="002060"/>
                </a:solidFill>
              </a:rPr>
              <a:t>Ta có, mod(X) = 0.</a:t>
            </a:r>
          </a:p>
        </p:txBody>
      </p:sp>
      <p:graphicFrame>
        <p:nvGraphicFramePr>
          <p:cNvPr id="7" name="Table 6">
            <a:extLst>
              <a:ext uri="{FF2B5EF4-FFF2-40B4-BE49-F238E27FC236}">
                <a16:creationId xmlns:a16="http://schemas.microsoft.com/office/drawing/2014/main" id="{B7E5ED76-8D26-474E-4814-2D4FFD8C0991}"/>
              </a:ext>
            </a:extLst>
          </p:cNvPr>
          <p:cNvGraphicFramePr>
            <a:graphicFrameLocks noGrp="1"/>
          </p:cNvGraphicFramePr>
          <p:nvPr>
            <p:extLst>
              <p:ext uri="{D42A27DB-BD31-4B8C-83A1-F6EECF244321}">
                <p14:modId xmlns:p14="http://schemas.microsoft.com/office/powerpoint/2010/main" val="3584823638"/>
              </p:ext>
            </p:extLst>
          </p:nvPr>
        </p:nvGraphicFramePr>
        <p:xfrm>
          <a:off x="3792885" y="3448222"/>
          <a:ext cx="2981016" cy="792480"/>
        </p:xfrm>
        <a:graphic>
          <a:graphicData uri="http://schemas.openxmlformats.org/drawingml/2006/table">
            <a:tbl>
              <a:tblPr firstRow="1" bandRow="1">
                <a:tableStyleId>{238068B5-05EC-40D0-BF61-CF48C4B65AA2}</a:tableStyleId>
              </a:tblPr>
              <a:tblGrid>
                <a:gridCol w="745254">
                  <a:extLst>
                    <a:ext uri="{9D8B030D-6E8A-4147-A177-3AD203B41FA5}">
                      <a16:colId xmlns:a16="http://schemas.microsoft.com/office/drawing/2014/main" val="4029104868"/>
                    </a:ext>
                  </a:extLst>
                </a:gridCol>
                <a:gridCol w="745254">
                  <a:extLst>
                    <a:ext uri="{9D8B030D-6E8A-4147-A177-3AD203B41FA5}">
                      <a16:colId xmlns:a16="http://schemas.microsoft.com/office/drawing/2014/main" val="572893140"/>
                    </a:ext>
                  </a:extLst>
                </a:gridCol>
                <a:gridCol w="745254">
                  <a:extLst>
                    <a:ext uri="{9D8B030D-6E8A-4147-A177-3AD203B41FA5}">
                      <a16:colId xmlns:a16="http://schemas.microsoft.com/office/drawing/2014/main" val="3804806811"/>
                    </a:ext>
                  </a:extLst>
                </a:gridCol>
                <a:gridCol w="745254">
                  <a:extLst>
                    <a:ext uri="{9D8B030D-6E8A-4147-A177-3AD203B41FA5}">
                      <a16:colId xmlns:a16="http://schemas.microsoft.com/office/drawing/2014/main" val="3425568518"/>
                    </a:ext>
                  </a:extLst>
                </a:gridCol>
              </a:tblGrid>
              <a:tr h="269098">
                <a:tc>
                  <a:txBody>
                    <a:bodyPr/>
                    <a:lstStyle/>
                    <a:p>
                      <a:pPr algn="ctr"/>
                      <a:r>
                        <a:rPr lang="en-US" sz="2000" dirty="0">
                          <a:solidFill>
                            <a:srgbClr val="002060"/>
                          </a:solidFill>
                          <a:latin typeface="Arial" panose="020B0604020202020204" pitchFamily="34" charset="0"/>
                          <a:cs typeface="Arial" panose="020B0604020202020204" pitchFamily="34" charset="0"/>
                        </a:rPr>
                        <a:t>X</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3310979"/>
                  </a:ext>
                </a:extLst>
              </a:tr>
              <a:tr h="370840">
                <a:tc>
                  <a:txBody>
                    <a:bodyPr/>
                    <a:lstStyle/>
                    <a:p>
                      <a:pPr algn="ctr"/>
                      <a:r>
                        <a:rPr lang="en-US" sz="2000">
                          <a:solidFill>
                            <a:srgbClr val="002060"/>
                          </a:solidFill>
                          <a:latin typeface="Arial" panose="020B0604020202020204" pitchFamily="34" charset="0"/>
                          <a:cs typeface="Arial" panose="020B0604020202020204" pitchFamily="34" charset="0"/>
                        </a:rPr>
                        <a:t>P</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1/6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2/3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2000" dirty="0">
                          <a:solidFill>
                            <a:srgbClr val="002060"/>
                          </a:solidFill>
                          <a:latin typeface="Arial" panose="020B0604020202020204" pitchFamily="34" charset="0"/>
                          <a:cs typeface="Arial" panose="020B0604020202020204" pitchFamily="34" charset="0"/>
                        </a:rPr>
                        <a:t>1/6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54922488"/>
                  </a:ext>
                </a:extLst>
              </a:tr>
            </a:tbl>
          </a:graphicData>
        </a:graphic>
      </p:graphicFrame>
      <p:pic>
        <p:nvPicPr>
          <p:cNvPr id="8" name="Picture 7" descr="Dai Nam [PPT] Template 11.png">
            <a:extLst>
              <a:ext uri="{FF2B5EF4-FFF2-40B4-BE49-F238E27FC236}">
                <a16:creationId xmlns:a16="http://schemas.microsoft.com/office/drawing/2014/main" id="{DC65DF09-6380-7322-D2B7-C064A1A53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2771014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333632" y="778476"/>
                <a:ext cx="8476735" cy="3657600"/>
              </a:xfrm>
            </p:spPr>
            <p:txBody>
              <a:bodyPr/>
              <a:lstStyle/>
              <a:p>
                <a:pPr algn="just">
                  <a:lnSpc>
                    <a:spcPct val="150000"/>
                  </a:lnSpc>
                </a:pPr>
                <a:r>
                  <a:rPr lang="en-US" sz="2400" b="1" dirty="0">
                    <a:solidFill>
                      <a:srgbClr val="002060"/>
                    </a:solidFill>
                    <a:latin typeface="Arial" panose="020B0604020202020204" pitchFamily="34" charset="0"/>
                    <a:ea typeface="Calibri" panose="020F0502020204030204" pitchFamily="34" charset="0"/>
                    <a:cs typeface="Arial" panose="020B0604020202020204" pitchFamily="34" charset="0"/>
                  </a:rPr>
                  <a:t>Trung </a:t>
                </a:r>
                <a:r>
                  <a:rPr lang="en-US" sz="2400" b="1" dirty="0" err="1">
                    <a:solidFill>
                      <a:srgbClr val="002060"/>
                    </a:solidFill>
                    <a:latin typeface="Arial" panose="020B0604020202020204" pitchFamily="34" charset="0"/>
                    <a:ea typeface="Calibri" panose="020F0502020204030204" pitchFamily="34" charset="0"/>
                    <a:cs typeface="Arial" panose="020B0604020202020204" pitchFamily="34" charset="0"/>
                  </a:rPr>
                  <a:t>vị</a:t>
                </a:r>
                <a:r>
                  <a:rPr lang="en-US" sz="2400" b="1"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của</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biến</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ngẫu</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nhiên</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X </a:t>
                </a:r>
                <a:r>
                  <a:rPr lang="en-US" sz="2400" b="1" dirty="0" err="1">
                    <a:solidFill>
                      <a:srgbClr val="002060"/>
                    </a:solidFill>
                    <a:latin typeface="Arial" panose="020B0604020202020204" pitchFamily="34" charset="0"/>
                    <a:ea typeface="Calibri" panose="020F0502020204030204" pitchFamily="34" charset="0"/>
                    <a:cs typeface="Arial" panose="020B0604020202020204" pitchFamily="34" charset="0"/>
                  </a:rPr>
                  <a:t>là</a:t>
                </a:r>
                <a:r>
                  <a:rPr lang="en-US" sz="2400" b="1"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b="1" dirty="0" err="1">
                    <a:solidFill>
                      <a:srgbClr val="002060"/>
                    </a:solidFill>
                    <a:latin typeface="Arial" panose="020B0604020202020204" pitchFamily="34" charset="0"/>
                    <a:ea typeface="Calibri" panose="020F0502020204030204" pitchFamily="34" charset="0"/>
                    <a:cs typeface="Arial" panose="020B0604020202020204" pitchFamily="34" charset="0"/>
                  </a:rPr>
                  <a:t>giá</a:t>
                </a:r>
                <a:r>
                  <a:rPr lang="en-US" sz="2400" b="1"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b="1" dirty="0" err="1">
                    <a:solidFill>
                      <a:srgbClr val="002060"/>
                    </a:solidFill>
                    <a:latin typeface="Arial" panose="020B0604020202020204" pitchFamily="34" charset="0"/>
                    <a:ea typeface="Calibri" panose="020F0502020204030204" pitchFamily="34" charset="0"/>
                    <a:cs typeface="Arial" panose="020B0604020202020204" pitchFamily="34" charset="0"/>
                  </a:rPr>
                  <a:t>trị</a:t>
                </a:r>
                <a:r>
                  <a:rPr lang="en-US" sz="2400" b="1"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b="1" dirty="0" err="1">
                    <a:solidFill>
                      <a:srgbClr val="002060"/>
                    </a:solidFill>
                    <a:latin typeface="Arial" panose="020B0604020202020204" pitchFamily="34" charset="0"/>
                    <a:ea typeface="Calibri" panose="020F0502020204030204" pitchFamily="34" charset="0"/>
                    <a:cs typeface="Arial" panose="020B0604020202020204" pitchFamily="34" charset="0"/>
                  </a:rPr>
                  <a:t>của</a:t>
                </a:r>
                <a:r>
                  <a:rPr lang="en-US" sz="2400" b="1"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b="1" dirty="0" err="1">
                    <a:solidFill>
                      <a:srgbClr val="002060"/>
                    </a:solidFill>
                    <a:latin typeface="Arial" panose="020B0604020202020204" pitchFamily="34" charset="0"/>
                    <a:ea typeface="Calibri" panose="020F0502020204030204" pitchFamily="34" charset="0"/>
                    <a:cs typeface="Arial" panose="020B0604020202020204" pitchFamily="34" charset="0"/>
                  </a:rPr>
                  <a:t>biến</a:t>
                </a:r>
                <a:r>
                  <a:rPr lang="en-US" sz="2400" b="1"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b="1" dirty="0" err="1">
                    <a:solidFill>
                      <a:srgbClr val="002060"/>
                    </a:solidFill>
                    <a:latin typeface="Arial" panose="020B0604020202020204" pitchFamily="34" charset="0"/>
                    <a:ea typeface="Calibri" panose="020F0502020204030204" pitchFamily="34" charset="0"/>
                    <a:cs typeface="Arial" panose="020B0604020202020204" pitchFamily="34" charset="0"/>
                  </a:rPr>
                  <a:t>ngẫu</a:t>
                </a:r>
                <a:r>
                  <a:rPr lang="en-US" sz="2400" b="1"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b="1" dirty="0" err="1">
                    <a:solidFill>
                      <a:srgbClr val="002060"/>
                    </a:solidFill>
                    <a:latin typeface="Arial" panose="020B0604020202020204" pitchFamily="34" charset="0"/>
                    <a:ea typeface="Calibri" panose="020F0502020204030204" pitchFamily="34" charset="0"/>
                    <a:cs typeface="Arial" panose="020B0604020202020204" pitchFamily="34" charset="0"/>
                  </a:rPr>
                  <a:t>nhiên</a:t>
                </a:r>
                <a:r>
                  <a:rPr lang="en-US" sz="2400" b="1" dirty="0">
                    <a:solidFill>
                      <a:srgbClr val="002060"/>
                    </a:solidFill>
                    <a:latin typeface="Arial" panose="020B0604020202020204" pitchFamily="34" charset="0"/>
                    <a:ea typeface="Calibri" panose="020F0502020204030204" pitchFamily="34" charset="0"/>
                    <a:cs typeface="Arial" panose="020B0604020202020204" pitchFamily="34" charset="0"/>
                  </a:rPr>
                  <a:t> X</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ký</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hiệu</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là</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a:solidFill>
                      <a:srgbClr val="FF0000"/>
                    </a:solidFill>
                    <a:latin typeface="Arial" panose="020B0604020202020204" pitchFamily="34" charset="0"/>
                    <a:ea typeface="Calibri" panose="020F0502020204030204" pitchFamily="34" charset="0"/>
                    <a:cs typeface="Arial" panose="020B0604020202020204" pitchFamily="34" charset="0"/>
                  </a:rPr>
                  <a:t>med(X)</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mà</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tại</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đó</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F(x) = 1/2,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nghĩa</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là</a:t>
                </a:r>
                <a:endParaRPr lang="en-US" sz="2400" dirty="0">
                  <a:solidFill>
                    <a:srgbClr val="002060"/>
                  </a:solidFill>
                  <a:latin typeface="Arial" panose="020B0604020202020204" pitchFamily="34" charset="0"/>
                  <a:ea typeface="Calibri" panose="020F0502020204030204" pitchFamily="34" charset="0"/>
                  <a:cs typeface="Arial" panose="020B0604020202020204" pitchFamily="34" charset="0"/>
                </a:endParaRPr>
              </a:p>
              <a:p>
                <a:pPr marL="50800" indent="0" algn="ctr">
                  <a:lnSpc>
                    <a:spcPct val="150000"/>
                  </a:lnSpc>
                  <a:buNone/>
                </a:pPr>
                <a14:m>
                  <m:oMathPara xmlns:m="http://schemas.openxmlformats.org/officeDocument/2006/math">
                    <m:oMathParaPr>
                      <m:jc m:val="centerGroup"/>
                    </m:oMathParaPr>
                    <m:oMath xmlns:m="http://schemas.openxmlformats.org/officeDocument/2006/math">
                      <m:r>
                        <a:rPr lang="en-US" sz="2400" i="1" dirty="0" smtClean="0">
                          <a:solidFill>
                            <a:srgbClr val="FF0000"/>
                          </a:solidFill>
                          <a:latin typeface="Cambria Math" panose="02040503050406030204" pitchFamily="18" charset="0"/>
                          <a:ea typeface="Calibri" panose="020F0502020204030204" pitchFamily="34" charset="0"/>
                          <a:cs typeface="Arial" panose="020B0604020202020204" pitchFamily="34" charset="0"/>
                        </a:rPr>
                        <m:t>𝐹</m:t>
                      </m:r>
                      <m:r>
                        <a:rPr lang="en-US" sz="2400" i="1" dirty="0" smtClean="0">
                          <a:solidFill>
                            <a:srgbClr val="FF0000"/>
                          </a:solidFill>
                          <a:latin typeface="Cambria Math" panose="02040503050406030204" pitchFamily="18" charset="0"/>
                          <a:ea typeface="Calibri" panose="020F0502020204030204" pitchFamily="34" charset="0"/>
                          <a:cs typeface="Arial" panose="020B0604020202020204" pitchFamily="34" charset="0"/>
                        </a:rPr>
                        <m:t>(</m:t>
                      </m:r>
                      <m:r>
                        <a:rPr lang="en-US" sz="2400" i="1" dirty="0" smtClean="0">
                          <a:solidFill>
                            <a:srgbClr val="FF0000"/>
                          </a:solidFill>
                          <a:latin typeface="Cambria Math" panose="02040503050406030204" pitchFamily="18" charset="0"/>
                          <a:ea typeface="Calibri" panose="020F0502020204030204" pitchFamily="34" charset="0"/>
                          <a:cs typeface="Arial" panose="020B0604020202020204" pitchFamily="34" charset="0"/>
                        </a:rPr>
                        <m:t>𝑚𝑒𝑑</m:t>
                      </m:r>
                      <m:r>
                        <a:rPr lang="en-US" sz="2400" i="1" dirty="0" smtClean="0">
                          <a:solidFill>
                            <a:srgbClr val="FF0000"/>
                          </a:solidFill>
                          <a:latin typeface="Cambria Math" panose="02040503050406030204" pitchFamily="18" charset="0"/>
                          <a:ea typeface="Calibri" panose="020F0502020204030204" pitchFamily="34" charset="0"/>
                          <a:cs typeface="Arial" panose="020B0604020202020204" pitchFamily="34" charset="0"/>
                        </a:rPr>
                        <m:t>(</m:t>
                      </m:r>
                      <m:r>
                        <a:rPr lang="en-US" sz="2400" i="1" dirty="0" smtClean="0">
                          <a:solidFill>
                            <a:srgbClr val="FF0000"/>
                          </a:solidFill>
                          <a:latin typeface="Cambria Math" panose="02040503050406030204" pitchFamily="18" charset="0"/>
                          <a:ea typeface="Calibri" panose="020F0502020204030204" pitchFamily="34" charset="0"/>
                          <a:cs typeface="Arial" panose="020B0604020202020204" pitchFamily="34" charset="0"/>
                        </a:rPr>
                        <m:t>𝑋</m:t>
                      </m:r>
                      <m:r>
                        <a:rPr lang="en-US" sz="2400" i="1" dirty="0" smtClean="0">
                          <a:solidFill>
                            <a:srgbClr val="FF0000"/>
                          </a:solidFill>
                          <a:latin typeface="Cambria Math" panose="02040503050406030204" pitchFamily="18" charset="0"/>
                          <a:ea typeface="Calibri" panose="020F0502020204030204" pitchFamily="34" charset="0"/>
                          <a:cs typeface="Arial" panose="020B0604020202020204" pitchFamily="34" charset="0"/>
                        </a:rPr>
                        <m:t>)) = </m:t>
                      </m:r>
                      <m:f>
                        <m:fPr>
                          <m:ctrlPr>
                            <a:rPr lang="en-US" sz="2400" i="1" dirty="0" smtClean="0">
                              <a:solidFill>
                                <a:srgbClr val="FF0000"/>
                              </a:solidFill>
                              <a:latin typeface="Cambria Math" panose="02040503050406030204" pitchFamily="18" charset="0"/>
                              <a:cs typeface="Arial" panose="020B0604020202020204" pitchFamily="34" charset="0"/>
                            </a:rPr>
                          </m:ctrlPr>
                        </m:fPr>
                        <m:num>
                          <m:r>
                            <a:rPr lang="vi-VN" sz="2400" b="0" i="1" dirty="0" smtClean="0">
                              <a:solidFill>
                                <a:srgbClr val="FF0000"/>
                              </a:solidFill>
                              <a:latin typeface="Cambria Math" panose="02040503050406030204" pitchFamily="18" charset="0"/>
                              <a:cs typeface="Arial" panose="020B0604020202020204" pitchFamily="34" charset="0"/>
                            </a:rPr>
                            <m:t>1</m:t>
                          </m:r>
                        </m:num>
                        <m:den>
                          <m:r>
                            <a:rPr lang="vi-VN" sz="2400" b="0" i="1" dirty="0" smtClean="0">
                              <a:solidFill>
                                <a:srgbClr val="FF0000"/>
                              </a:solidFill>
                              <a:latin typeface="Cambria Math" panose="02040503050406030204" pitchFamily="18" charset="0"/>
                              <a:cs typeface="Arial" panose="020B0604020202020204" pitchFamily="34" charset="0"/>
                            </a:rPr>
                            <m:t>2</m:t>
                          </m:r>
                        </m:den>
                      </m:f>
                    </m:oMath>
                  </m:oMathPara>
                </a14:m>
                <a:endParaRPr lang="en-US" sz="2400" dirty="0">
                  <a:solidFill>
                    <a:srgbClr val="FF0000"/>
                  </a:solidFill>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Phân</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vị</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mức</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l-GR" sz="2400" dirty="0">
                    <a:solidFill>
                      <a:srgbClr val="002060"/>
                    </a:solidFill>
                    <a:latin typeface="Arial" panose="020B0604020202020204" pitchFamily="34" charset="0"/>
                    <a:ea typeface="Calibri" panose="020F0502020204030204" pitchFamily="34" charset="0"/>
                    <a:cs typeface="Arial" panose="020B0604020202020204" pitchFamily="34" charset="0"/>
                  </a:rPr>
                  <a:t>α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là</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giá</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trị</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của</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biến</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ngẫu</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nhiên</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X,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ký</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hiệu</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là</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x</a:t>
                </a:r>
                <a:r>
                  <a:rPr lang="el-GR" sz="2400" baseline="-25000" dirty="0">
                    <a:solidFill>
                      <a:srgbClr val="002060"/>
                    </a:solidFill>
                    <a:latin typeface="Arial" panose="020B0604020202020204" pitchFamily="34" charset="0"/>
                    <a:ea typeface="Calibri" panose="020F0502020204030204" pitchFamily="34" charset="0"/>
                    <a:cs typeface="Arial" panose="020B0604020202020204" pitchFamily="34" charset="0"/>
                  </a:rPr>
                  <a:t>α</a:t>
                </a:r>
                <a:r>
                  <a:rPr lang="el-GR"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sao</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400" dirty="0" err="1">
                    <a:solidFill>
                      <a:srgbClr val="002060"/>
                    </a:solidFill>
                    <a:latin typeface="Arial" panose="020B0604020202020204" pitchFamily="34" charset="0"/>
                    <a:ea typeface="Calibri" panose="020F0502020204030204" pitchFamily="34" charset="0"/>
                    <a:cs typeface="Arial" panose="020B0604020202020204" pitchFamily="34" charset="0"/>
                  </a:rPr>
                  <a:t>cho</a:t>
                </a:r>
                <a:r>
                  <a:rPr lang="en-US" sz="2400" dirty="0">
                    <a:solidFill>
                      <a:srgbClr val="002060"/>
                    </a:solidFill>
                    <a:latin typeface="Arial" panose="020B0604020202020204" pitchFamily="34" charset="0"/>
                    <a:ea typeface="Calibri" panose="020F0502020204030204" pitchFamily="34" charset="0"/>
                    <a:cs typeface="Arial" panose="020B0604020202020204" pitchFamily="34" charset="0"/>
                  </a:rPr>
                  <a:t> F(x</a:t>
                </a:r>
                <a:r>
                  <a:rPr lang="el-GR" sz="2400" baseline="-25000" dirty="0">
                    <a:solidFill>
                      <a:srgbClr val="002060"/>
                    </a:solidFill>
                    <a:latin typeface="Arial" panose="020B0604020202020204" pitchFamily="34" charset="0"/>
                    <a:ea typeface="Calibri" panose="020F0502020204030204" pitchFamily="34" charset="0"/>
                    <a:cs typeface="Arial" panose="020B0604020202020204" pitchFamily="34" charset="0"/>
                  </a:rPr>
                  <a:t>α</a:t>
                </a:r>
                <a:r>
                  <a:rPr lang="el-GR" sz="2400" dirty="0">
                    <a:solidFill>
                      <a:srgbClr val="002060"/>
                    </a:solidFill>
                    <a:latin typeface="Arial" panose="020B0604020202020204" pitchFamily="34" charset="0"/>
                    <a:ea typeface="Calibri" panose="020F0502020204030204" pitchFamily="34" charset="0"/>
                    <a:cs typeface="Arial" panose="020B0604020202020204" pitchFamily="34" charset="0"/>
                  </a:rPr>
                  <a:t>) = α.</a:t>
                </a:r>
                <a:endParaRPr lang="en-US" sz="2400" dirty="0">
                  <a:solidFill>
                    <a:srgbClr val="002060"/>
                  </a:solidFill>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333632" y="778476"/>
                <a:ext cx="8476735" cy="3657600"/>
              </a:xfrm>
              <a:blipFill>
                <a:blip r:embed="rId2"/>
                <a:stretch>
                  <a:fillRect l="-898" r="-1198"/>
                </a:stretch>
              </a:blipFill>
            </p:spPr>
            <p:txBody>
              <a:bodyPr/>
              <a:lstStyle/>
              <a:p>
                <a:r>
                  <a:rPr lang="en-VN">
                    <a:noFill/>
                  </a:rPr>
                  <a:t> </a:t>
                </a:r>
              </a:p>
            </p:txBody>
          </p:sp>
        </mc:Fallback>
      </mc:AlternateContent>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34</a:t>
            </a:fld>
            <a:endParaRPr lang="en"/>
          </a:p>
        </p:txBody>
      </p:sp>
      <p:sp>
        <p:nvSpPr>
          <p:cNvPr id="5" name="Title 1"/>
          <p:cNvSpPr>
            <a:spLocks noGrp="1"/>
          </p:cNvSpPr>
          <p:nvPr>
            <p:ph type="title"/>
          </p:nvPr>
        </p:nvSpPr>
        <p:spPr>
          <a:xfrm>
            <a:off x="2994625" y="97038"/>
            <a:ext cx="3703450" cy="669081"/>
          </a:xfrm>
        </p:spPr>
        <p:txBody>
          <a:bodyPr/>
          <a:lstStyle/>
          <a:p>
            <a:r>
              <a:rPr lang="en-US" sz="3600" spc="-5" dirty="0" err="1">
                <a:solidFill>
                  <a:srgbClr val="002060"/>
                </a:solidFill>
                <a:latin typeface="Arial" panose="020B0604020202020204" pitchFamily="34" charset="0"/>
                <a:cs typeface="Arial" panose="020B0604020202020204" pitchFamily="34" charset="0"/>
              </a:rPr>
              <a:t>Trung</a:t>
            </a:r>
            <a:r>
              <a:rPr lang="en-US" sz="3600" spc="-5" dirty="0">
                <a:solidFill>
                  <a:srgbClr val="002060"/>
                </a:solidFill>
                <a:latin typeface="Arial" panose="020B0604020202020204" pitchFamily="34" charset="0"/>
                <a:cs typeface="Arial" panose="020B0604020202020204" pitchFamily="34" charset="0"/>
              </a:rPr>
              <a:t> </a:t>
            </a:r>
            <a:r>
              <a:rPr lang="en-US" sz="3600" spc="-5" dirty="0" err="1">
                <a:solidFill>
                  <a:srgbClr val="002060"/>
                </a:solidFill>
                <a:latin typeface="Arial" panose="020B0604020202020204" pitchFamily="34" charset="0"/>
                <a:cs typeface="Arial" panose="020B0604020202020204" pitchFamily="34" charset="0"/>
              </a:rPr>
              <a:t>vị</a:t>
            </a:r>
            <a:endParaRPr lang="en-US" sz="3600" dirty="0">
              <a:solidFill>
                <a:srgbClr val="002060"/>
              </a:solidFill>
              <a:latin typeface="Arial" panose="020B0604020202020204" pitchFamily="34" charset="0"/>
              <a:cs typeface="Arial" panose="020B0604020202020204" pitchFamily="34" charset="0"/>
            </a:endParaRPr>
          </a:p>
        </p:txBody>
      </p:sp>
      <p:pic>
        <p:nvPicPr>
          <p:cNvPr id="2" name="Picture 1" descr="Dai Nam [PPT] Template 11.png">
            <a:extLst>
              <a:ext uri="{FF2B5EF4-FFF2-40B4-BE49-F238E27FC236}">
                <a16:creationId xmlns:a16="http://schemas.microsoft.com/office/drawing/2014/main" id="{0603EDCE-7377-1C39-95E2-252EEBC666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20195024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35</a:t>
            </a:fld>
            <a:endParaRPr lang="en"/>
          </a:p>
        </p:txBody>
      </p:sp>
      <p:sp>
        <p:nvSpPr>
          <p:cNvPr id="5" name="Title 1"/>
          <p:cNvSpPr>
            <a:spLocks noGrp="1"/>
          </p:cNvSpPr>
          <p:nvPr>
            <p:ph type="title"/>
          </p:nvPr>
        </p:nvSpPr>
        <p:spPr>
          <a:xfrm>
            <a:off x="2994625" y="97038"/>
            <a:ext cx="3703450" cy="669081"/>
          </a:xfrm>
        </p:spPr>
        <p:txBody>
          <a:bodyPr/>
          <a:lstStyle/>
          <a:p>
            <a:r>
              <a:rPr lang="en-US" sz="3600" spc="-5" dirty="0" err="1">
                <a:solidFill>
                  <a:srgbClr val="002060"/>
                </a:solidFill>
                <a:latin typeface="Arial" panose="020B0604020202020204" pitchFamily="34" charset="0"/>
                <a:cs typeface="Arial" panose="020B0604020202020204" pitchFamily="34" charset="0"/>
              </a:rPr>
              <a:t>Trung</a:t>
            </a:r>
            <a:r>
              <a:rPr lang="en-US" sz="3600" spc="-5" dirty="0">
                <a:solidFill>
                  <a:srgbClr val="002060"/>
                </a:solidFill>
                <a:latin typeface="Arial" panose="020B0604020202020204" pitchFamily="34" charset="0"/>
                <a:cs typeface="Arial" panose="020B0604020202020204" pitchFamily="34" charset="0"/>
              </a:rPr>
              <a:t> </a:t>
            </a:r>
            <a:r>
              <a:rPr lang="en-US" sz="3600" spc="-5" dirty="0" err="1">
                <a:solidFill>
                  <a:srgbClr val="002060"/>
                </a:solidFill>
                <a:latin typeface="Arial" panose="020B0604020202020204" pitchFamily="34" charset="0"/>
                <a:cs typeface="Arial" panose="020B0604020202020204" pitchFamily="34" charset="0"/>
              </a:rPr>
              <a:t>vị</a:t>
            </a:r>
            <a:endParaRPr lang="en-US" sz="3600" dirty="0">
              <a:solidFill>
                <a:srgbClr val="002060"/>
              </a:solidFill>
              <a:latin typeface="Arial" panose="020B0604020202020204" pitchFamily="34" charset="0"/>
              <a:cs typeface="Arial" panose="020B0604020202020204" pitchFamily="34" charset="0"/>
            </a:endParaRPr>
          </a:p>
        </p:txBody>
      </p:sp>
      <p:pic>
        <p:nvPicPr>
          <p:cNvPr id="2" name="Picture 1" descr="Dai Nam [PPT] Template 11.png">
            <a:extLst>
              <a:ext uri="{FF2B5EF4-FFF2-40B4-BE49-F238E27FC236}">
                <a16:creationId xmlns:a16="http://schemas.microsoft.com/office/drawing/2014/main" id="{0603EDCE-7377-1C39-95E2-252EEBC666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graphicFrame>
        <p:nvGraphicFramePr>
          <p:cNvPr id="3" name="Table 2">
            <a:extLst>
              <a:ext uri="{FF2B5EF4-FFF2-40B4-BE49-F238E27FC236}">
                <a16:creationId xmlns:a16="http://schemas.microsoft.com/office/drawing/2014/main" id="{FDAA4673-E099-DC9D-516C-F2110C5A84B3}"/>
              </a:ext>
            </a:extLst>
          </p:cNvPr>
          <p:cNvGraphicFramePr>
            <a:graphicFrameLocks noGrp="1"/>
          </p:cNvGraphicFramePr>
          <p:nvPr>
            <p:extLst>
              <p:ext uri="{D42A27DB-BD31-4B8C-83A1-F6EECF244321}">
                <p14:modId xmlns:p14="http://schemas.microsoft.com/office/powerpoint/2010/main" val="513316984"/>
              </p:ext>
            </p:extLst>
          </p:nvPr>
        </p:nvGraphicFramePr>
        <p:xfrm>
          <a:off x="1142712" y="1229938"/>
          <a:ext cx="7407276" cy="609600"/>
        </p:xfrm>
        <a:graphic>
          <a:graphicData uri="http://schemas.openxmlformats.org/drawingml/2006/table">
            <a:tbl>
              <a:tblPr>
                <a:tableStyleId>{35758FB7-9AC5-4552-8A53-C91805E547FA}</a:tableStyleId>
              </a:tblPr>
              <a:tblGrid>
                <a:gridCol w="1234546">
                  <a:extLst>
                    <a:ext uri="{9D8B030D-6E8A-4147-A177-3AD203B41FA5}">
                      <a16:colId xmlns:a16="http://schemas.microsoft.com/office/drawing/2014/main" val="1670477132"/>
                    </a:ext>
                  </a:extLst>
                </a:gridCol>
                <a:gridCol w="1234546">
                  <a:extLst>
                    <a:ext uri="{9D8B030D-6E8A-4147-A177-3AD203B41FA5}">
                      <a16:colId xmlns:a16="http://schemas.microsoft.com/office/drawing/2014/main" val="1921509939"/>
                    </a:ext>
                  </a:extLst>
                </a:gridCol>
                <a:gridCol w="1234546">
                  <a:extLst>
                    <a:ext uri="{9D8B030D-6E8A-4147-A177-3AD203B41FA5}">
                      <a16:colId xmlns:a16="http://schemas.microsoft.com/office/drawing/2014/main" val="882603657"/>
                    </a:ext>
                  </a:extLst>
                </a:gridCol>
                <a:gridCol w="1234546">
                  <a:extLst>
                    <a:ext uri="{9D8B030D-6E8A-4147-A177-3AD203B41FA5}">
                      <a16:colId xmlns:a16="http://schemas.microsoft.com/office/drawing/2014/main" val="1682122557"/>
                    </a:ext>
                  </a:extLst>
                </a:gridCol>
                <a:gridCol w="1234546">
                  <a:extLst>
                    <a:ext uri="{9D8B030D-6E8A-4147-A177-3AD203B41FA5}">
                      <a16:colId xmlns:a16="http://schemas.microsoft.com/office/drawing/2014/main" val="1278161311"/>
                    </a:ext>
                  </a:extLst>
                </a:gridCol>
                <a:gridCol w="1234546">
                  <a:extLst>
                    <a:ext uri="{9D8B030D-6E8A-4147-A177-3AD203B41FA5}">
                      <a16:colId xmlns:a16="http://schemas.microsoft.com/office/drawing/2014/main" val="2252615944"/>
                    </a:ext>
                  </a:extLst>
                </a:gridCol>
              </a:tblGrid>
              <a:tr h="304800">
                <a:tc>
                  <a:txBody>
                    <a:bodyPr/>
                    <a:lstStyle/>
                    <a:p>
                      <a:pPr>
                        <a:buNone/>
                      </a:pPr>
                      <a:r>
                        <a:rPr lang="en-US" sz="1400"/>
                        <a:t>x</a:t>
                      </a:r>
                    </a:p>
                  </a:txBody>
                  <a:tcPr anchor="ctr"/>
                </a:tc>
                <a:tc>
                  <a:txBody>
                    <a:bodyPr/>
                    <a:lstStyle/>
                    <a:p>
                      <a:pPr>
                        <a:buNone/>
                      </a:pPr>
                      <a:r>
                        <a:rPr lang="en-VN" sz="1400"/>
                        <a:t>1</a:t>
                      </a:r>
                    </a:p>
                  </a:txBody>
                  <a:tcPr anchor="ctr"/>
                </a:tc>
                <a:tc>
                  <a:txBody>
                    <a:bodyPr/>
                    <a:lstStyle/>
                    <a:p>
                      <a:pPr>
                        <a:buNone/>
                      </a:pPr>
                      <a:r>
                        <a:rPr lang="en-VN" sz="1400"/>
                        <a:t>2</a:t>
                      </a:r>
                    </a:p>
                  </a:txBody>
                  <a:tcPr anchor="ctr"/>
                </a:tc>
                <a:tc>
                  <a:txBody>
                    <a:bodyPr/>
                    <a:lstStyle/>
                    <a:p>
                      <a:pPr>
                        <a:buNone/>
                      </a:pPr>
                      <a:r>
                        <a:rPr lang="en-VN" sz="1400"/>
                        <a:t>3</a:t>
                      </a:r>
                    </a:p>
                  </a:txBody>
                  <a:tcPr anchor="ctr"/>
                </a:tc>
                <a:tc>
                  <a:txBody>
                    <a:bodyPr/>
                    <a:lstStyle/>
                    <a:p>
                      <a:pPr>
                        <a:buNone/>
                      </a:pPr>
                      <a:r>
                        <a:rPr lang="en-VN" sz="1400"/>
                        <a:t>4</a:t>
                      </a:r>
                    </a:p>
                  </a:txBody>
                  <a:tcPr anchor="ctr"/>
                </a:tc>
                <a:tc>
                  <a:txBody>
                    <a:bodyPr/>
                    <a:lstStyle/>
                    <a:p>
                      <a:pPr>
                        <a:buNone/>
                      </a:pPr>
                      <a:r>
                        <a:rPr lang="en-VN" sz="1400"/>
                        <a:t>5</a:t>
                      </a:r>
                    </a:p>
                  </a:txBody>
                  <a:tcPr anchor="ctr"/>
                </a:tc>
                <a:extLst>
                  <a:ext uri="{0D108BD9-81ED-4DB2-BD59-A6C34878D82A}">
                    <a16:rowId xmlns:a16="http://schemas.microsoft.com/office/drawing/2014/main" val="1740765437"/>
                  </a:ext>
                </a:extLst>
              </a:tr>
              <a:tr h="304800">
                <a:tc>
                  <a:txBody>
                    <a:bodyPr/>
                    <a:lstStyle/>
                    <a:p>
                      <a:pPr>
                        <a:buNone/>
                      </a:pPr>
                      <a:r>
                        <a:rPr lang="en-US" sz="1400"/>
                        <a:t>P(X=x)</a:t>
                      </a:r>
                    </a:p>
                  </a:txBody>
                  <a:tcPr anchor="ctr"/>
                </a:tc>
                <a:tc>
                  <a:txBody>
                    <a:bodyPr/>
                    <a:lstStyle/>
                    <a:p>
                      <a:pPr>
                        <a:buNone/>
                      </a:pPr>
                      <a:r>
                        <a:rPr lang="en-VN" sz="1400"/>
                        <a:t>0.1</a:t>
                      </a:r>
                    </a:p>
                  </a:txBody>
                  <a:tcPr anchor="ctr"/>
                </a:tc>
                <a:tc>
                  <a:txBody>
                    <a:bodyPr/>
                    <a:lstStyle/>
                    <a:p>
                      <a:pPr>
                        <a:buNone/>
                      </a:pPr>
                      <a:r>
                        <a:rPr lang="en-VN" sz="1400"/>
                        <a:t>0.2</a:t>
                      </a:r>
                    </a:p>
                  </a:txBody>
                  <a:tcPr anchor="ctr"/>
                </a:tc>
                <a:tc>
                  <a:txBody>
                    <a:bodyPr/>
                    <a:lstStyle/>
                    <a:p>
                      <a:pPr>
                        <a:buNone/>
                      </a:pPr>
                      <a:r>
                        <a:rPr lang="en-VN" sz="1400"/>
                        <a:t>0.4</a:t>
                      </a:r>
                    </a:p>
                  </a:txBody>
                  <a:tcPr anchor="ctr"/>
                </a:tc>
                <a:tc>
                  <a:txBody>
                    <a:bodyPr/>
                    <a:lstStyle/>
                    <a:p>
                      <a:pPr>
                        <a:buNone/>
                      </a:pPr>
                      <a:r>
                        <a:rPr lang="en-VN" sz="1400"/>
                        <a:t>0.2</a:t>
                      </a:r>
                    </a:p>
                  </a:txBody>
                  <a:tcPr anchor="ctr"/>
                </a:tc>
                <a:tc>
                  <a:txBody>
                    <a:bodyPr/>
                    <a:lstStyle/>
                    <a:p>
                      <a:pPr>
                        <a:buNone/>
                      </a:pPr>
                      <a:r>
                        <a:rPr lang="en-VN" sz="1400" dirty="0"/>
                        <a:t>0.1</a:t>
                      </a:r>
                    </a:p>
                  </a:txBody>
                  <a:tcPr anchor="ctr"/>
                </a:tc>
                <a:extLst>
                  <a:ext uri="{0D108BD9-81ED-4DB2-BD59-A6C34878D82A}">
                    <a16:rowId xmlns:a16="http://schemas.microsoft.com/office/drawing/2014/main" val="620256018"/>
                  </a:ext>
                </a:extLst>
              </a:tr>
            </a:tbl>
          </a:graphicData>
        </a:graphic>
      </p:graphicFrame>
      <p:sp>
        <p:nvSpPr>
          <p:cNvPr id="6" name="Rectangle 1">
            <a:extLst>
              <a:ext uri="{FF2B5EF4-FFF2-40B4-BE49-F238E27FC236}">
                <a16:creationId xmlns:a16="http://schemas.microsoft.com/office/drawing/2014/main" id="{7B8A563A-0C1D-DD41-9D12-372A2B6BE734}"/>
              </a:ext>
            </a:extLst>
          </p:cNvPr>
          <p:cNvSpPr>
            <a:spLocks noChangeArrowheads="1"/>
          </p:cNvSpPr>
          <p:nvPr/>
        </p:nvSpPr>
        <p:spPr bwMode="auto">
          <a:xfrm>
            <a:off x="1142712" y="28467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VN" altLang="en-VN" sz="1800" b="0" i="0" u="none" strike="noStrike" cap="none" normalizeH="0" baseline="0" dirty="0">
                <a:ln>
                  <a:noFill/>
                </a:ln>
                <a:solidFill>
                  <a:schemeClr val="tx1"/>
                </a:solidFill>
                <a:effectLst/>
                <a:latin typeface="Arial" panose="020B0604020202020204" pitchFamily="34" charset="0"/>
              </a:rPr>
              <a:t>Cho biến ngẫu nhiên rời rạc X có bảng phân phối:</a:t>
            </a:r>
          </a:p>
          <a:p>
            <a:pPr marL="0" marR="0" lvl="0" indent="0" algn="l" defTabSz="914400" rtl="0" eaLnBrk="0" fontAlgn="base" latinLnBrk="0" hangingPunct="0">
              <a:lnSpc>
                <a:spcPct val="100000"/>
              </a:lnSpc>
              <a:spcBef>
                <a:spcPct val="0"/>
              </a:spcBef>
              <a:spcAft>
                <a:spcPct val="0"/>
              </a:spcAft>
              <a:buClrTx/>
              <a:buSzTx/>
              <a:buFontTx/>
              <a:buNone/>
              <a:tabLst/>
            </a:pPr>
            <a:r>
              <a:rPr kumimoji="0" lang="en-VN" altLang="en-VN" sz="1800" b="0" i="0" u="none" strike="noStrike" cap="none" normalizeH="0" baseline="0" dirty="0">
                <a:ln>
                  <a:noFill/>
                </a:ln>
                <a:solidFill>
                  <a:schemeClr val="tx1"/>
                </a:solidFill>
                <a:effectLst/>
                <a:latin typeface="Arial" panose="020B0604020202020204" pitchFamily="34" charset="0"/>
              </a:rPr>
              <a:t>Hãy xác định:</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VN" altLang="en-VN" sz="1800" b="0" i="0" u="none" strike="noStrike" cap="none" normalizeH="0" baseline="0" dirty="0">
                <a:ln>
                  <a:noFill/>
                </a:ln>
                <a:solidFill>
                  <a:schemeClr val="tx1"/>
                </a:solidFill>
                <a:effectLst/>
                <a:latin typeface="Arial" panose="020B0604020202020204" pitchFamily="34" charset="0"/>
              </a:rPr>
              <a:t>Mốt của X</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VN" altLang="en-VN" sz="1800" b="0" i="0" u="none" strike="noStrike" cap="none" normalizeH="0" baseline="0" dirty="0">
                <a:ln>
                  <a:noFill/>
                </a:ln>
                <a:solidFill>
                  <a:schemeClr val="tx1"/>
                </a:solidFill>
                <a:effectLst/>
                <a:latin typeface="Arial" panose="020B0604020202020204" pitchFamily="34" charset="0"/>
              </a:rPr>
              <a:t>Trung vị của X</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VN" altLang="en-VN" sz="1800" b="0" i="0" u="none" strike="noStrike" cap="none" normalizeH="0" baseline="0" dirty="0">
                <a:ln>
                  <a:noFill/>
                </a:ln>
                <a:solidFill>
                  <a:schemeClr val="tx1"/>
                </a:solidFill>
                <a:effectLst/>
                <a:latin typeface="Arial" panose="020B0604020202020204" pitchFamily="34" charset="0"/>
              </a:rPr>
              <a:t>Phân vị mức 0.25 (P25)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68087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698A0F8-4E07-1C9C-E37A-B384AC7FE05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C9826E-EB94-AEC5-FB90-3FD05302A06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36</a:t>
            </a:fld>
            <a:endParaRPr lang="en"/>
          </a:p>
        </p:txBody>
      </p:sp>
      <p:sp>
        <p:nvSpPr>
          <p:cNvPr id="5" name="Title 1">
            <a:extLst>
              <a:ext uri="{FF2B5EF4-FFF2-40B4-BE49-F238E27FC236}">
                <a16:creationId xmlns:a16="http://schemas.microsoft.com/office/drawing/2014/main" id="{ADDF2135-B347-63AE-3001-0A0746DEFBF7}"/>
              </a:ext>
            </a:extLst>
          </p:cNvPr>
          <p:cNvSpPr>
            <a:spLocks noGrp="1"/>
          </p:cNvSpPr>
          <p:nvPr>
            <p:ph type="title"/>
          </p:nvPr>
        </p:nvSpPr>
        <p:spPr>
          <a:xfrm>
            <a:off x="2994625" y="97038"/>
            <a:ext cx="3703450" cy="669081"/>
          </a:xfrm>
        </p:spPr>
        <p:txBody>
          <a:bodyPr/>
          <a:lstStyle/>
          <a:p>
            <a:r>
              <a:rPr lang="en-US" sz="3600" spc="-5" dirty="0" err="1">
                <a:solidFill>
                  <a:srgbClr val="002060"/>
                </a:solidFill>
                <a:latin typeface="Arial" panose="020B0604020202020204" pitchFamily="34" charset="0"/>
                <a:cs typeface="Arial" panose="020B0604020202020204" pitchFamily="34" charset="0"/>
              </a:rPr>
              <a:t>Trung</a:t>
            </a:r>
            <a:r>
              <a:rPr lang="en-US" sz="3600" spc="-5" dirty="0">
                <a:solidFill>
                  <a:srgbClr val="002060"/>
                </a:solidFill>
                <a:latin typeface="Arial" panose="020B0604020202020204" pitchFamily="34" charset="0"/>
                <a:cs typeface="Arial" panose="020B0604020202020204" pitchFamily="34" charset="0"/>
              </a:rPr>
              <a:t> </a:t>
            </a:r>
            <a:r>
              <a:rPr lang="en-US" sz="3600" spc="-5" dirty="0" err="1">
                <a:solidFill>
                  <a:srgbClr val="002060"/>
                </a:solidFill>
                <a:latin typeface="Arial" panose="020B0604020202020204" pitchFamily="34" charset="0"/>
                <a:cs typeface="Arial" panose="020B0604020202020204" pitchFamily="34" charset="0"/>
              </a:rPr>
              <a:t>vị</a:t>
            </a:r>
            <a:endParaRPr lang="en-US" sz="3600" dirty="0">
              <a:solidFill>
                <a:srgbClr val="002060"/>
              </a:solidFill>
              <a:latin typeface="Arial" panose="020B0604020202020204" pitchFamily="34" charset="0"/>
              <a:cs typeface="Arial" panose="020B0604020202020204" pitchFamily="34" charset="0"/>
            </a:endParaRPr>
          </a:p>
        </p:txBody>
      </p:sp>
      <p:pic>
        <p:nvPicPr>
          <p:cNvPr id="2" name="Picture 1" descr="Dai Nam [PPT] Template 11.png">
            <a:extLst>
              <a:ext uri="{FF2B5EF4-FFF2-40B4-BE49-F238E27FC236}">
                <a16:creationId xmlns:a16="http://schemas.microsoft.com/office/drawing/2014/main" id="{A9998109-6183-C238-BBF2-538C297C0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55A1F78-12B5-1ADB-2CC2-EB34C9D2FDAB}"/>
                  </a:ext>
                </a:extLst>
              </p:cNvPr>
              <p:cNvSpPr txBox="1"/>
              <p:nvPr/>
            </p:nvSpPr>
            <p:spPr>
              <a:xfrm>
                <a:off x="976185" y="889438"/>
                <a:ext cx="8007177" cy="3737177"/>
              </a:xfrm>
              <a:prstGeom prst="rect">
                <a:avLst/>
              </a:prstGeom>
              <a:noFill/>
            </p:spPr>
            <p:txBody>
              <a:bodyPr wrap="square">
                <a:spAutoFit/>
              </a:bodyPr>
              <a:lstStyle/>
              <a:p>
                <a:pPr>
                  <a:lnSpc>
                    <a:spcPct val="150000"/>
                  </a:lnSpc>
                </a:pPr>
                <a:r>
                  <a:rPr lang="en-VN" sz="2400" b="1" dirty="0">
                    <a:solidFill>
                      <a:srgbClr val="002060"/>
                    </a:solidFill>
                  </a:rPr>
                  <a:t>Ví dụ </a:t>
                </a:r>
              </a:p>
              <a:p>
                <a:pPr>
                  <a:lnSpc>
                    <a:spcPct val="150000"/>
                  </a:lnSpc>
                </a:pPr>
                <a:r>
                  <a:rPr lang="en-VN" sz="2400" dirty="0">
                    <a:solidFill>
                      <a:srgbClr val="002060"/>
                    </a:solidFill>
                  </a:rPr>
                  <a:t>Cho hàm mật độ xác suất của biến ngẫu nhiên liên tục X</a:t>
                </a:r>
              </a:p>
              <a:p>
                <a:pPr>
                  <a:lnSpc>
                    <a:spcPct val="150000"/>
                  </a:lnSpc>
                </a:pPr>
                <a14:m>
                  <m:oMathPara xmlns:m="http://schemas.openxmlformats.org/officeDocument/2006/math">
                    <m:oMathParaPr>
                      <m:jc m:val="centerGroup"/>
                    </m:oMathParaPr>
                    <m:oMath xmlns:m="http://schemas.openxmlformats.org/officeDocument/2006/math">
                      <m:r>
                        <m:rPr>
                          <m:sty m:val="p"/>
                        </m:rPr>
                        <a:rPr lang="en-US" sz="2400" i="1" dirty="0" smtClean="0">
                          <a:solidFill>
                            <a:srgbClr val="002060"/>
                          </a:solidFill>
                          <a:latin typeface="Cambria Math" panose="02040503050406030204" pitchFamily="18" charset="0"/>
                        </a:rPr>
                        <m:t>f</m:t>
                      </m:r>
                      <m:d>
                        <m:dPr>
                          <m:ctrlPr>
                            <a:rPr lang="vi-VN" sz="2400" b="0" i="1" dirty="0" smtClean="0">
                              <a:solidFill>
                                <a:srgbClr val="002060"/>
                              </a:solidFill>
                              <a:latin typeface="Cambria Math" panose="02040503050406030204" pitchFamily="18" charset="0"/>
                            </a:rPr>
                          </m:ctrlPr>
                        </m:dPr>
                        <m:e>
                          <m:r>
                            <m:rPr>
                              <m:sty m:val="p"/>
                            </m:rPr>
                            <a:rPr lang="vi-VN" sz="2400" i="1" dirty="0">
                              <a:solidFill>
                                <a:srgbClr val="002060"/>
                              </a:solidFill>
                              <a:latin typeface="Cambria Math" panose="02040503050406030204" pitchFamily="18" charset="0"/>
                            </a:rPr>
                            <m:t>x</m:t>
                          </m:r>
                        </m:e>
                      </m:d>
                      <m:r>
                        <a:rPr lang="vi-VN" sz="2400" b="0" i="1" dirty="0" smtClean="0">
                          <a:solidFill>
                            <a:srgbClr val="002060"/>
                          </a:solidFill>
                          <a:latin typeface="Cambria Math" panose="02040503050406030204" pitchFamily="18" charset="0"/>
                        </a:rPr>
                        <m:t>=</m:t>
                      </m:r>
                      <m:d>
                        <m:dPr>
                          <m:begChr m:val="{"/>
                          <m:endChr m:val=""/>
                          <m:ctrlPr>
                            <a:rPr lang="vi-VN" sz="2400" b="0" i="1" dirty="0" smtClean="0">
                              <a:solidFill>
                                <a:srgbClr val="002060"/>
                              </a:solidFill>
                              <a:latin typeface="Cambria Math" panose="02040503050406030204" pitchFamily="18" charset="0"/>
                            </a:rPr>
                          </m:ctrlPr>
                        </m:dPr>
                        <m:e>
                          <m:eqArr>
                            <m:eqArrPr>
                              <m:ctrlPr>
                                <a:rPr lang="vi-VN" sz="2400" b="0" i="1" dirty="0" smtClean="0">
                                  <a:solidFill>
                                    <a:srgbClr val="002060"/>
                                  </a:solidFill>
                                  <a:latin typeface="Cambria Math" panose="02040503050406030204" pitchFamily="18" charset="0"/>
                                </a:rPr>
                              </m:ctrlPr>
                            </m:eqArrPr>
                            <m:e>
                              <m:f>
                                <m:fPr>
                                  <m:ctrlPr>
                                    <a:rPr lang="vi-VN" sz="2400" b="0" i="1" dirty="0" smtClean="0">
                                      <a:solidFill>
                                        <a:srgbClr val="002060"/>
                                      </a:solidFill>
                                      <a:latin typeface="Cambria Math" panose="02040503050406030204" pitchFamily="18" charset="0"/>
                                    </a:rPr>
                                  </m:ctrlPr>
                                </m:fPr>
                                <m:num>
                                  <m:r>
                                    <a:rPr lang="vi-VN" sz="2400" b="0" i="1" dirty="0" smtClean="0">
                                      <a:solidFill>
                                        <a:srgbClr val="002060"/>
                                      </a:solidFill>
                                      <a:latin typeface="Cambria Math" panose="02040503050406030204" pitchFamily="18" charset="0"/>
                                    </a:rPr>
                                    <m:t>3</m:t>
                                  </m:r>
                                </m:num>
                                <m:den>
                                  <m:r>
                                    <a:rPr lang="vi-VN" sz="2400" b="0" i="1" dirty="0" smtClean="0">
                                      <a:solidFill>
                                        <a:srgbClr val="002060"/>
                                      </a:solidFill>
                                      <a:latin typeface="Cambria Math" panose="02040503050406030204" pitchFamily="18" charset="0"/>
                                    </a:rPr>
                                    <m:t>4</m:t>
                                  </m:r>
                                </m:den>
                              </m:f>
                              <m:r>
                                <m:rPr>
                                  <m:sty m:val="p"/>
                                </m:rPr>
                                <a:rPr lang="vi-VN" sz="2400" i="1" dirty="0">
                                  <a:solidFill>
                                    <a:srgbClr val="002060"/>
                                  </a:solidFill>
                                  <a:latin typeface="Cambria Math" panose="02040503050406030204" pitchFamily="18" charset="0"/>
                                </a:rPr>
                                <m:t>x</m:t>
                              </m:r>
                              <m:d>
                                <m:dPr>
                                  <m:ctrlPr>
                                    <a:rPr lang="vi-VN" sz="2400" b="0" i="1" dirty="0" smtClean="0">
                                      <a:solidFill>
                                        <a:srgbClr val="002060"/>
                                      </a:solidFill>
                                      <a:latin typeface="Cambria Math" panose="02040503050406030204" pitchFamily="18" charset="0"/>
                                    </a:rPr>
                                  </m:ctrlPr>
                                </m:dPr>
                                <m:e>
                                  <m:r>
                                    <a:rPr lang="vi-VN" sz="2400" b="0" i="1" dirty="0" smtClean="0">
                                      <a:solidFill>
                                        <a:srgbClr val="002060"/>
                                      </a:solidFill>
                                      <a:latin typeface="Cambria Math" panose="02040503050406030204" pitchFamily="18" charset="0"/>
                                    </a:rPr>
                                    <m:t>2−</m:t>
                                  </m:r>
                                  <m:r>
                                    <m:rPr>
                                      <m:sty m:val="p"/>
                                    </m:rPr>
                                    <a:rPr lang="vi-VN" sz="2400" i="1" dirty="0">
                                      <a:solidFill>
                                        <a:srgbClr val="002060"/>
                                      </a:solidFill>
                                      <a:latin typeface="Cambria Math" panose="02040503050406030204" pitchFamily="18" charset="0"/>
                                    </a:rPr>
                                    <m:t>x</m:t>
                                  </m:r>
                                </m:e>
                              </m:d>
                              <m:r>
                                <a:rPr lang="vi-VN" sz="2400" b="0" i="1" dirty="0" smtClean="0">
                                  <a:solidFill>
                                    <a:srgbClr val="002060"/>
                                  </a:solidFill>
                                  <a:latin typeface="Cambria Math" panose="02040503050406030204" pitchFamily="18" charset="0"/>
                                </a:rPr>
                                <m:t>, 0</m:t>
                              </m:r>
                              <m:r>
                                <a:rPr lang="vi-VN" sz="2400" b="0" i="1" dirty="0" smtClean="0">
                                  <a:solidFill>
                                    <a:srgbClr val="002060"/>
                                  </a:solidFill>
                                  <a:latin typeface="Cambria Math" panose="02040503050406030204" pitchFamily="18" charset="0"/>
                                  <a:ea typeface="Cambria Math" panose="02040503050406030204" pitchFamily="18" charset="0"/>
                                </a:rPr>
                                <m:t>≤</m:t>
                              </m:r>
                              <m:r>
                                <m:rPr>
                                  <m:sty m:val="p"/>
                                </m:rPr>
                                <a:rPr lang="vi-VN" sz="2400" i="1" dirty="0">
                                  <a:solidFill>
                                    <a:srgbClr val="002060"/>
                                  </a:solidFill>
                                  <a:latin typeface="Cambria Math" panose="02040503050406030204" pitchFamily="18" charset="0"/>
                                  <a:ea typeface="Cambria Math" panose="02040503050406030204" pitchFamily="18" charset="0"/>
                                </a:rPr>
                                <m:t>x</m:t>
                              </m:r>
                              <m:r>
                                <a:rPr lang="vi-VN" sz="2400" i="1" dirty="0" smtClean="0">
                                  <a:solidFill>
                                    <a:srgbClr val="002060"/>
                                  </a:solidFill>
                                  <a:latin typeface="Cambria Math" panose="02040503050406030204" pitchFamily="18" charset="0"/>
                                  <a:ea typeface="Cambria Math" panose="02040503050406030204" pitchFamily="18" charset="0"/>
                                </a:rPr>
                                <m:t>≤</m:t>
                              </m:r>
                              <m:r>
                                <a:rPr lang="vi-VN" sz="2400" b="0" i="1" dirty="0" smtClean="0">
                                  <a:solidFill>
                                    <a:srgbClr val="002060"/>
                                  </a:solidFill>
                                  <a:latin typeface="Cambria Math" panose="02040503050406030204" pitchFamily="18" charset="0"/>
                                  <a:ea typeface="Cambria Math" panose="02040503050406030204" pitchFamily="18" charset="0"/>
                                </a:rPr>
                                <m:t>2</m:t>
                              </m:r>
                            </m:e>
                            <m:e>
                              <m:r>
                                <a:rPr lang="vi-VN" sz="2400" b="0" i="1" dirty="0" smtClean="0">
                                  <a:solidFill>
                                    <a:srgbClr val="002060"/>
                                  </a:solidFill>
                                  <a:latin typeface="Cambria Math" panose="02040503050406030204" pitchFamily="18" charset="0"/>
                                </a:rPr>
                                <m:t>0, </m:t>
                              </m:r>
                              <m:r>
                                <m:rPr>
                                  <m:sty m:val="p"/>
                                </m:rPr>
                                <a:rPr lang="vi-VN" sz="2400" i="1" dirty="0">
                                  <a:solidFill>
                                    <a:srgbClr val="002060"/>
                                  </a:solidFill>
                                  <a:latin typeface="Cambria Math" panose="02040503050406030204" pitchFamily="18" charset="0"/>
                                </a:rPr>
                                <m:t>n</m:t>
                              </m:r>
                              <m:r>
                                <a:rPr lang="vi-VN" sz="2400" i="1" dirty="0">
                                  <a:solidFill>
                                    <a:srgbClr val="002060"/>
                                  </a:solidFill>
                                  <a:latin typeface="Cambria Math" panose="02040503050406030204" pitchFamily="18" charset="0"/>
                                </a:rPr>
                                <m:t>ế</m:t>
                              </m:r>
                              <m:r>
                                <m:rPr>
                                  <m:sty m:val="p"/>
                                </m:rPr>
                                <a:rPr lang="vi-VN" sz="2400" i="1" dirty="0">
                                  <a:solidFill>
                                    <a:srgbClr val="002060"/>
                                  </a:solidFill>
                                  <a:latin typeface="Cambria Math" panose="02040503050406030204" pitchFamily="18" charset="0"/>
                                </a:rPr>
                                <m:t>u</m:t>
                              </m:r>
                              <m:r>
                                <a:rPr lang="vi-VN" sz="2400" b="0" i="1" dirty="0" smtClean="0">
                                  <a:solidFill>
                                    <a:srgbClr val="002060"/>
                                  </a:solidFill>
                                  <a:latin typeface="Cambria Math" panose="02040503050406030204" pitchFamily="18" charset="0"/>
                                </a:rPr>
                                <m:t> </m:t>
                              </m:r>
                              <m:r>
                                <m:rPr>
                                  <m:sty m:val="p"/>
                                </m:rPr>
                                <a:rPr lang="vi-VN" sz="2400" i="1" dirty="0">
                                  <a:solidFill>
                                    <a:srgbClr val="002060"/>
                                  </a:solidFill>
                                  <a:latin typeface="Cambria Math" panose="02040503050406030204" pitchFamily="18" charset="0"/>
                                </a:rPr>
                                <m:t>tr</m:t>
                              </m:r>
                              <m:r>
                                <a:rPr lang="vi-VN" sz="2400" i="1" dirty="0">
                                  <a:solidFill>
                                    <a:srgbClr val="002060"/>
                                  </a:solidFill>
                                  <a:latin typeface="Cambria Math" panose="02040503050406030204" pitchFamily="18" charset="0"/>
                                </a:rPr>
                                <m:t>á</m:t>
                              </m:r>
                              <m:r>
                                <m:rPr>
                                  <m:sty m:val="p"/>
                                </m:rPr>
                                <a:rPr lang="vi-VN" sz="2400" i="1" dirty="0">
                                  <a:solidFill>
                                    <a:srgbClr val="002060"/>
                                  </a:solidFill>
                                  <a:latin typeface="Cambria Math" panose="02040503050406030204" pitchFamily="18" charset="0"/>
                                </a:rPr>
                                <m:t>i</m:t>
                              </m:r>
                              <m:r>
                                <a:rPr lang="vi-VN" sz="2400" b="0" i="1" dirty="0" smtClean="0">
                                  <a:solidFill>
                                    <a:srgbClr val="002060"/>
                                  </a:solidFill>
                                  <a:latin typeface="Cambria Math" panose="02040503050406030204" pitchFamily="18" charset="0"/>
                                </a:rPr>
                                <m:t> </m:t>
                              </m:r>
                              <m:r>
                                <m:rPr>
                                  <m:sty m:val="p"/>
                                </m:rPr>
                                <a:rPr lang="vi-VN" sz="2400" i="1" dirty="0">
                                  <a:solidFill>
                                    <a:srgbClr val="002060"/>
                                  </a:solidFill>
                                  <a:latin typeface="Cambria Math" panose="02040503050406030204" pitchFamily="18" charset="0"/>
                                </a:rPr>
                                <m:t>l</m:t>
                              </m:r>
                              <m:r>
                                <a:rPr lang="vi-VN" sz="2400" i="1" dirty="0">
                                  <a:solidFill>
                                    <a:srgbClr val="002060"/>
                                  </a:solidFill>
                                  <a:latin typeface="Cambria Math" panose="02040503050406030204" pitchFamily="18" charset="0"/>
                                </a:rPr>
                                <m:t>ạ</m:t>
                              </m:r>
                              <m:r>
                                <m:rPr>
                                  <m:sty m:val="p"/>
                                </m:rPr>
                                <a:rPr lang="vi-VN" sz="2400" i="1" dirty="0">
                                  <a:solidFill>
                                    <a:srgbClr val="002060"/>
                                  </a:solidFill>
                                  <a:latin typeface="Cambria Math" panose="02040503050406030204" pitchFamily="18" charset="0"/>
                                </a:rPr>
                                <m:t>i</m:t>
                              </m:r>
                            </m:e>
                          </m:eqArr>
                        </m:e>
                      </m:d>
                    </m:oMath>
                  </m:oMathPara>
                </a14:m>
                <a:endParaRPr lang="en-VN" sz="2400" dirty="0">
                  <a:solidFill>
                    <a:srgbClr val="002060"/>
                  </a:solidFill>
                </a:endParaRPr>
              </a:p>
              <a:p>
                <a:pPr>
                  <a:lnSpc>
                    <a:spcPct val="150000"/>
                  </a:lnSpc>
                </a:pPr>
                <a:r>
                  <a:rPr lang="en-VN" sz="2400" dirty="0">
                    <a:solidFill>
                      <a:srgbClr val="002060"/>
                    </a:solidFill>
                  </a:rPr>
                  <a:t>Tìm mod(X) và med(X).</a:t>
                </a:r>
              </a:p>
            </p:txBody>
          </p:sp>
        </mc:Choice>
        <mc:Fallback xmlns="">
          <p:sp>
            <p:nvSpPr>
              <p:cNvPr id="9" name="TextBox 8">
                <a:extLst>
                  <a:ext uri="{FF2B5EF4-FFF2-40B4-BE49-F238E27FC236}">
                    <a16:creationId xmlns:a16="http://schemas.microsoft.com/office/drawing/2014/main" id="{355A1F78-12B5-1ADB-2CC2-EB34C9D2FDAB}"/>
                  </a:ext>
                </a:extLst>
              </p:cNvPr>
              <p:cNvSpPr txBox="1">
                <a:spLocks noRot="1" noChangeAspect="1" noMove="1" noResize="1" noEditPoints="1" noAdjustHandles="1" noChangeArrowheads="1" noChangeShapeType="1" noTextEdit="1"/>
              </p:cNvSpPr>
              <p:nvPr/>
            </p:nvSpPr>
            <p:spPr>
              <a:xfrm>
                <a:off x="976185" y="889438"/>
                <a:ext cx="8007177" cy="3737177"/>
              </a:xfrm>
              <a:prstGeom prst="rect">
                <a:avLst/>
              </a:prstGeom>
              <a:blipFill>
                <a:blip r:embed="rId3"/>
                <a:stretch>
                  <a:fillRect l="-1108" t="-37288" b="-107797"/>
                </a:stretch>
              </a:blipFill>
            </p:spPr>
            <p:txBody>
              <a:bodyPr/>
              <a:lstStyle/>
              <a:p>
                <a:r>
                  <a:rPr lang="en-VN">
                    <a:noFill/>
                  </a:rPr>
                  <a:t> </a:t>
                </a:r>
              </a:p>
            </p:txBody>
          </p:sp>
        </mc:Fallback>
      </mc:AlternateContent>
    </p:spTree>
    <p:extLst>
      <p:ext uri="{BB962C8B-B14F-4D97-AF65-F5344CB8AC3E}">
        <p14:creationId xmlns:p14="http://schemas.microsoft.com/office/powerpoint/2010/main" val="3886165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37</a:t>
            </a:fld>
            <a:endParaRPr lang="en"/>
          </a:p>
        </p:txBody>
      </p:sp>
      <p:pic>
        <p:nvPicPr>
          <p:cNvPr id="7" name="Picture 6" descr="A black and white math equation&#10;&#10;Description automatically generated">
            <a:extLst>
              <a:ext uri="{FF2B5EF4-FFF2-40B4-BE49-F238E27FC236}">
                <a16:creationId xmlns:a16="http://schemas.microsoft.com/office/drawing/2014/main" id="{A9A13444-AC2B-18F8-926B-7B01657A8C16}"/>
              </a:ext>
            </a:extLst>
          </p:cNvPr>
          <p:cNvPicPr>
            <a:picLocks noChangeAspect="1"/>
          </p:cNvPicPr>
          <p:nvPr/>
        </p:nvPicPr>
        <p:blipFill>
          <a:blip r:embed="rId2"/>
          <a:stretch>
            <a:fillRect/>
          </a:stretch>
        </p:blipFill>
        <p:spPr>
          <a:xfrm>
            <a:off x="1350246" y="276483"/>
            <a:ext cx="6794500" cy="1600200"/>
          </a:xfrm>
          <a:prstGeom prst="rect">
            <a:avLst/>
          </a:prstGeom>
        </p:spPr>
      </p:pic>
      <p:pic>
        <p:nvPicPr>
          <p:cNvPr id="13" name="Picture 12" descr="A math problem with numbers and equations&#10;&#10;Description automatically generated with medium confidence">
            <a:extLst>
              <a:ext uri="{FF2B5EF4-FFF2-40B4-BE49-F238E27FC236}">
                <a16:creationId xmlns:a16="http://schemas.microsoft.com/office/drawing/2014/main" id="{E22E45E3-73D8-CE9B-66EB-B3EDEA4F9942}"/>
              </a:ext>
            </a:extLst>
          </p:cNvPr>
          <p:cNvPicPr>
            <a:picLocks noChangeAspect="1"/>
          </p:cNvPicPr>
          <p:nvPr/>
        </p:nvPicPr>
        <p:blipFill>
          <a:blip r:embed="rId3"/>
          <a:stretch>
            <a:fillRect/>
          </a:stretch>
        </p:blipFill>
        <p:spPr>
          <a:xfrm>
            <a:off x="94528" y="1958840"/>
            <a:ext cx="8954943" cy="2613160"/>
          </a:xfrm>
          <a:prstGeom prst="rect">
            <a:avLst/>
          </a:prstGeom>
        </p:spPr>
      </p:pic>
      <p:pic>
        <p:nvPicPr>
          <p:cNvPr id="14" name="Picture 13" descr="Dai Nam [PPT] Template 11.png">
            <a:extLst>
              <a:ext uri="{FF2B5EF4-FFF2-40B4-BE49-F238E27FC236}">
                <a16:creationId xmlns:a16="http://schemas.microsoft.com/office/drawing/2014/main" id="{B176DD6C-6B0D-36C6-5617-B704D3C309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spTree>
    <p:extLst>
      <p:ext uri="{BB962C8B-B14F-4D97-AF65-F5344CB8AC3E}">
        <p14:creationId xmlns:p14="http://schemas.microsoft.com/office/powerpoint/2010/main" val="5175575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984A216-F717-955C-4463-1CB6541134E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C4FBB7-A67D-C3C5-C367-68C458AE41C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38</a:t>
            </a:fld>
            <a:endParaRPr lang="en"/>
          </a:p>
        </p:txBody>
      </p:sp>
      <p:pic>
        <p:nvPicPr>
          <p:cNvPr id="14" name="Picture 13" descr="Dai Nam [PPT] Template 11.png">
            <a:extLst>
              <a:ext uri="{FF2B5EF4-FFF2-40B4-BE49-F238E27FC236}">
                <a16:creationId xmlns:a16="http://schemas.microsoft.com/office/drawing/2014/main" id="{8E5DBC54-5F21-83C1-C64D-037D7D3E88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67694"/>
            <a:ext cx="9144000" cy="475806"/>
          </a:xfrm>
          <a:prstGeom prst="rect">
            <a:avLst/>
          </a:prstGeom>
        </p:spPr>
      </p:pic>
      <p:pic>
        <p:nvPicPr>
          <p:cNvPr id="3" name="Picture 2" descr="A number of numbers on a white background&#10;&#10;AI-generated content may be incorrect.">
            <a:extLst>
              <a:ext uri="{FF2B5EF4-FFF2-40B4-BE49-F238E27FC236}">
                <a16:creationId xmlns:a16="http://schemas.microsoft.com/office/drawing/2014/main" id="{6E9C0F89-7080-9C5B-2401-662DAD6F3342}"/>
              </a:ext>
            </a:extLst>
          </p:cNvPr>
          <p:cNvPicPr>
            <a:picLocks noChangeAspect="1"/>
          </p:cNvPicPr>
          <p:nvPr/>
        </p:nvPicPr>
        <p:blipFill>
          <a:blip r:embed="rId3"/>
          <a:stretch>
            <a:fillRect/>
          </a:stretch>
        </p:blipFill>
        <p:spPr>
          <a:xfrm>
            <a:off x="1222048" y="247422"/>
            <a:ext cx="7772400" cy="1026724"/>
          </a:xfrm>
          <a:prstGeom prst="rect">
            <a:avLst/>
          </a:prstGeom>
        </p:spPr>
      </p:pic>
      <p:pic>
        <p:nvPicPr>
          <p:cNvPr id="6" name="Picture 5" descr="A math equation with numbers&#10;&#10;AI-generated content may be incorrect.">
            <a:extLst>
              <a:ext uri="{FF2B5EF4-FFF2-40B4-BE49-F238E27FC236}">
                <a16:creationId xmlns:a16="http://schemas.microsoft.com/office/drawing/2014/main" id="{1CFF8848-6170-B4B1-B533-0063EE53A747}"/>
              </a:ext>
            </a:extLst>
          </p:cNvPr>
          <p:cNvPicPr>
            <a:picLocks noChangeAspect="1"/>
          </p:cNvPicPr>
          <p:nvPr/>
        </p:nvPicPr>
        <p:blipFill>
          <a:blip r:embed="rId4"/>
          <a:stretch>
            <a:fillRect/>
          </a:stretch>
        </p:blipFill>
        <p:spPr>
          <a:xfrm>
            <a:off x="1222048" y="1139553"/>
            <a:ext cx="7772400" cy="1155231"/>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1A76B90C-5F4A-765B-CEE5-6C46DB8CA0DB}"/>
              </a:ext>
            </a:extLst>
          </p:cNvPr>
          <p:cNvPicPr>
            <a:picLocks noChangeAspect="1"/>
          </p:cNvPicPr>
          <p:nvPr/>
        </p:nvPicPr>
        <p:blipFill>
          <a:blip r:embed="rId5"/>
          <a:stretch>
            <a:fillRect/>
          </a:stretch>
        </p:blipFill>
        <p:spPr>
          <a:xfrm>
            <a:off x="1328331" y="2266638"/>
            <a:ext cx="3243669" cy="2359977"/>
          </a:xfrm>
          <a:prstGeom prst="rect">
            <a:avLst/>
          </a:prstGeom>
        </p:spPr>
      </p:pic>
    </p:spTree>
    <p:extLst>
      <p:ext uri="{BB962C8B-B14F-4D97-AF65-F5344CB8AC3E}">
        <p14:creationId xmlns:p14="http://schemas.microsoft.com/office/powerpoint/2010/main" val="8534051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ai Nam [PPT] Template 0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3" name="Picture 2" descr="Dai Nam [PPT] Template 05.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60" y="4753188"/>
            <a:ext cx="8686739" cy="390312"/>
          </a:xfrm>
          <a:prstGeom prst="rect">
            <a:avLst/>
          </a:prstGeom>
        </p:spPr>
      </p:pic>
      <p:pic>
        <p:nvPicPr>
          <p:cNvPr id="4" name="Picture 3" descr="Dai Nam [PPT] Template 02.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3137148" cy="5143500"/>
          </a:xfrm>
          <a:prstGeom prst="rect">
            <a:avLst/>
          </a:prstGeom>
        </p:spPr>
      </p:pic>
      <p:pic>
        <p:nvPicPr>
          <p:cNvPr id="6" name="Picture 5" descr="Dai Nam [PPT] Template 03.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205936"/>
            <a:ext cx="2815524" cy="4723586"/>
          </a:xfrm>
          <a:prstGeom prst="rect">
            <a:avLst/>
          </a:prstGeom>
        </p:spPr>
      </p:pic>
      <p:pic>
        <p:nvPicPr>
          <p:cNvPr id="7" name="Picture 6" descr="Dai Nam [PPT] Template 04.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06456" y="418467"/>
            <a:ext cx="1501569" cy="1362709"/>
          </a:xfrm>
          <a:prstGeom prst="rect">
            <a:avLst/>
          </a:prstGeom>
        </p:spPr>
      </p:pic>
      <p:sp>
        <p:nvSpPr>
          <p:cNvPr id="10" name="TextBox 9"/>
          <p:cNvSpPr txBox="1"/>
          <p:nvPr/>
        </p:nvSpPr>
        <p:spPr>
          <a:xfrm>
            <a:off x="3245550" y="2195567"/>
            <a:ext cx="4866699" cy="686470"/>
          </a:xfrm>
          <a:prstGeom prst="rect">
            <a:avLst/>
          </a:prstGeom>
          <a:noFill/>
        </p:spPr>
        <p:txBody>
          <a:bodyPr wrap="square" rtlCol="0">
            <a:spAutoFit/>
          </a:bodyPr>
          <a:lstStyle/>
          <a:p>
            <a:pPr algn="ctr"/>
            <a:r>
              <a:rPr lang="en-US" sz="3861" b="1" dirty="0">
                <a:solidFill>
                  <a:srgbClr val="FFFFFF"/>
                </a:solidFill>
              </a:rPr>
              <a:t>THANK YOU!</a:t>
            </a:r>
          </a:p>
        </p:txBody>
      </p:sp>
      <p:sp>
        <p:nvSpPr>
          <p:cNvPr id="5" name="Slide Number Placeholder 4"/>
          <p:cNvSpPr>
            <a:spLocks noGrp="1"/>
          </p:cNvSpPr>
          <p:nvPr>
            <p:ph type="sldNum" sz="quarter" idx="12"/>
          </p:nvPr>
        </p:nvSpPr>
        <p:spPr/>
        <p:txBody>
          <a:bodyPr/>
          <a:lstStyle/>
          <a:p>
            <a:fld id="{5216D943-2B8B-6E40-82FC-356309674730}" type="slidenum">
              <a:rPr lang="en-US" smtClean="0"/>
              <a:t>39</a:t>
            </a:fld>
            <a:endParaRPr lang="en-US"/>
          </a:p>
        </p:txBody>
      </p:sp>
    </p:spTree>
    <p:extLst>
      <p:ext uri="{BB962C8B-B14F-4D97-AF65-F5344CB8AC3E}">
        <p14:creationId xmlns:p14="http://schemas.microsoft.com/office/powerpoint/2010/main" val="1414705284"/>
      </p:ext>
    </p:extLst>
  </p:cSld>
  <p:clrMapOvr>
    <a:masterClrMapping/>
  </p:clrMapOvr>
</p:sld>
</file>

<file path=ppt/theme/theme1.xml><?xml version="1.0" encoding="utf-8"?>
<a:theme xmlns:a="http://schemas.openxmlformats.org/drawingml/2006/main" name="Iras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C35857A0665D488E68595D3D89591C" ma:contentTypeVersion="11" ma:contentTypeDescription="Create a new document." ma:contentTypeScope="" ma:versionID="6e05207ba9c49a300a9eb94dfae4f2bf">
  <xsd:schema xmlns:xsd="http://www.w3.org/2001/XMLSchema" xmlns:xs="http://www.w3.org/2001/XMLSchema" xmlns:p="http://schemas.microsoft.com/office/2006/metadata/properties" xmlns:ns2="ce7f6fe9-b62b-4a37-8d3b-f44a412d52a9" xmlns:ns3="fcb356bc-7cea-4082-8da6-372e09df0f59" targetNamespace="http://schemas.microsoft.com/office/2006/metadata/properties" ma:root="true" ma:fieldsID="d239aef0a964a08be8a524371b42374e" ns2:_="" ns3:_="">
    <xsd:import namespace="ce7f6fe9-b62b-4a37-8d3b-f44a412d52a9"/>
    <xsd:import namespace="fcb356bc-7cea-4082-8da6-372e09df0f5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7f6fe9-b62b-4a37-8d3b-f44a412d52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b356bc-7cea-4082-8da6-372e09df0f5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0C23FE-9A89-428C-9722-80C7E601B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7f6fe9-b62b-4a37-8d3b-f44a412d52a9"/>
    <ds:schemaRef ds:uri="fcb356bc-7cea-4082-8da6-372e09df0f5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2E0BB6-6C3C-430F-8D8C-73B2BDF94DC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66C54DA-E87E-407F-9F39-42D85EECB6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4597</TotalTime>
  <Words>2798</Words>
  <Application>Microsoft Macintosh PowerPoint</Application>
  <PresentationFormat>On-screen Show (16:9)</PresentationFormat>
  <Paragraphs>378</Paragraphs>
  <Slides>39</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Times New Roman</vt:lpstr>
      <vt:lpstr>Wingdings</vt:lpstr>
      <vt:lpstr>Courier New</vt:lpstr>
      <vt:lpstr>Arial</vt:lpstr>
      <vt:lpstr>Varela Round</vt:lpstr>
      <vt:lpstr>Calibri</vt:lpstr>
      <vt:lpstr>Cambria Math</vt:lpstr>
      <vt:lpstr>Iras template</vt:lpstr>
      <vt:lpstr>PowerPoint Presentation</vt:lpstr>
      <vt:lpstr>Tình huống</vt:lpstr>
      <vt:lpstr>PowerPoint Presentation</vt:lpstr>
      <vt:lpstr>Định nghĩa biến ngẫu nhiên</vt:lpstr>
      <vt:lpstr>Định nghĩa biến ngẫu nhiên</vt:lpstr>
      <vt:lpstr>Phân loại biến ngẫu nhiên</vt:lpstr>
      <vt:lpstr>PowerPoint Presentation</vt:lpstr>
      <vt:lpstr>Bảng phân phối xác suất</vt:lpstr>
      <vt:lpstr>Bảng phân phối xác suất</vt:lpstr>
      <vt:lpstr>Bảng phân phối xác suất</vt:lpstr>
      <vt:lpstr>Hàm phân phối xác suất</vt:lpstr>
      <vt:lpstr>Hàm phân bố xác suất</vt:lpstr>
      <vt:lpstr>Hàm phân bố xác suất</vt:lpstr>
      <vt:lpstr>Hàm phân phối xác suất</vt:lpstr>
      <vt:lpstr>PowerPoint Presentation</vt:lpstr>
      <vt:lpstr>PowerPoint Presentation</vt:lpstr>
      <vt:lpstr>Hàm mật độ xác suất</vt:lpstr>
      <vt:lpstr>Hàm mật độ xác suất</vt:lpstr>
      <vt:lpstr>PowerPoint Presentation</vt:lpstr>
      <vt:lpstr>PowerPoint Presentation</vt:lpstr>
      <vt:lpstr>Kỳ vọng</vt:lpstr>
      <vt:lpstr>Kỳ vọng</vt:lpstr>
      <vt:lpstr>Kỳ vọng</vt:lpstr>
      <vt:lpstr>Kỳ vọng</vt:lpstr>
      <vt:lpstr>PowerPoint Presentation</vt:lpstr>
      <vt:lpstr>Phương sai</vt:lpstr>
      <vt:lpstr>Phương sai</vt:lpstr>
      <vt:lpstr>Phương sai</vt:lpstr>
      <vt:lpstr>Phương sai</vt:lpstr>
      <vt:lpstr>Phương sai</vt:lpstr>
      <vt:lpstr>PowerPoint Presentation</vt:lpstr>
      <vt:lpstr>Độ lệch chuẩn</vt:lpstr>
      <vt:lpstr>Mốt</vt:lpstr>
      <vt:lpstr>Trung vị</vt:lpstr>
      <vt:lpstr>Trung vị</vt:lpstr>
      <vt:lpstr>Trung vị</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BIẾN NGẪU NHIÊN VÀ QUY LUẬT PHÂN PHỐI XÁC SUẤT</dc:title>
  <dc:creator>Admin</dc:creator>
  <cp:lastModifiedBy>Lê Diệu Anh</cp:lastModifiedBy>
  <cp:revision>17</cp:revision>
  <dcterms:modified xsi:type="dcterms:W3CDTF">2025-12-11T07:15:11Z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0x010100DDC35857A0665D488E68595D3D89591C</vt:lpwstr>
  </property>
</Properties>
</file>